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824" r:id="rId3"/>
    <p:sldId id="268" r:id="rId4"/>
    <p:sldId id="258" r:id="rId5"/>
    <p:sldId id="257" r:id="rId6"/>
    <p:sldId id="286" r:id="rId7"/>
    <p:sldId id="287" r:id="rId8"/>
    <p:sldId id="260" r:id="rId9"/>
    <p:sldId id="284" r:id="rId10"/>
    <p:sldId id="285" r:id="rId11"/>
    <p:sldId id="259" r:id="rId12"/>
    <p:sldId id="262" r:id="rId13"/>
    <p:sldId id="263" r:id="rId14"/>
    <p:sldId id="264" r:id="rId15"/>
    <p:sldId id="288" r:id="rId16"/>
    <p:sldId id="265" r:id="rId17"/>
    <p:sldId id="281" r:id="rId18"/>
    <p:sldId id="282" r:id="rId19"/>
    <p:sldId id="283" r:id="rId20"/>
    <p:sldId id="825" r:id="rId21"/>
    <p:sldId id="291" r:id="rId22"/>
    <p:sldId id="290" r:id="rId23"/>
    <p:sldId id="266" r:id="rId24"/>
    <p:sldId id="29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C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2076" autoAdjust="0"/>
  </p:normalViewPr>
  <p:slideViewPr>
    <p:cSldViewPr snapToGrid="0">
      <p:cViewPr varScale="1">
        <p:scale>
          <a:sx n="70" d="100"/>
          <a:sy n="70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4716\Downloads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Sheet1!$A$1:$A$10</c:f>
              <c:strCache>
                <c:ptCount val="10"/>
                <c:pt idx="0">
                  <c:v>airplane</c:v>
                </c:pt>
                <c:pt idx="1">
                  <c:v>automobile</c:v>
                </c:pt>
                <c:pt idx="2">
                  <c:v>bird</c:v>
                </c:pt>
                <c:pt idx="3">
                  <c:v>cat</c:v>
                </c:pt>
                <c:pt idx="4">
                  <c:v>deer</c:v>
                </c:pt>
                <c:pt idx="5">
                  <c:v>dog</c:v>
                </c:pt>
                <c:pt idx="6">
                  <c:v>frog</c:v>
                </c:pt>
                <c:pt idx="7">
                  <c:v>horse</c:v>
                </c:pt>
                <c:pt idx="8">
                  <c:v>ship</c:v>
                </c:pt>
                <c:pt idx="9">
                  <c:v>truck</c:v>
                </c:pt>
              </c:strCache>
            </c:strRef>
          </c:cat>
          <c:val>
            <c:numRef>
              <c:f>Sheet1!$B$1:$B$10</c:f>
              <c:numCache>
                <c:formatCode>General</c:formatCode>
                <c:ptCount val="10"/>
                <c:pt idx="0">
                  <c:v>-0.2</c:v>
                </c:pt>
                <c:pt idx="1">
                  <c:v>-0.3</c:v>
                </c:pt>
                <c:pt idx="2">
                  <c:v>0.7</c:v>
                </c:pt>
                <c:pt idx="3">
                  <c:v>6</c:v>
                </c:pt>
                <c:pt idx="4">
                  <c:v>0.24</c:v>
                </c:pt>
                <c:pt idx="5">
                  <c:v>1.3</c:v>
                </c:pt>
                <c:pt idx="6">
                  <c:v>0.9</c:v>
                </c:pt>
                <c:pt idx="7">
                  <c:v>0.5</c:v>
                </c:pt>
                <c:pt idx="8">
                  <c:v>-0.12</c:v>
                </c:pt>
                <c:pt idx="9">
                  <c:v>-0.5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89-4461-8E61-79F5BDB1F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1446850736"/>
        <c:axId val="1446824816"/>
      </c:barChart>
      <c:catAx>
        <c:axId val="144685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180000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46824816"/>
        <c:crosses val="autoZero"/>
        <c:auto val="0"/>
        <c:lblAlgn val="ctr"/>
        <c:lblOffset val="100"/>
        <c:noMultiLvlLbl val="0"/>
      </c:catAx>
      <c:valAx>
        <c:axId val="14468248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44685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609AF-9FC2-485C-9B76-762616691CF4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BD2B9-7214-497E-821C-1DF965C4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14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56F4E-2464-4A9A-B700-E63644ECBA6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462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我们将从以下三个部分介绍，分别是常见的</a:t>
            </a:r>
            <a:r>
              <a:rPr lang="en-US" altLang="zh-CN" dirty="0"/>
              <a:t>GAN</a:t>
            </a:r>
            <a:r>
              <a:rPr lang="zh-CN" altLang="en-US" dirty="0"/>
              <a:t>，以及我们制作的新的</a:t>
            </a:r>
            <a:r>
              <a:rPr lang="en-US" altLang="zh-CN" dirty="0"/>
              <a:t>GAN</a:t>
            </a:r>
            <a:r>
              <a:rPr lang="zh-CN" altLang="en-US" dirty="0"/>
              <a:t>，还有在</a:t>
            </a:r>
            <a:r>
              <a:rPr lang="en-US" altLang="zh-CN" dirty="0"/>
              <a:t>GAN</a:t>
            </a:r>
            <a:r>
              <a:rPr lang="zh-CN" altLang="en-US" dirty="0"/>
              <a:t>基础上作出的拓展</a:t>
            </a:r>
            <a:r>
              <a:rPr lang="en-US" altLang="zh-CN" dirty="0"/>
              <a:t>-</a:t>
            </a:r>
            <a:r>
              <a:rPr lang="zh-CN" altLang="en-US" dirty="0"/>
              <a:t>对抗攻击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05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CIFAR-10</a:t>
            </a:r>
            <a:r>
              <a:rPr lang="zh-CN" altLang="en-US" dirty="0"/>
              <a:t>数据集包含</a:t>
            </a:r>
            <a:r>
              <a:rPr lang="en-US" altLang="zh-CN" dirty="0"/>
              <a:t>10</a:t>
            </a:r>
            <a:r>
              <a:rPr lang="zh-CN" altLang="en-US" dirty="0"/>
              <a:t>类图片，网上下载的数据集包括</a:t>
            </a:r>
            <a:r>
              <a:rPr lang="en-US" altLang="zh-CN" dirty="0"/>
              <a:t>5</a:t>
            </a:r>
            <a:r>
              <a:rPr lang="zh-CN" altLang="en-US" dirty="0"/>
              <a:t>个批次的训练集，和一个测试集，每个均包含</a:t>
            </a:r>
            <a:r>
              <a:rPr lang="en-US" altLang="zh-CN" dirty="0"/>
              <a:t>1000</a:t>
            </a:r>
            <a:r>
              <a:rPr lang="zh-CN" altLang="en-US" dirty="0"/>
              <a:t>张图片，共</a:t>
            </a:r>
            <a:r>
              <a:rPr lang="en-US" altLang="zh-CN" dirty="0"/>
              <a:t>6000</a:t>
            </a:r>
            <a:r>
              <a:rPr lang="zh-CN" altLang="en-US" dirty="0"/>
              <a:t>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35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GAN的基本思想是由一个生成器和一个判别器构成，生成器从给定噪声中产生合成数据，判别器分辨生成器的的输出和真实数据。</a:t>
            </a:r>
            <a:r>
              <a:rPr lang="zh-CN" altLang="en-US" dirty="0">
                <a:effectLst/>
              </a:rPr>
              <a:t>生成器试图产生更接近真实的数据，相应地，判别器试图更完美地分辨真实数据与生成数据。</a:t>
            </a:r>
            <a:r>
              <a:rPr lang="zh-CN" altLang="en-US" dirty="0"/>
              <a:t>两个网络在对抗中进步，在进步后继续对抗，由生成式网络得的数据也就越来越完美，逼近真实数据，从而可以生成想要得到的数据。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57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原始的</a:t>
            </a:r>
            <a:r>
              <a:rPr lang="en-US" altLang="zh-CN" dirty="0"/>
              <a:t>GAN</a:t>
            </a:r>
            <a:r>
              <a:rPr lang="zh-CN" altLang="en-US" dirty="0"/>
              <a:t>在生成高维度数据时，只能随机生成，无法生成我们给定条件的数据，这极大的限制了</a:t>
            </a:r>
            <a:r>
              <a:rPr lang="en-US" altLang="zh-CN" dirty="0"/>
              <a:t>GAN</a:t>
            </a:r>
            <a:r>
              <a:rPr lang="zh-CN" altLang="en-US" dirty="0"/>
              <a:t>的应用范围。而只有能够生成我们指定条件的数据，才有意义。</a:t>
            </a:r>
            <a:r>
              <a:rPr lang="en-US" altLang="zh-CN" dirty="0"/>
              <a:t>CGAN-</a:t>
            </a:r>
            <a:r>
              <a:rPr lang="zh-CN" altLang="en-US" dirty="0"/>
              <a:t>条件生成网络是在</a:t>
            </a:r>
            <a:r>
              <a:rPr lang="zh-CN" altLang="en-US" b="0" i="0" dirty="0">
                <a:effectLst/>
                <a:latin typeface="inherit"/>
              </a:rPr>
              <a:t>生成器和判别器二者相互对抗训练的基础上引入了条件信息 </a:t>
            </a:r>
            <a:r>
              <a:rPr lang="en-US" altLang="zh-CN" b="1" i="1" dirty="0">
                <a:effectLst/>
                <a:latin typeface="KaTeX_Math"/>
              </a:rPr>
              <a:t>c</a:t>
            </a:r>
            <a:r>
              <a:rPr lang="zh-CN" altLang="en-US" b="0" i="0" dirty="0">
                <a:effectLst/>
                <a:latin typeface="inherit"/>
              </a:rPr>
              <a:t>，使生成器和判别器都能接收条件信息作为输入，从而生成满足特定条件的数据样本。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792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另一个网络是</a:t>
            </a:r>
            <a:r>
              <a:rPr lang="zh-CN" altLang="en-US" sz="1200" b="1" dirty="0">
                <a:solidFill>
                  <a:schemeClr val="tx1"/>
                </a:solidFill>
              </a:rPr>
              <a:t>深度卷积生成网络，</a:t>
            </a:r>
            <a:r>
              <a:rPr lang="zh-CN" altLang="en-US" sz="1200" b="0" dirty="0">
                <a:solidFill>
                  <a:schemeClr val="tx1"/>
                </a:solidFill>
              </a:rPr>
              <a:t>通过将卷积神经网络引入到生成器和判别器中，但是不包括池化层，并替代了原有</a:t>
            </a:r>
            <a:r>
              <a:rPr lang="en-US" altLang="zh-CN" sz="1200" b="0" dirty="0">
                <a:solidFill>
                  <a:schemeClr val="tx1"/>
                </a:solidFill>
              </a:rPr>
              <a:t>GAN</a:t>
            </a:r>
            <a:r>
              <a:rPr lang="zh-CN" altLang="en-US" sz="1200" b="0" dirty="0">
                <a:solidFill>
                  <a:schemeClr val="tx1"/>
                </a:solidFill>
              </a:rPr>
              <a:t>网络的全连接层，</a:t>
            </a:r>
            <a:r>
              <a:rPr lang="zh-CN" altLang="en-US" dirty="0"/>
              <a:t>为了防止过拟合，使用批归一化以及恰当的激活函数，提高了图片场景里训练的稳定性，生成的图片质量较高。</a:t>
            </a:r>
            <a:endParaRPr lang="en-US" altLang="zh-CN" sz="1200" b="0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63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所以我们针对</a:t>
            </a:r>
            <a:r>
              <a:rPr lang="en-US" altLang="zh-CN" dirty="0"/>
              <a:t>CIFAR-10</a:t>
            </a:r>
            <a:r>
              <a:rPr lang="zh-CN" altLang="en-US" dirty="0"/>
              <a:t>数据集，综合了条件生成网络和深度卷积生成网络，在深度卷积生成网络的基础上，引入条件标签，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控制生成器生成特定类别的图像，提高生成图像的质量，并引入新的条件融合和增强方法。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1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FF6A-B7F2-40B7-99D8-5348C942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81357B-1F4E-54CC-35EE-56E5A8850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F55AC3-924D-CFCD-705D-1538FBCD3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zh-CN" altLang="en-US" dirty="0"/>
              <a:t>首先我们介绍下生成器部分，将噪声和标签给到条件投影层，这里面包含</a:t>
            </a:r>
            <a:r>
              <a:rPr lang="en-US" altLang="zh-CN" dirty="0"/>
              <a:t>3</a:t>
            </a:r>
            <a:r>
              <a:rPr lang="zh-CN" altLang="en-US" dirty="0"/>
              <a:t>个小层，先是经过一个线性层，转换为更高维度的特征，然后是批归一化层，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对数据进行归一化，加速训练并提高稳定性，最后是一个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函数，引入非线性，学习更复杂的特征。然后是条件融合，将噪声和条件融合在一起。将融合后的特征向量再经过一个线性层，转换为更高维度，然后进行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reshape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操作，将一维向量转换为二维特征图。然后经过上采样块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，这里面包含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个小层，卷积转置层用来增加特征图的空间尺寸，然后是批归一化层，接着是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函数，最后添加噪声，增加模型的鲁棒性，上采样块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和上采样块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一样的构造，不过它的卷积转置层的输出通道更少一些；最后是最终卷积层，将特征图的通道数转换为图像的通道数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，然后通过激活函数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-Tanh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，将输出限制在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[-1, 1]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范围内，与图像的归一化范围一致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得到我们最终的图片。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FE7A7-DA4B-C36C-EDFE-0CD34E9C0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097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785B-F337-DFA7-14EF-E3AE660F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551658-912D-78FB-2304-5F900AEF5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656B12-EF93-4957-EB60-2C92E53B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判别器部分，将图像（包括合成的和生成的）和标签首先通过图像特征提取模块，这个模块包括四个部分，每个部分包含卷积层，批归一化层，</a:t>
            </a:r>
            <a:r>
              <a:rPr lang="en-US" altLang="zh-CN" dirty="0"/>
              <a:t>Relu</a:t>
            </a:r>
            <a:r>
              <a:rPr lang="zh-CN" altLang="en-US" dirty="0"/>
              <a:t>函数，以及</a:t>
            </a:r>
            <a:r>
              <a:rPr lang="en-US" altLang="zh-CN" dirty="0"/>
              <a:t>dropout</a:t>
            </a:r>
            <a:r>
              <a:rPr lang="zh-CN" altLang="en-US" dirty="0"/>
              <a:t>层，卷积层用来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提取图像的局部特征，如边缘、纹理等，批归一化层用来对卷积层的输出进行归一化处理，确保数据的分布更加稳定，加速训练过程。通过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函数引入非线性，最后是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dropout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层，抛弃一些特征，防止模型过拟合。然后是标签特征提取模块，先通过嵌入层将标签映射到高维空间，然后经过线性层进行特征变换，最后是通过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函数引入非线性。最后是一个</a:t>
            </a:r>
            <a:r>
              <a:rPr lang="zh-CN" altLang="en-US" dirty="0"/>
              <a:t>特征融合与联合判别模块，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通过全连接层将综合特征向量映射到一个低维空间，输出一个表示图像真实性的概率值，然后通过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引入非线性，在经过一个全连接层，最后通过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sigmoid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函数，将输出值限制在（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）范围内，表示真实图像的概率。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7CA7E-D4AB-713D-FD56-4BA7218AE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699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我们首先进行了</a:t>
            </a:r>
            <a:r>
              <a:rPr lang="en-US" altLang="zh-CN" b="0" dirty="0"/>
              <a:t>200</a:t>
            </a:r>
            <a:r>
              <a:rPr lang="zh-CN" altLang="en-US" b="0" dirty="0"/>
              <a:t>轮的训练，</a:t>
            </a:r>
            <a:r>
              <a:rPr lang="en-US" altLang="zh-CN" b="0" dirty="0"/>
              <a:t>10</a:t>
            </a:r>
            <a:r>
              <a:rPr lang="zh-CN" altLang="en-US" b="0" dirty="0"/>
              <a:t>轮的时候开始显示语义，</a:t>
            </a:r>
            <a:r>
              <a:rPr lang="en-US" altLang="zh-CN" b="0" dirty="0"/>
              <a:t>50</a:t>
            </a:r>
            <a:r>
              <a:rPr lang="zh-CN" altLang="en-US" b="0" dirty="0"/>
              <a:t>轮开始模仿纹理，</a:t>
            </a:r>
            <a:r>
              <a:rPr lang="en-US" altLang="zh-CN" b="0" dirty="0"/>
              <a:t>100</a:t>
            </a:r>
            <a:r>
              <a:rPr lang="zh-CN" altLang="en-US" b="0" dirty="0"/>
              <a:t>轮产生了多样性，之后达到收敛。下面那副是模型的</a:t>
            </a:r>
            <a:r>
              <a:rPr lang="en-US" altLang="zh-CN" b="0" dirty="0"/>
              <a:t>Loos</a:t>
            </a:r>
            <a:r>
              <a:rPr lang="zh-CN" altLang="en-US" b="0" dirty="0"/>
              <a:t>值随训练轮数的变化，</a:t>
            </a:r>
            <a:r>
              <a:rPr lang="en-US" altLang="zh-CN" b="0" dirty="0"/>
              <a:t>200</a:t>
            </a:r>
            <a:r>
              <a:rPr lang="zh-CN" altLang="en-US" b="0" dirty="0"/>
              <a:t>轮训练后，的</a:t>
            </a:r>
            <a:r>
              <a:rPr lang="en-US" altLang="zh-CN" b="0" dirty="0"/>
              <a:t>loss</a:t>
            </a:r>
            <a:r>
              <a:rPr lang="zh-CN" altLang="en-US" b="0" dirty="0"/>
              <a:t>值收敛在</a:t>
            </a:r>
            <a:r>
              <a:rPr lang="en-US" altLang="zh-CN" b="0" dirty="0"/>
              <a:t>1</a:t>
            </a:r>
            <a:r>
              <a:rPr lang="zh-CN" altLang="en-US" b="0" dirty="0"/>
              <a:t>和</a:t>
            </a:r>
            <a:r>
              <a:rPr lang="en-US" altLang="zh-CN" b="0" dirty="0"/>
              <a:t>1.5</a:t>
            </a:r>
            <a:r>
              <a:rPr lang="zh-CN" altLang="en-US" b="0" dirty="0"/>
              <a:t>附近。</a:t>
            </a:r>
            <a:br>
              <a:rPr lang="en-US" altLang="zh-CN" b="0" dirty="0"/>
            </a:br>
            <a:r>
              <a:rPr lang="zh-CN" altLang="en-US" b="0" dirty="0"/>
              <a:t>这一部分我们让判别器和生成器进行竞争模式，让判别器的</a:t>
            </a:r>
            <a:r>
              <a:rPr lang="en-US" altLang="zh-CN" b="0" dirty="0"/>
              <a:t>loss</a:t>
            </a:r>
            <a:r>
              <a:rPr lang="zh-CN" altLang="en-US" b="0" dirty="0"/>
              <a:t>尽量的低，旨在训练一个较好的判别器，</a:t>
            </a:r>
            <a:r>
              <a:rPr lang="zh-CN" altLang="en-US" b="0" u="sng" dirty="0">
                <a:solidFill>
                  <a:srgbClr val="FF0000"/>
                </a:solidFill>
                <a:highlight>
                  <a:srgbClr val="FFFF00"/>
                </a:highlight>
              </a:rPr>
              <a:t>判别器的训练轮数要比生产器多？</a:t>
            </a:r>
            <a:r>
              <a:rPr lang="zh-CN" altLang="en-US" b="0" u="none" dirty="0">
                <a:solidFill>
                  <a:srgbClr val="FF0000"/>
                </a:solidFill>
                <a:highlight>
                  <a:srgbClr val="FFFF00"/>
                </a:highlight>
              </a:rPr>
              <a:t>但此时的</a:t>
            </a:r>
            <a:r>
              <a:rPr lang="en-US" altLang="zh-CN" b="0" u="none" dirty="0">
                <a:solidFill>
                  <a:srgbClr val="FF0000"/>
                </a:solidFill>
                <a:highlight>
                  <a:srgbClr val="FFFF00"/>
                </a:highlight>
              </a:rPr>
              <a:t>loss</a:t>
            </a:r>
            <a:r>
              <a:rPr lang="zh-CN" altLang="en-US" b="0" u="none" dirty="0">
                <a:solidFill>
                  <a:srgbClr val="FF0000"/>
                </a:solidFill>
                <a:highlight>
                  <a:srgbClr val="FFFF00"/>
                </a:highlight>
              </a:rPr>
              <a:t>看起来并不完全收敛，扔有一定的震荡。</a:t>
            </a:r>
            <a:endParaRPr lang="zh-CN" altLang="en-US" b="0" u="sng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184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我们进行了下一轮的训练，也就是第一次</a:t>
            </a:r>
            <a:r>
              <a:rPr lang="en-US" altLang="zh-CN" dirty="0"/>
              <a:t>100</a:t>
            </a:r>
            <a:r>
              <a:rPr lang="zh-CN" altLang="en-US" dirty="0"/>
              <a:t>轮的训练，这一轮我们摒弃了竞争模式，采用轮流训练生成器和判别器，旨在使</a:t>
            </a:r>
            <a:r>
              <a:rPr lang="en-US" altLang="zh-CN" b="0" dirty="0"/>
              <a:t>loss</a:t>
            </a:r>
            <a:r>
              <a:rPr lang="zh-CN" altLang="en-US" b="0" dirty="0"/>
              <a:t>收敛到较小的范围内，不过从结果来看，震荡还是教明显，不过相较之前要好得多。我们采用了提前终止，训练在第</a:t>
            </a:r>
            <a:r>
              <a:rPr lang="en-US" altLang="zh-CN" b="0" dirty="0"/>
              <a:t>73</a:t>
            </a:r>
            <a:r>
              <a:rPr lang="zh-CN" altLang="en-US" b="0" dirty="0"/>
              <a:t>轮停止了。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430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我们最后进行了第二次的</a:t>
            </a:r>
            <a:r>
              <a:rPr lang="en-US" altLang="zh-CN" dirty="0"/>
              <a:t>100</a:t>
            </a:r>
            <a:r>
              <a:rPr lang="zh-CN" altLang="en-US" dirty="0"/>
              <a:t>轮优化，这一阶段的优化</a:t>
            </a:r>
            <a:r>
              <a:rPr lang="zh-CN" altLang="en-US" b="1" dirty="0"/>
              <a:t>进一步降低了学习率</a:t>
            </a:r>
            <a:r>
              <a:rPr lang="zh-CN" altLang="en-US" dirty="0"/>
              <a:t>，根据上一阶段的情况略微提升了生成器噪声特征的混合率，</a:t>
            </a:r>
            <a:endParaRPr lang="en-US" altLang="zh-CN" dirty="0"/>
          </a:p>
          <a:p>
            <a:r>
              <a:rPr lang="zh-CN" altLang="en-US" dirty="0"/>
              <a:t>同样摒弃了竞争模式，采用轮流训练，并改变早停条件，旨在将生成器和鉴别器推进到纳什均衡点（</a:t>
            </a:r>
            <a:r>
              <a:rPr lang="en-US" altLang="zh-CN" dirty="0"/>
              <a:t>loss=0.693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291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66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92338-D606-4790-4616-5457547B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5A21D4-C69E-B2D6-5CC6-679553D39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570670-D9C7-0CA4-7493-9D71DFF80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593D41-78CC-9E89-F754-17BD31566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149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44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39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899C-50D5-A53F-820E-27158E43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41C40E-6CC5-31FC-7F86-ED988BBAA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D50D62-A178-DB58-B279-497CDB1CE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49C3AB-6CDA-B284-F23C-3F1FF8080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BD2B9-7214-497E-821C-1DF965C49A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162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50E4-FD67-54F8-B78F-16658ACF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A36BE9-F64E-C840-5BCC-3FB318E13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461F0C-8E94-B93C-B15A-E24AA3755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490299-DBE1-AB78-914B-261473F91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8783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02DB-5A74-1711-6541-CF648742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CAF62D-3632-1E75-6103-C71A7EB4A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87D9C1-7DDA-9C5D-CACF-030E8FE2C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3A7FE-316F-9BE7-1E84-B7FEC0FEB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3079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zh-CN" altLang="en-US" dirty="0"/>
              <a:t>我们基于深度卷积生成网络</a:t>
            </a:r>
            <a:r>
              <a:rPr lang="en-US" altLang="zh-CN" dirty="0"/>
              <a:t>(DCGAN)</a:t>
            </a:r>
            <a:r>
              <a:rPr lang="zh-CN" altLang="en-US" dirty="0"/>
              <a:t>引入条件信息，创造了一个新的网络</a:t>
            </a:r>
            <a:r>
              <a:rPr lang="en-US" altLang="zh-CN" dirty="0"/>
              <a:t>C-DCGAN</a:t>
            </a:r>
            <a:r>
              <a:rPr lang="zh-CN" altLang="en-US" dirty="0"/>
              <a:t>，进行了</a:t>
            </a:r>
            <a:r>
              <a:rPr lang="en-US" altLang="zh-CN" dirty="0"/>
              <a:t>400</a:t>
            </a:r>
            <a:r>
              <a:rPr lang="zh-CN" altLang="en-US" dirty="0"/>
              <a:t>轮次的训练，在特征维度为</a:t>
            </a:r>
            <a:r>
              <a:rPr lang="en-US" altLang="zh-CN" dirty="0"/>
              <a:t>2048</a:t>
            </a:r>
            <a:r>
              <a:rPr lang="zh-CN" altLang="en-US" dirty="0"/>
              <a:t>时，</a:t>
            </a:r>
            <a:r>
              <a:rPr lang="en-US" altLang="zh-CN" dirty="0"/>
              <a:t>FID</a:t>
            </a:r>
            <a:r>
              <a:rPr lang="zh-CN" altLang="en-US" dirty="0"/>
              <a:t>值为</a:t>
            </a:r>
            <a:r>
              <a:rPr lang="en-US" altLang="zh-CN" b="1" dirty="0"/>
              <a:t>63.56</a:t>
            </a:r>
            <a:r>
              <a:rPr lang="zh-CN" altLang="en-US" dirty="0"/>
              <a:t>，</a:t>
            </a:r>
            <a:r>
              <a:rPr lang="en-US" altLang="zh-CN" dirty="0"/>
              <a:t>IS</a:t>
            </a:r>
            <a:r>
              <a:rPr lang="zh-CN" altLang="en-US" dirty="0"/>
              <a:t>值为</a:t>
            </a:r>
            <a:r>
              <a:rPr lang="zh-CN" altLang="zh-CN" b="1" dirty="0"/>
              <a:t>5.02 ± 0.08</a:t>
            </a:r>
            <a:r>
              <a:rPr lang="zh-CN" altLang="en-US" b="1" dirty="0"/>
              <a:t>。</a:t>
            </a:r>
            <a:endParaRPr lang="zh-CN" altLang="zh-CN" dirty="0"/>
          </a:p>
          <a:p>
            <a:r>
              <a:rPr lang="zh-CN" altLang="en-US" dirty="0"/>
              <a:t>之后我们还添加了对抗攻击，训练了</a:t>
            </a:r>
            <a:r>
              <a:rPr lang="en-US" altLang="zh-CN" dirty="0"/>
              <a:t>50</a:t>
            </a:r>
            <a:r>
              <a:rPr lang="zh-CN" altLang="en-US" dirty="0"/>
              <a:t>轮左右可以达到较好的效果，抛弃率小于</a:t>
            </a:r>
            <a:r>
              <a:rPr lang="en-US" altLang="zh-CN" dirty="0"/>
              <a:t>60%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60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AAA9-997F-DD4F-7E37-2DE5CC2D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89FAE-F1E5-52BF-CA77-8B7011DE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B515B7-EFBA-0F67-C7E3-557978FF3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9A44F3-0B55-2E0E-ED05-D726023BC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BD2B9-7214-497E-821C-1DF965C49AA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8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150F8-B6CB-33F2-B590-906494D3A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85D0F4-FA53-E6D8-9823-152433790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38A5C-74CD-44C5-09A4-50BE2EB9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3BC53-5225-5D6D-0311-8B247039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F33ED-0418-AA55-7E14-38BCDF92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8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404EC-0A42-5F57-20E5-BC154061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3B3E8B-A33A-04F0-BBD2-186EDD90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F1F39B-0127-8490-EAE0-376FEDD5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E2145-6082-EC9D-2671-8B85EB77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F40BC-F4A9-3174-1DB9-A5703C85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7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D31D2-6CFE-636F-D0B8-31D40460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4A1DF-CED6-E923-BB7A-FF2152078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B2ABA-7747-E56E-8704-478E1EA3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F2176-EEE5-4BF2-AB6D-FD6913D7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37EE8-F0CB-C6CC-4D73-14C3E870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25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627F0-8200-434E-0119-60256839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18AE1-F520-2714-0E1D-536304803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E32F4F-1B08-6113-48C3-0FA639484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C0728-EA32-45B7-A9CD-4049493B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D209EF-0DE3-FE42-6B74-A97F9FD1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DF3B28-3859-4E4F-2142-9255C008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415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F7AC3-AAC4-118F-3422-2CDF7E38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2E4209-260B-B9C6-920A-FD86B4CD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039D0E-DA7E-F2A0-D2C5-0AB9E50B5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B8DEF7-B967-B078-F87B-729918F3D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42C836-FD5D-B502-866D-214EAE089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170BC9-EE72-E3D2-9FF6-398D7E99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69B4CD-D9CC-DAE7-170A-FCD9DD51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A16F74-6F01-77D4-F905-75D35340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68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A7094-E3FA-0D2F-12A1-49A67455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99A98D-1659-23FB-F875-4249B2C7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DD38D6-BC5E-FD65-AAE4-D25CCE1F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22FCD-E36D-0141-BA6C-0266CBA8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88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487A78-6846-4593-72DF-F04F9872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01D03B-2D40-3DBA-A207-A9E05C6D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7E2BB5-F993-7980-1D48-FFA42C97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9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64078-41D0-3C72-5A12-10D8453E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3B377-0E34-A75B-3597-224455195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ABF6A-90DE-0615-C245-0803DA715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C893BB-1D91-B867-A4DA-23CB013B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305783-A222-5EC2-D8DA-D35DFF7F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91503-A0E2-F1B1-31B0-DB6CDC5E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54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931F4-75EA-1647-A77E-912ED0E8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309380-EF60-A7D0-7CE6-3E820FEC8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1E4A0E-8108-0A5B-8A8C-50BD1A560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329236-378B-31B9-5DF2-B7437468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FA5199-4B1E-8272-372F-D3CDDC6C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ABBB4B-F0EF-27DE-003A-386B3DCA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32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157A1-90F7-EAAE-B93F-0E95726F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07ADDE-C7FE-B823-76E4-D4026952E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94960-C49A-2951-8DF4-7AE30DB7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55697-E14C-2B7D-74D0-2AAE7C1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71439-F8AF-2F21-4094-7399237D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1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B559B7-D6C2-8AC6-1E5E-CE1762F9E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3686CF-8024-B7DF-FD3D-29D0C5415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B0AC01-AAC9-4F7F-D77B-64699F72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00EEB-F602-0731-9DDC-168F54DC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539BB4-16E2-E9DD-9C5D-696D6CF7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862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9477D-EF82-9BFE-2D37-1C5925F91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B68E2C-A9C0-2DCF-2D17-13CDAB999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D5D31-85CE-87CA-EC02-FE854D9B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8963A-CE6A-5DCC-AD19-F82E08C3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3B257B-BAAC-8E62-7D77-B9D67B3F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497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FAEB8-C26D-1C5F-3346-8EEA3D68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714FC-B263-5FA4-F5E1-5A5E6CFB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F1678-EA8E-FEBF-D932-C4AE1EF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83943-6AEE-3212-1383-2C36B012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91C23-A0A8-86D4-CC3A-0CF9AE34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74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D6931-A966-8C3E-5CF8-597640A4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810344-537E-B543-5112-746D4A933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4F6CA-B671-AE90-3BAE-0D0404D9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A6E42-D51C-4938-7A7C-930302DE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A3119-35D8-05CB-2041-3ABB85ED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694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86FA5-7C09-87C6-7005-E7433942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ADDDA-BE5C-5F11-33D2-889340565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6BD0A-56F9-9FB0-6A41-576F2E8D6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F9F2D0-8E69-54BB-6423-45C74A3E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80839D-4949-B6ED-CB3B-7C87C2F4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73C8C-B9CF-97C0-5F09-320066EA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177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DA234-337E-3540-6A1A-0F6576A2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C1FEF5-59F3-CE07-C328-E085CE70F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08C966-3B9C-6980-904C-BB010A0C1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1DDCB8-83D6-21D9-D7EA-BD2A5D5C1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7241DA-794F-558E-8C8C-010EF602C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EC319C-C04C-34FD-7643-AB00D3C4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12FD46-55C9-A883-3211-208F5515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9A6006-ED56-7917-3D93-29C1DC2B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4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42284-3990-284A-D1D7-85EE2B0D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F5B9BB-46A0-3092-DC49-4C1C089C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7D045A-40F7-80A1-61E1-3EF21F04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7E1800-D04C-5450-8901-45B3E165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057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057887-A65B-4388-947B-EF11635D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E27239-47A6-28A6-202E-4DF5DEE2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7CC7D-51F2-C315-4DF6-8A4CFDE9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66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58A23-ADE2-77E6-7262-D8D2180E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F19794-EAF1-0694-091C-26F343387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B05E51-5E66-0C6A-B10D-339F9745A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839176-9966-A5F2-180C-EB55D43A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498D90-774E-5BC0-E94A-AC7BB0B2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99CED-5A92-4661-E724-780EE323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858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01DCB-F77A-63D3-C0CF-787D8C5D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0ACC5B-A57F-2A18-0C25-EA2E1D6E5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DA3163-D929-8A4A-1A0F-A4FF4B642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25BA1C-A646-9B61-41BA-8B44045A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7552D0-C319-605E-6CC0-8416F973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0FC5A3-2FA8-F2A5-B6E0-A37F860A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28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5458-92E8-A193-152C-0090B935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B31EC2-C530-B4A5-A30F-5D0755EC0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BE03F2-BA8A-9B85-3D4A-7C92310E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7078F-B15F-A32E-BA7A-84844B52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65897-148C-115C-FB5E-6500E07F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842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4C9B59-2EA7-5493-E6DB-F5A02C53A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6950DA-64BE-7418-B133-8595C64BE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3EE1F-E929-99A5-113F-2042ABFC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BD1B4-65DE-F8B7-A7CC-FD5FF0BC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02EAE-2454-B6C3-5107-6FC8D51E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548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523299-9AE8-D96C-9772-F1599E02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1946D2-3E20-BE84-BAAA-0D3BB97B4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A7BAE-D1CC-17FE-3E10-CAFC9BF5B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D686B-4F63-4345-A0D7-61E80689EE9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A3C87-BF43-ACB1-6873-34BC5F73D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8EB87-C0D8-D924-3906-EE95631C4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D3156-DEA2-4C84-8530-DA977111A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68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CB90F3-16F1-FE7F-6957-4BA96B7F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9DE623-0EE7-76A2-BE3D-6A4F2E595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93944E-8088-046E-FB1F-4E2696F6D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480AE-5699-400C-9DF0-D759FB553855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56E0E-5AE9-5140-296E-0C4DC2D85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547BF-10F2-26A1-B0E6-6F81515E7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F6AA5-2B71-4359-B8E4-FF03BAC5F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21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eriklindernoren/PyTorch-GAN?tab=readme-ov-file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1EF8116-CF77-BDE6-125C-82945E286E44}"/>
              </a:ext>
            </a:extLst>
          </p:cNvPr>
          <p:cNvSpPr/>
          <p:nvPr/>
        </p:nvSpPr>
        <p:spPr>
          <a:xfrm>
            <a:off x="0" y="-11052"/>
            <a:ext cx="12192000" cy="546265"/>
          </a:xfrm>
          <a:prstGeom prst="rect">
            <a:avLst/>
          </a:prstGeom>
          <a:solidFill>
            <a:srgbClr val="2643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D9ECE17-2DEB-AE23-B7B9-47062E8AAAD2}"/>
              </a:ext>
            </a:extLst>
          </p:cNvPr>
          <p:cNvCxnSpPr>
            <a:cxnSpLocks/>
          </p:cNvCxnSpPr>
          <p:nvPr/>
        </p:nvCxnSpPr>
        <p:spPr>
          <a:xfrm>
            <a:off x="1246909" y="2262244"/>
            <a:ext cx="3716977" cy="0"/>
          </a:xfrm>
          <a:prstGeom prst="line">
            <a:avLst/>
          </a:prstGeom>
          <a:ln w="28575">
            <a:solidFill>
              <a:srgbClr val="2643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0C9107E-0EAE-97CA-6405-E6FCDAD1EC59}"/>
              </a:ext>
            </a:extLst>
          </p:cNvPr>
          <p:cNvCxnSpPr>
            <a:cxnSpLocks/>
          </p:cNvCxnSpPr>
          <p:nvPr/>
        </p:nvCxnSpPr>
        <p:spPr>
          <a:xfrm>
            <a:off x="6941127" y="2262244"/>
            <a:ext cx="4102925" cy="0"/>
          </a:xfrm>
          <a:prstGeom prst="line">
            <a:avLst/>
          </a:prstGeom>
          <a:ln w="28575">
            <a:solidFill>
              <a:srgbClr val="2643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59E82E-1FA1-0434-F039-48A1426B0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243" y="449796"/>
            <a:ext cx="3253901" cy="260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1A36988-A368-2F29-5E56-5598AAE03D1B}"/>
              </a:ext>
            </a:extLst>
          </p:cNvPr>
          <p:cNvSpPr txBox="1"/>
          <p:nvPr/>
        </p:nvSpPr>
        <p:spPr>
          <a:xfrm>
            <a:off x="1345870" y="2420461"/>
            <a:ext cx="9797142" cy="182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5E7CB4"/>
                </a:solidFill>
                <a:latin typeface="+mj-lt"/>
                <a:ea typeface="黑体" panose="02010609060101010101" pitchFamily="49" charset="-122"/>
              </a:rPr>
              <a:t>基于深度卷积的条件对抗生成网络</a:t>
            </a:r>
            <a:endParaRPr lang="en-US" altLang="zh-CN" sz="4000" b="1" dirty="0">
              <a:solidFill>
                <a:srgbClr val="5E7CB4"/>
              </a:solidFill>
              <a:latin typeface="+mj-lt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rgbClr val="5E7CB4"/>
                </a:solidFill>
                <a:latin typeface="+mj-lt"/>
                <a:ea typeface="黑体" panose="02010609060101010101" pitchFamily="49" charset="-122"/>
              </a:rPr>
              <a:t>DC-CGAN</a:t>
            </a:r>
            <a:r>
              <a:rPr lang="zh-CN" altLang="en-US" sz="4000" b="1" dirty="0">
                <a:solidFill>
                  <a:srgbClr val="5E7CB4"/>
                </a:solidFill>
                <a:latin typeface="+mj-lt"/>
                <a:ea typeface="黑体" panose="02010609060101010101" pitchFamily="49" charset="-122"/>
              </a:rPr>
              <a:t>以及图像修复探索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E5C72A-C287-0675-B24D-1F31E9307D32}"/>
              </a:ext>
            </a:extLst>
          </p:cNvPr>
          <p:cNvSpPr txBox="1"/>
          <p:nvPr/>
        </p:nvSpPr>
        <p:spPr>
          <a:xfrm>
            <a:off x="2836416" y="4250321"/>
            <a:ext cx="6816048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SC24219070 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朱越：</a:t>
            </a: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		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课题设计及模型设计</a:t>
            </a:r>
            <a:b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SC24219073 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向旭锦：</a:t>
            </a: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模型评估及模型训练</a:t>
            </a:r>
            <a:b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SC24219049 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陈蒙：</a:t>
            </a:r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		</a:t>
            </a:r>
            <a:r>
              <a:rPr lang="zh-CN" altLang="en-US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方案论证和汇报制作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3C4B41E-E333-5759-E766-7675492410D2}"/>
              </a:ext>
            </a:extLst>
          </p:cNvPr>
          <p:cNvCxnSpPr>
            <a:cxnSpLocks/>
          </p:cNvCxnSpPr>
          <p:nvPr/>
        </p:nvCxnSpPr>
        <p:spPr>
          <a:xfrm>
            <a:off x="1345869" y="6393092"/>
            <a:ext cx="9797143" cy="0"/>
          </a:xfrm>
          <a:prstGeom prst="line">
            <a:avLst/>
          </a:prstGeom>
          <a:noFill/>
          <a:ln w="285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BE366CD-2223-070E-BB59-98137A0504A3}"/>
              </a:ext>
            </a:extLst>
          </p:cNvPr>
          <p:cNvSpPr/>
          <p:nvPr/>
        </p:nvSpPr>
        <p:spPr>
          <a:xfrm>
            <a:off x="0" y="6543454"/>
            <a:ext cx="12192000" cy="314546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" name="jwc_logo">
            <a:extLst>
              <a:ext uri="{FF2B5EF4-FFF2-40B4-BE49-F238E27FC236}">
                <a16:creationId xmlns:a16="http://schemas.microsoft.com/office/drawing/2014/main" id="{E4A73D93-D613-632B-D38B-F37D0D4DECB7}"/>
              </a:ext>
            </a:extLst>
          </p:cNvPr>
          <p:cNvGrpSpPr>
            <a:grpSpLocks noChangeAspect="1"/>
          </p:cNvGrpSpPr>
          <p:nvPr/>
        </p:nvGrpSpPr>
        <p:grpSpPr>
          <a:xfrm>
            <a:off x="9068273" y="38432"/>
            <a:ext cx="2708490" cy="461724"/>
            <a:chOff x="8729725" y="4570716"/>
            <a:chExt cx="2830513" cy="477838"/>
          </a:xfrm>
          <a:solidFill>
            <a:schemeClr val="bg1"/>
          </a:solidFill>
        </p:grpSpPr>
        <p:sp>
          <p:nvSpPr>
            <p:cNvPr id="5" name="Freeform 34">
              <a:extLst>
                <a:ext uri="{FF2B5EF4-FFF2-40B4-BE49-F238E27FC236}">
                  <a16:creationId xmlns:a16="http://schemas.microsoft.com/office/drawing/2014/main" id="{EB0C4EC7-40D5-FA4E-F3BD-DA0DCE18EB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7" name="Freeform 35">
              <a:extLst>
                <a:ext uri="{FF2B5EF4-FFF2-40B4-BE49-F238E27FC236}">
                  <a16:creationId xmlns:a16="http://schemas.microsoft.com/office/drawing/2014/main" id="{4D810011-5652-968E-CE53-452DD46955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1" name="Freeform 36">
              <a:extLst>
                <a:ext uri="{FF2B5EF4-FFF2-40B4-BE49-F238E27FC236}">
                  <a16:creationId xmlns:a16="http://schemas.microsoft.com/office/drawing/2014/main" id="{564504AE-244C-516A-3306-49A46CB0D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3" name="Freeform 37">
              <a:extLst>
                <a:ext uri="{FF2B5EF4-FFF2-40B4-BE49-F238E27FC236}">
                  <a16:creationId xmlns:a16="http://schemas.microsoft.com/office/drawing/2014/main" id="{9C23C2D7-1DB4-C1B7-37AD-63E73A714C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4EA8077F-CB69-91C4-74C9-41323439F6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2254978D-16D0-2FB2-F32D-391B2AE6C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700465B2-BC56-6023-5712-E2C9200A6B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D9E2D06C-F5AD-123E-D090-026B2B227958}"/>
                </a:ext>
              </a:extLst>
            </p:cNvPr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B9A894AF-A809-993A-4E30-3C4259D4CAE8}"/>
                </a:ext>
              </a:extLst>
            </p:cNvPr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9B83FEE2-38CC-5497-E07C-E1C10EF87264}"/>
                </a:ext>
              </a:extLst>
            </p:cNvPr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2FE0B5BC-4DD5-0105-6F36-348529C32D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3B5F9F59-E80A-0A53-EF44-EE2FD28F6D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94C7994F-6054-0686-3C43-08AEB889A4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8" name="Freeform 47">
              <a:extLst>
                <a:ext uri="{FF2B5EF4-FFF2-40B4-BE49-F238E27FC236}">
                  <a16:creationId xmlns:a16="http://schemas.microsoft.com/office/drawing/2014/main" id="{A193E941-EBF7-8DC1-C81F-2FFB4A597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9" name="Freeform 48">
              <a:extLst>
                <a:ext uri="{FF2B5EF4-FFF2-40B4-BE49-F238E27FC236}">
                  <a16:creationId xmlns:a16="http://schemas.microsoft.com/office/drawing/2014/main" id="{2121C567-FFD2-557E-AE53-B0E68F0E01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0" name="Freeform 49">
              <a:extLst>
                <a:ext uri="{FF2B5EF4-FFF2-40B4-BE49-F238E27FC236}">
                  <a16:creationId xmlns:a16="http://schemas.microsoft.com/office/drawing/2014/main" id="{7E88E1F4-9961-EEF0-06B4-56418576444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0CA34277-77FB-65A4-7416-BF598CE13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172AB8DD-E3B3-4BF5-A33B-3953BBFFF7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3" name="Freeform 52">
              <a:extLst>
                <a:ext uri="{FF2B5EF4-FFF2-40B4-BE49-F238E27FC236}">
                  <a16:creationId xmlns:a16="http://schemas.microsoft.com/office/drawing/2014/main" id="{96879A47-B904-ADF7-565F-DD96E5506B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C8E6FB22-C0B7-5104-54B1-0911FD969C5F}"/>
              </a:ext>
            </a:extLst>
          </p:cNvPr>
          <p:cNvSpPr txBox="1"/>
          <p:nvPr/>
        </p:nvSpPr>
        <p:spPr>
          <a:xfrm>
            <a:off x="9279423" y="5856246"/>
            <a:ext cx="2531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黑体" panose="02010609060101010101" pitchFamily="49" charset="-122"/>
              </a:rPr>
              <a:t>2025.6.26</a:t>
            </a:r>
            <a:endParaRPr lang="zh-CN" altLang="en-US" sz="2400" b="1" dirty="0">
              <a:solidFill>
                <a:schemeClr val="accent1"/>
              </a:solidFill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68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63FC-7BC9-46CA-F13E-FE837FA4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6A7012-349D-323B-927E-3F5362C8F511}"/>
              </a:ext>
            </a:extLst>
          </p:cNvPr>
          <p:cNvSpPr txBox="1"/>
          <p:nvPr/>
        </p:nvSpPr>
        <p:spPr>
          <a:xfrm>
            <a:off x="3327144" y="1284405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课题背景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FA0303-B603-08C0-3659-8A3AC67B13E3}"/>
              </a:ext>
            </a:extLst>
          </p:cNvPr>
          <p:cNvSpPr txBox="1"/>
          <p:nvPr/>
        </p:nvSpPr>
        <p:spPr>
          <a:xfrm>
            <a:off x="7032711" y="604465"/>
            <a:ext cx="36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CGAN</a:t>
            </a: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条件生成网络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2AF211-23AF-D195-D875-07FED7F7B38A}"/>
              </a:ext>
            </a:extLst>
          </p:cNvPr>
          <p:cNvSpPr txBox="1"/>
          <p:nvPr/>
        </p:nvSpPr>
        <p:spPr>
          <a:xfrm>
            <a:off x="7032710" y="1593607"/>
            <a:ext cx="36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DCGAN</a:t>
            </a: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深度卷积生成网络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391C9A-9721-68EC-D0DD-955CDF19180D}"/>
              </a:ext>
            </a:extLst>
          </p:cNvPr>
          <p:cNvSpPr txBox="1"/>
          <p:nvPr/>
        </p:nvSpPr>
        <p:spPr>
          <a:xfrm>
            <a:off x="3327144" y="330689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技术路线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252D1F-B748-087E-2129-826A8104293D}"/>
              </a:ext>
            </a:extLst>
          </p:cNvPr>
          <p:cNvSpPr txBox="1"/>
          <p:nvPr/>
        </p:nvSpPr>
        <p:spPr>
          <a:xfrm>
            <a:off x="7032711" y="2554700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生成器设计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5ECFDB-0179-5E0C-0CC2-7520E6CFA4C9}"/>
              </a:ext>
            </a:extLst>
          </p:cNvPr>
          <p:cNvSpPr txBox="1"/>
          <p:nvPr/>
        </p:nvSpPr>
        <p:spPr>
          <a:xfrm>
            <a:off x="7032711" y="3379770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判别器设计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BDA514-46E8-F746-84E5-72DFCFC7EBBA}"/>
              </a:ext>
            </a:extLst>
          </p:cNvPr>
          <p:cNvSpPr txBox="1"/>
          <p:nvPr/>
        </p:nvSpPr>
        <p:spPr>
          <a:xfrm>
            <a:off x="7032711" y="4132436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模型训练及结果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6DAFC1-C062-4347-659D-E52C07979075}"/>
              </a:ext>
            </a:extLst>
          </p:cNvPr>
          <p:cNvSpPr txBox="1"/>
          <p:nvPr/>
        </p:nvSpPr>
        <p:spPr>
          <a:xfrm>
            <a:off x="3327144" y="557171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应用与设想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4CD7E2-45DF-71A1-2A8C-9667A7CB5A56}"/>
              </a:ext>
            </a:extLst>
          </p:cNvPr>
          <p:cNvSpPr txBox="1"/>
          <p:nvPr/>
        </p:nvSpPr>
        <p:spPr>
          <a:xfrm>
            <a:off x="7032711" y="4953330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模型架构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1D6765-AD30-9B56-45EA-F32231F297E9}"/>
              </a:ext>
            </a:extLst>
          </p:cNvPr>
          <p:cNvSpPr txBox="1"/>
          <p:nvPr/>
        </p:nvSpPr>
        <p:spPr>
          <a:xfrm>
            <a:off x="7032710" y="6088580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模型训练及结果</a:t>
            </a:r>
          </a:p>
        </p:txBody>
      </p:sp>
      <p:sp>
        <p:nvSpPr>
          <p:cNvPr id="20" name="直接连接符 4">
            <a:extLst>
              <a:ext uri="{FF2B5EF4-FFF2-40B4-BE49-F238E27FC236}">
                <a16:creationId xmlns:a16="http://schemas.microsoft.com/office/drawing/2014/main" id="{12ADEEF3-A18C-1B58-12A1-52BCDA5C73CD}"/>
              </a:ext>
            </a:extLst>
          </p:cNvPr>
          <p:cNvSpPr txBox="1"/>
          <p:nvPr/>
        </p:nvSpPr>
        <p:spPr>
          <a:xfrm>
            <a:off x="6059666" y="4036132"/>
            <a:ext cx="72669" cy="7266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400" b="1" kern="120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8" name="直接连接符 6">
            <a:extLst>
              <a:ext uri="{FF2B5EF4-FFF2-40B4-BE49-F238E27FC236}">
                <a16:creationId xmlns:a16="http://schemas.microsoft.com/office/drawing/2014/main" id="{B41CD977-D870-B888-1FBA-496F9B13CC1A}"/>
              </a:ext>
            </a:extLst>
          </p:cNvPr>
          <p:cNvSpPr txBox="1"/>
          <p:nvPr/>
        </p:nvSpPr>
        <p:spPr>
          <a:xfrm>
            <a:off x="6059666" y="2749199"/>
            <a:ext cx="72669" cy="7266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400" b="1" kern="1200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1CD18B-5E81-FD08-3981-34DF319582DD}"/>
              </a:ext>
            </a:extLst>
          </p:cNvPr>
          <p:cNvGrpSpPr/>
          <p:nvPr/>
        </p:nvGrpSpPr>
        <p:grpSpPr>
          <a:xfrm>
            <a:off x="5733654" y="954280"/>
            <a:ext cx="1800000" cy="1247978"/>
            <a:chOff x="5856253" y="1097280"/>
            <a:chExt cx="926932" cy="980902"/>
          </a:xfrm>
        </p:grpSpPr>
        <p:cxnSp>
          <p:nvCxnSpPr>
            <p:cNvPr id="22" name="连接符: 肘形 21">
              <a:extLst>
                <a:ext uri="{FF2B5EF4-FFF2-40B4-BE49-F238E27FC236}">
                  <a16:creationId xmlns:a16="http://schemas.microsoft.com/office/drawing/2014/main" id="{68FA763D-C774-14D2-8B43-35C0B53E4042}"/>
                </a:ext>
              </a:extLst>
            </p:cNvPr>
            <p:cNvCxnSpPr/>
            <p:nvPr/>
          </p:nvCxnSpPr>
          <p:spPr>
            <a:xfrm>
              <a:off x="5856253" y="1587731"/>
              <a:ext cx="926932" cy="490451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52FD6CCB-8DB7-CE7D-C4E2-E03539314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6253" y="1097280"/>
              <a:ext cx="926932" cy="490451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F4A442A-0517-9666-C45B-B8653E3E6371}"/>
              </a:ext>
            </a:extLst>
          </p:cNvPr>
          <p:cNvGrpSpPr/>
          <p:nvPr/>
        </p:nvGrpSpPr>
        <p:grpSpPr>
          <a:xfrm>
            <a:off x="5733654" y="5170273"/>
            <a:ext cx="1800000" cy="1247978"/>
            <a:chOff x="5856253" y="1097280"/>
            <a:chExt cx="926932" cy="980902"/>
          </a:xfrm>
        </p:grpSpPr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0AF7400B-3D8C-786A-888C-6FA11E5BA127}"/>
                </a:ext>
              </a:extLst>
            </p:cNvPr>
            <p:cNvCxnSpPr/>
            <p:nvPr/>
          </p:nvCxnSpPr>
          <p:spPr>
            <a:xfrm>
              <a:off x="5856253" y="1587731"/>
              <a:ext cx="926932" cy="490451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5E5E9BFA-ABC1-2E35-C4AE-9CEF91C93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6253" y="1097280"/>
              <a:ext cx="926932" cy="490451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84B54A21-710B-62BF-2E96-FEF15021DB1D}"/>
              </a:ext>
            </a:extLst>
          </p:cNvPr>
          <p:cNvSpPr/>
          <p:nvPr/>
        </p:nvSpPr>
        <p:spPr>
          <a:xfrm>
            <a:off x="0" y="6543454"/>
            <a:ext cx="12192000" cy="314546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2400" b="1" kern="0" dirty="0">
              <a:solidFill>
                <a:prstClr val="white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1D33E8-F64D-F567-3021-FA815A6396DC}"/>
              </a:ext>
            </a:extLst>
          </p:cNvPr>
          <p:cNvSpPr txBox="1"/>
          <p:nvPr/>
        </p:nvSpPr>
        <p:spPr>
          <a:xfrm>
            <a:off x="231181" y="3129076"/>
            <a:ext cx="195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prstClr val="black"/>
                </a:solidFill>
                <a:latin typeface="+mj-lt"/>
                <a:ea typeface="黑体" panose="02010609060101010101" pitchFamily="49" charset="-122"/>
              </a:rPr>
              <a:t>Content</a:t>
            </a:r>
            <a:endParaRPr lang="zh-CN" altLang="en-US" sz="3200" b="1" dirty="0">
              <a:solidFill>
                <a:prstClr val="black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461DFFD0-F6C4-9BC6-4CA4-F42BEEEA69C9}"/>
              </a:ext>
            </a:extLst>
          </p:cNvPr>
          <p:cNvSpPr txBox="1"/>
          <p:nvPr/>
        </p:nvSpPr>
        <p:spPr>
          <a:xfrm>
            <a:off x="2773930" y="1356549"/>
            <a:ext cx="443439" cy="443439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4472C4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6936136-673E-A0EC-3CAD-8A856C974D2D}"/>
              </a:ext>
            </a:extLst>
          </p:cNvPr>
          <p:cNvSpPr txBox="1"/>
          <p:nvPr/>
        </p:nvSpPr>
        <p:spPr>
          <a:xfrm>
            <a:off x="2765332" y="3310994"/>
            <a:ext cx="443439" cy="410212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rgbClr val="4472C4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48CE8F13-B791-00A0-290F-5E07A014B869}"/>
              </a:ext>
            </a:extLst>
          </p:cNvPr>
          <p:cNvSpPr txBox="1"/>
          <p:nvPr/>
        </p:nvSpPr>
        <p:spPr>
          <a:xfrm>
            <a:off x="2804830" y="5619116"/>
            <a:ext cx="443439" cy="443439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4472C4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72143C-F395-2718-DB47-FECC94AF85F5}"/>
              </a:ext>
            </a:extLst>
          </p:cNvPr>
          <p:cNvSpPr/>
          <p:nvPr/>
        </p:nvSpPr>
        <p:spPr>
          <a:xfrm>
            <a:off x="0" y="-11052"/>
            <a:ext cx="12192000" cy="546265"/>
          </a:xfrm>
          <a:prstGeom prst="rect">
            <a:avLst/>
          </a:prstGeom>
          <a:solidFill>
            <a:srgbClr val="26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C2CDF65-2B5C-1373-5BB6-6542F44B9C5B}"/>
              </a:ext>
            </a:extLst>
          </p:cNvPr>
          <p:cNvGrpSpPr/>
          <p:nvPr/>
        </p:nvGrpSpPr>
        <p:grpSpPr>
          <a:xfrm>
            <a:off x="5733654" y="2754291"/>
            <a:ext cx="1800000" cy="1641788"/>
            <a:chOff x="5514362" y="2754291"/>
            <a:chExt cx="1551456" cy="1641788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AB7AE17-27F0-76B1-F396-E72A8D7A969B}"/>
                </a:ext>
              </a:extLst>
            </p:cNvPr>
            <p:cNvGrpSpPr/>
            <p:nvPr/>
          </p:nvGrpSpPr>
          <p:grpSpPr>
            <a:xfrm>
              <a:off x="5514362" y="2754291"/>
              <a:ext cx="1551456" cy="1641788"/>
              <a:chOff x="5856253" y="1097280"/>
              <a:chExt cx="926932" cy="980902"/>
            </a:xfrm>
          </p:grpSpPr>
          <p:cxnSp>
            <p:nvCxnSpPr>
              <p:cNvPr id="26" name="连接符: 肘形 25">
                <a:extLst>
                  <a:ext uri="{FF2B5EF4-FFF2-40B4-BE49-F238E27FC236}">
                    <a16:creationId xmlns:a16="http://schemas.microsoft.com/office/drawing/2014/main" id="{777755B3-F1C5-C6ED-E1A9-6D530D04E719}"/>
                  </a:ext>
                </a:extLst>
              </p:cNvPr>
              <p:cNvCxnSpPr/>
              <p:nvPr/>
            </p:nvCxnSpPr>
            <p:spPr>
              <a:xfrm>
                <a:off x="5856253" y="1587731"/>
                <a:ext cx="926932" cy="490451"/>
              </a:xfrm>
              <a:prstGeom prst="bentConnector3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连接符: 肘形 26">
                <a:extLst>
                  <a:ext uri="{FF2B5EF4-FFF2-40B4-BE49-F238E27FC236}">
                    <a16:creationId xmlns:a16="http://schemas.microsoft.com/office/drawing/2014/main" id="{ED6649FC-9F19-5DD0-5B27-26258F2A4E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56253" y="1097280"/>
                <a:ext cx="926932" cy="490451"/>
              </a:xfrm>
              <a:prstGeom prst="bentConnector3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7A1FB86-7E46-BFF1-9083-C0E4670837E9}"/>
                </a:ext>
              </a:extLst>
            </p:cNvPr>
            <p:cNvCxnSpPr>
              <a:cxnSpLocks/>
            </p:cNvCxnSpPr>
            <p:nvPr/>
          </p:nvCxnSpPr>
          <p:spPr>
            <a:xfrm>
              <a:off x="6290090" y="3575185"/>
              <a:ext cx="685455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369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325F-81CF-15E7-AA98-D5206082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760F213-8DDD-FCC4-0ADB-63AA4EB5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98" y="635662"/>
            <a:ext cx="5891174" cy="45285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B893657-B88F-A147-647C-9345FD383BDD}"/>
              </a:ext>
            </a:extLst>
          </p:cNvPr>
          <p:cNvSpPr txBox="1"/>
          <p:nvPr/>
        </p:nvSpPr>
        <p:spPr>
          <a:xfrm>
            <a:off x="2050910" y="5255664"/>
            <a:ext cx="2562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+mj-lt"/>
                <a:ea typeface="黑体" panose="02010609060101010101" pitchFamily="49" charset="-122"/>
              </a:rPr>
              <a:t>The CIFAR-10 dataset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86BE73-0BBA-DC09-7704-A53ADD239D73}"/>
              </a:ext>
            </a:extLst>
          </p:cNvPr>
          <p:cNvSpPr txBox="1"/>
          <p:nvPr/>
        </p:nvSpPr>
        <p:spPr>
          <a:xfrm>
            <a:off x="4613058" y="5255664"/>
            <a:ext cx="1479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+mj-lt"/>
                <a:ea typeface="黑体" panose="02010609060101010101" pitchFamily="49" charset="-122"/>
              </a:rPr>
              <a:t>32x32x3 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3957A4-55AE-A002-A848-0EEE9194CF5F}"/>
              </a:ext>
            </a:extLst>
          </p:cNvPr>
          <p:cNvSpPr txBox="1"/>
          <p:nvPr/>
        </p:nvSpPr>
        <p:spPr>
          <a:xfrm>
            <a:off x="15301" y="257679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10 </a:t>
            </a:r>
          </a:p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类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5E6AA8A-4E74-A88A-601A-D4B9C81AC86F}"/>
              </a:ext>
            </a:extLst>
          </p:cNvPr>
          <p:cNvGrpSpPr/>
          <p:nvPr/>
        </p:nvGrpSpPr>
        <p:grpSpPr>
          <a:xfrm>
            <a:off x="1216395" y="5785231"/>
            <a:ext cx="4231179" cy="874214"/>
            <a:chOff x="4039985" y="5845605"/>
            <a:chExt cx="4231179" cy="874214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A1B291-5BD5-ACD6-7989-4CF4CAD7CE10}"/>
                </a:ext>
              </a:extLst>
            </p:cNvPr>
            <p:cNvSpPr txBox="1"/>
            <p:nvPr/>
          </p:nvSpPr>
          <p:spPr>
            <a:xfrm>
              <a:off x="4329685" y="5845605"/>
              <a:ext cx="3767327" cy="874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5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个批次的训练集，和一个测试集，每个均包含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1000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张图片，共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6000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张。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D19150E-7A47-53BB-BC23-A76BD4870CEB}"/>
                </a:ext>
              </a:extLst>
            </p:cNvPr>
            <p:cNvSpPr/>
            <p:nvPr/>
          </p:nvSpPr>
          <p:spPr>
            <a:xfrm>
              <a:off x="4039985" y="5845605"/>
              <a:ext cx="4231179" cy="87421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EDD2D9D-BE8B-DCD2-8932-BF9D7C664E51}"/>
              </a:ext>
            </a:extLst>
          </p:cNvPr>
          <p:cNvGrpSpPr/>
          <p:nvPr/>
        </p:nvGrpSpPr>
        <p:grpSpPr>
          <a:xfrm>
            <a:off x="0" y="-69459"/>
            <a:ext cx="12192000" cy="597706"/>
            <a:chOff x="0" y="-69459"/>
            <a:chExt cx="12192000" cy="5977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3035D80-848A-4DDA-2D38-28A7C30211AA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2" name="jwc_logo">
              <a:extLst>
                <a:ext uri="{FF2B5EF4-FFF2-40B4-BE49-F238E27FC236}">
                  <a16:creationId xmlns:a16="http://schemas.microsoft.com/office/drawing/2014/main" id="{EF849449-BAA5-E139-7E07-79492C2C16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4" name="Freeform 34">
                <a:extLst>
                  <a:ext uri="{FF2B5EF4-FFF2-40B4-BE49-F238E27FC236}">
                    <a16:creationId xmlns:a16="http://schemas.microsoft.com/office/drawing/2014/main" id="{ADC71D57-E091-05B9-7CA9-BD87EDA1C2C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35">
                <a:extLst>
                  <a:ext uri="{FF2B5EF4-FFF2-40B4-BE49-F238E27FC236}">
                    <a16:creationId xmlns:a16="http://schemas.microsoft.com/office/drawing/2014/main" id="{4EB3FDF7-766B-B8DD-F28A-C7066F03AAC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36">
                <a:extLst>
                  <a:ext uri="{FF2B5EF4-FFF2-40B4-BE49-F238E27FC236}">
                    <a16:creationId xmlns:a16="http://schemas.microsoft.com/office/drawing/2014/main" id="{9E5996AB-07A7-678E-D9DF-7841439D112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37">
                <a:extLst>
                  <a:ext uri="{FF2B5EF4-FFF2-40B4-BE49-F238E27FC236}">
                    <a16:creationId xmlns:a16="http://schemas.microsoft.com/office/drawing/2014/main" id="{3F48B7B8-E828-D09F-130B-BA1CCA297E0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38">
                <a:extLst>
                  <a:ext uri="{FF2B5EF4-FFF2-40B4-BE49-F238E27FC236}">
                    <a16:creationId xmlns:a16="http://schemas.microsoft.com/office/drawing/2014/main" id="{CEC9275B-7842-972B-8042-B583F745B82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39">
                <a:extLst>
                  <a:ext uri="{FF2B5EF4-FFF2-40B4-BE49-F238E27FC236}">
                    <a16:creationId xmlns:a16="http://schemas.microsoft.com/office/drawing/2014/main" id="{C79FFC6A-1DA5-9776-4BB4-7388DF0CB6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0">
                <a:extLst>
                  <a:ext uri="{FF2B5EF4-FFF2-40B4-BE49-F238E27FC236}">
                    <a16:creationId xmlns:a16="http://schemas.microsoft.com/office/drawing/2014/main" id="{79A9DF51-8172-906E-77DC-3F32D1B8A1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1">
                <a:extLst>
                  <a:ext uri="{FF2B5EF4-FFF2-40B4-BE49-F238E27FC236}">
                    <a16:creationId xmlns:a16="http://schemas.microsoft.com/office/drawing/2014/main" id="{869313C0-EA7A-E6DD-543A-2EF9817A1E20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2">
                <a:extLst>
                  <a:ext uri="{FF2B5EF4-FFF2-40B4-BE49-F238E27FC236}">
                    <a16:creationId xmlns:a16="http://schemas.microsoft.com/office/drawing/2014/main" id="{2B59AB60-A23E-02C3-0FB3-611114429CF7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3">
                <a:extLst>
                  <a:ext uri="{FF2B5EF4-FFF2-40B4-BE49-F238E27FC236}">
                    <a16:creationId xmlns:a16="http://schemas.microsoft.com/office/drawing/2014/main" id="{26588D38-F502-4A47-A3FC-C63BBA711A18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4">
                <a:extLst>
                  <a:ext uri="{FF2B5EF4-FFF2-40B4-BE49-F238E27FC236}">
                    <a16:creationId xmlns:a16="http://schemas.microsoft.com/office/drawing/2014/main" id="{33DF24A8-A8CD-F5BB-E057-60B0942FDF1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5">
                <a:extLst>
                  <a:ext uri="{FF2B5EF4-FFF2-40B4-BE49-F238E27FC236}">
                    <a16:creationId xmlns:a16="http://schemas.microsoft.com/office/drawing/2014/main" id="{880EB326-904A-F303-C892-EFF6BCB07BD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6">
                <a:extLst>
                  <a:ext uri="{FF2B5EF4-FFF2-40B4-BE49-F238E27FC236}">
                    <a16:creationId xmlns:a16="http://schemas.microsoft.com/office/drawing/2014/main" id="{9D0FA5E0-3B68-F9D5-FAAB-8934CB364B0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7">
                <a:extLst>
                  <a:ext uri="{FF2B5EF4-FFF2-40B4-BE49-F238E27FC236}">
                    <a16:creationId xmlns:a16="http://schemas.microsoft.com/office/drawing/2014/main" id="{160F5813-6CBC-F76D-8D51-310B981F989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48">
                <a:extLst>
                  <a:ext uri="{FF2B5EF4-FFF2-40B4-BE49-F238E27FC236}">
                    <a16:creationId xmlns:a16="http://schemas.microsoft.com/office/drawing/2014/main" id="{B0933551-43F2-6E11-843F-B9368DF823B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49">
                <a:extLst>
                  <a:ext uri="{FF2B5EF4-FFF2-40B4-BE49-F238E27FC236}">
                    <a16:creationId xmlns:a16="http://schemas.microsoft.com/office/drawing/2014/main" id="{4BDD35FB-A1CC-85DC-9997-DA45F711856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50">
                <a:extLst>
                  <a:ext uri="{FF2B5EF4-FFF2-40B4-BE49-F238E27FC236}">
                    <a16:creationId xmlns:a16="http://schemas.microsoft.com/office/drawing/2014/main" id="{7353D66B-D45A-B607-D966-C370DAF07FE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51">
                <a:extLst>
                  <a:ext uri="{FF2B5EF4-FFF2-40B4-BE49-F238E27FC236}">
                    <a16:creationId xmlns:a16="http://schemas.microsoft.com/office/drawing/2014/main" id="{BB370E1B-0706-492B-4728-C9B02E4EE3C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Freeform 52">
                <a:extLst>
                  <a:ext uri="{FF2B5EF4-FFF2-40B4-BE49-F238E27FC236}">
                    <a16:creationId xmlns:a16="http://schemas.microsoft.com/office/drawing/2014/main" id="{97A01998-62E8-9E53-9A54-DC1E843501F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6836FD9-C096-5BFC-D11A-E81571E17815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数据集介绍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32FF408-E19B-040A-3BFB-612778578D77}"/>
              </a:ext>
            </a:extLst>
          </p:cNvPr>
          <p:cNvGrpSpPr/>
          <p:nvPr/>
        </p:nvGrpSpPr>
        <p:grpSpPr>
          <a:xfrm>
            <a:off x="6769718" y="1516850"/>
            <a:ext cx="5186505" cy="4839122"/>
            <a:chOff x="7571" y="1647797"/>
            <a:chExt cx="2999077" cy="2829870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1A8B3AC-EF4B-8287-144A-52918FA38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57" y="1647797"/>
              <a:ext cx="2879704" cy="1544842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686FB1B-4288-FD27-5C99-5BFDAC54B40C}"/>
                </a:ext>
              </a:extLst>
            </p:cNvPr>
            <p:cNvSpPr txBox="1"/>
            <p:nvPr/>
          </p:nvSpPr>
          <p:spPr>
            <a:xfrm>
              <a:off x="7571" y="3613740"/>
              <a:ext cx="2999077" cy="8639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  <a:hlinkClick r:id="rId5"/>
                </a:rPr>
                <a:t>https://github.com/eriklindernoren/PyTorch-GAN?tab=readme-ov-file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en-US" altLang="zh-CN" b="1" dirty="0" err="1">
                  <a:latin typeface="+mj-lt"/>
                  <a:ea typeface="黑体" panose="02010609060101010101" pitchFamily="49" charset="-122"/>
                </a:rPr>
                <a:t>Pytorch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官方收录的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GAN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训练脚本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基于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MINIST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数据集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34E25EA-D6E1-8272-BC07-9EB6C4A633A5}"/>
              </a:ext>
            </a:extLst>
          </p:cNvPr>
          <p:cNvCxnSpPr/>
          <p:nvPr/>
        </p:nvCxnSpPr>
        <p:spPr>
          <a:xfrm>
            <a:off x="6422571" y="528247"/>
            <a:ext cx="0" cy="632975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68FF01-11D2-1C6A-8E37-4F82ED953B9C}"/>
              </a:ext>
            </a:extLst>
          </p:cNvPr>
          <p:cNvSpPr txBox="1"/>
          <p:nvPr/>
        </p:nvSpPr>
        <p:spPr>
          <a:xfrm>
            <a:off x="8156139" y="730161"/>
            <a:ext cx="2615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latin typeface="+mj-lt"/>
                <a:ea typeface="黑体" panose="02010609060101010101" pitchFamily="49" charset="-122"/>
              </a:rPr>
              <a:t>Pytorch</a:t>
            </a:r>
            <a:r>
              <a:rPr lang="en-US" altLang="zh-CN" sz="3200" b="1" dirty="0">
                <a:latin typeface="+mj-lt"/>
                <a:ea typeface="黑体" panose="02010609060101010101" pitchFamily="49" charset="-122"/>
              </a:rPr>
              <a:t>-GAN</a:t>
            </a:r>
            <a:endParaRPr lang="zh-CN" altLang="en-US" sz="3200" b="1" dirty="0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640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9F43-0020-17E4-C17C-45580844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5EC639-A5AF-F4FE-3976-299326AE1DB8}"/>
              </a:ext>
            </a:extLst>
          </p:cNvPr>
          <p:cNvSpPr txBox="1"/>
          <p:nvPr/>
        </p:nvSpPr>
        <p:spPr>
          <a:xfrm>
            <a:off x="3247934" y="5045621"/>
            <a:ext cx="5766839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GAN的基本思想是由一个生成器和一个判别器构成，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通过对抗学习的方式来训练。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目的是估测数据样本的潜在分布并生成新的数据样本。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B4849E-2047-4DAE-AD80-82DF40B95C9B}"/>
              </a:ext>
            </a:extLst>
          </p:cNvPr>
          <p:cNvGrpSpPr/>
          <p:nvPr/>
        </p:nvGrpSpPr>
        <p:grpSpPr>
          <a:xfrm>
            <a:off x="915200" y="1112196"/>
            <a:ext cx="10361247" cy="3543226"/>
            <a:chOff x="810336" y="2415514"/>
            <a:chExt cx="10361247" cy="3543226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3748442B-189C-5F54-A018-20F134AFE2F6}"/>
                </a:ext>
              </a:extLst>
            </p:cNvPr>
            <p:cNvGrpSpPr/>
            <p:nvPr/>
          </p:nvGrpSpPr>
          <p:grpSpPr>
            <a:xfrm>
              <a:off x="810336" y="2415514"/>
              <a:ext cx="10361247" cy="3543226"/>
              <a:chOff x="2230441" y="3454525"/>
              <a:chExt cx="10361247" cy="3543226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1AB5D591-16C8-66BB-32BE-708B7FBB56CD}"/>
                  </a:ext>
                </a:extLst>
              </p:cNvPr>
              <p:cNvGrpSpPr/>
              <p:nvPr/>
            </p:nvGrpSpPr>
            <p:grpSpPr>
              <a:xfrm>
                <a:off x="2230441" y="4438132"/>
                <a:ext cx="5456920" cy="2559619"/>
                <a:chOff x="2795409" y="2420305"/>
                <a:chExt cx="5456920" cy="2559619"/>
              </a:xfrm>
            </p:grpSpPr>
            <p:pic>
              <p:nvPicPr>
                <p:cNvPr id="9" name="图片 8">
                  <a:extLst>
                    <a:ext uri="{FF2B5EF4-FFF2-40B4-BE49-F238E27FC236}">
                      <a16:creationId xmlns:a16="http://schemas.microsoft.com/office/drawing/2014/main" id="{7224D410-E5EB-98BC-C323-E49B6F851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9880" t="61090" r="63532" b="12729"/>
                <a:stretch>
                  <a:fillRect/>
                </a:stretch>
              </p:blipFill>
              <p:spPr>
                <a:xfrm>
                  <a:off x="6793988" y="3581892"/>
                  <a:ext cx="1126066" cy="1028700"/>
                </a:xfrm>
                <a:prstGeom prst="rect">
                  <a:avLst/>
                </a:prstGeom>
              </p:spPr>
            </p:pic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EEC3678-7EAB-9D15-8A01-8EA86EFC0779}"/>
                    </a:ext>
                  </a:extLst>
                </p:cNvPr>
                <p:cNvSpPr txBox="1"/>
                <p:nvPr/>
              </p:nvSpPr>
              <p:spPr>
                <a:xfrm>
                  <a:off x="6702479" y="4610592"/>
                  <a:ext cx="1549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Real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5822CEB-DAAC-2C62-5F5D-7C2248C6F0A5}"/>
                    </a:ext>
                  </a:extLst>
                </p:cNvPr>
                <p:cNvSpPr txBox="1"/>
                <p:nvPr/>
              </p:nvSpPr>
              <p:spPr>
                <a:xfrm>
                  <a:off x="2795409" y="2420305"/>
                  <a:ext cx="15171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Noise vector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5580612E-843A-16A2-A5A3-86460CEDD7DB}"/>
                  </a:ext>
                </a:extLst>
              </p:cNvPr>
              <p:cNvSpPr/>
              <p:nvPr/>
            </p:nvSpPr>
            <p:spPr>
              <a:xfrm>
                <a:off x="2492890" y="3761409"/>
                <a:ext cx="806450" cy="6921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Z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8EB9B88B-446A-3BDB-D54D-03C409C27ECB}"/>
                  </a:ext>
                </a:extLst>
              </p:cNvPr>
              <p:cNvGrpSpPr/>
              <p:nvPr/>
            </p:nvGrpSpPr>
            <p:grpSpPr>
              <a:xfrm>
                <a:off x="5871323" y="3454525"/>
                <a:ext cx="1983614" cy="1385663"/>
                <a:chOff x="4912475" y="1391105"/>
                <a:chExt cx="1983614" cy="1385663"/>
              </a:xfrm>
            </p:grpSpPr>
            <p:pic>
              <p:nvPicPr>
                <p:cNvPr id="8" name="图片 7">
                  <a:extLst>
                    <a:ext uri="{FF2B5EF4-FFF2-40B4-BE49-F238E27FC236}">
                      <a16:creationId xmlns:a16="http://schemas.microsoft.com/office/drawing/2014/main" id="{BBFCBEC5-6137-64F5-A374-FE451787DE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1145" t="30973" r="42704" b="43127"/>
                <a:stretch>
                  <a:fillRect/>
                </a:stretch>
              </p:blipFill>
              <p:spPr>
                <a:xfrm>
                  <a:off x="5270172" y="1391105"/>
                  <a:ext cx="1096433" cy="1017613"/>
                </a:xfrm>
                <a:prstGeom prst="rect">
                  <a:avLst/>
                </a:prstGeom>
              </p:spPr>
            </p:pic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E2FA77D-DE04-681D-94DF-4ECB761E41E4}"/>
                    </a:ext>
                  </a:extLst>
                </p:cNvPr>
                <p:cNvSpPr txBox="1"/>
                <p:nvPr/>
              </p:nvSpPr>
              <p:spPr>
                <a:xfrm>
                  <a:off x="4912475" y="2407436"/>
                  <a:ext cx="19836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Generated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9C8FF273-D97E-81BC-640F-85E3DFE6B8B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606538" y="3914814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7A0017F7-C1F6-E672-E75B-072DE420BBE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823974" y="3914814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68766232-4BB2-ADE6-0F57-0E8D5A8CE4E1}"/>
                  </a:ext>
                </a:extLst>
              </p:cNvPr>
              <p:cNvGrpSpPr/>
              <p:nvPr/>
            </p:nvGrpSpPr>
            <p:grpSpPr>
              <a:xfrm>
                <a:off x="10952509" y="4453559"/>
                <a:ext cx="773804" cy="941790"/>
                <a:chOff x="11035059" y="4342434"/>
                <a:chExt cx="773804" cy="941790"/>
              </a:xfrm>
            </p:grpSpPr>
            <p:cxnSp>
              <p:nvCxnSpPr>
                <p:cNvPr id="41" name="连接符: 肘形 40">
                  <a:extLst>
                    <a:ext uri="{FF2B5EF4-FFF2-40B4-BE49-F238E27FC236}">
                      <a16:creationId xmlns:a16="http://schemas.microsoft.com/office/drawing/2014/main" id="{0A09822B-03D1-CF2C-1F51-4F12F02789A1}"/>
                    </a:ext>
                  </a:extLst>
                </p:cNvPr>
                <p:cNvCxnSpPr/>
                <p:nvPr/>
              </p:nvCxnSpPr>
              <p:spPr>
                <a:xfrm flipV="1">
                  <a:off x="11038842" y="4342434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连接符: 肘形 64">
                  <a:extLst>
                    <a:ext uri="{FF2B5EF4-FFF2-40B4-BE49-F238E27FC236}">
                      <a16:creationId xmlns:a16="http://schemas.microsoft.com/office/drawing/2014/main" id="{D77DEDC3-62F4-D103-9414-B2892E346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35059" y="4813329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B034D75-FB04-08C1-A39C-0B219BB64195}"/>
                  </a:ext>
                </a:extLst>
              </p:cNvPr>
              <p:cNvSpPr txBox="1"/>
              <p:nvPr/>
            </p:nvSpPr>
            <p:spPr>
              <a:xfrm>
                <a:off x="11722530" y="4218657"/>
                <a:ext cx="869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B050"/>
                    </a:solidFill>
                    <a:latin typeface="+mj-lt"/>
                    <a:ea typeface="黑体" panose="02010609060101010101" pitchFamily="49" charset="-122"/>
                  </a:rPr>
                  <a:t>Real</a:t>
                </a:r>
                <a:endParaRPr lang="zh-CN" altLang="en-US" sz="2400" b="1" dirty="0">
                  <a:solidFill>
                    <a:srgbClr val="00B050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9C13C630-B03C-A05E-BB11-9B5404945144}"/>
                  </a:ext>
                </a:extLst>
              </p:cNvPr>
              <p:cNvSpPr txBox="1"/>
              <p:nvPr/>
            </p:nvSpPr>
            <p:spPr>
              <a:xfrm>
                <a:off x="11722530" y="5159901"/>
                <a:ext cx="869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+mj-lt"/>
                    <a:ea typeface="黑体" panose="02010609060101010101" pitchFamily="49" charset="-122"/>
                  </a:rPr>
                  <a:t>Fake</a:t>
                </a: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90DD95FF-740C-92D6-7E69-6705BC4FA625}"/>
                  </a:ext>
                </a:extLst>
              </p:cNvPr>
              <p:cNvGrpSpPr/>
              <p:nvPr/>
            </p:nvGrpSpPr>
            <p:grpSpPr>
              <a:xfrm>
                <a:off x="9157752" y="4361645"/>
                <a:ext cx="1657350" cy="1196288"/>
                <a:chOff x="9195335" y="4129641"/>
                <a:chExt cx="1657350" cy="1196288"/>
              </a:xfrm>
            </p:grpSpPr>
            <p:sp>
              <p:nvSpPr>
                <p:cNvPr id="24" name="流程图: 离页连接符 23">
                  <a:extLst>
                    <a:ext uri="{FF2B5EF4-FFF2-40B4-BE49-F238E27FC236}">
                      <a16:creationId xmlns:a16="http://schemas.microsoft.com/office/drawing/2014/main" id="{2D4157C9-656B-7C85-5FA8-51956B958304}"/>
                    </a:ext>
                  </a:extLst>
                </p:cNvPr>
                <p:cNvSpPr/>
                <p:nvPr/>
              </p:nvSpPr>
              <p:spPr>
                <a:xfrm rot="16200000">
                  <a:off x="9447004" y="3928490"/>
                  <a:ext cx="1196288" cy="1598590"/>
                </a:xfrm>
                <a:prstGeom prst="flowChartOffpageConnector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81D3125-242A-449B-BC81-AB8C6F2FBDF0}"/>
                    </a:ext>
                  </a:extLst>
                </p:cNvPr>
                <p:cNvSpPr txBox="1"/>
                <p:nvPr/>
              </p:nvSpPr>
              <p:spPr>
                <a:xfrm>
                  <a:off x="9195335" y="4259483"/>
                  <a:ext cx="165735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D</a:t>
                  </a:r>
                </a:p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(Discriminator)</a:t>
                  </a:r>
                  <a:endParaRPr lang="zh-CN" altLang="en-US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7CDA2E6D-E191-AD9D-F493-55C501311C87}"/>
                  </a:ext>
                </a:extLst>
              </p:cNvPr>
              <p:cNvGrpSpPr/>
              <p:nvPr/>
            </p:nvGrpSpPr>
            <p:grpSpPr>
              <a:xfrm>
                <a:off x="3901730" y="3565388"/>
                <a:ext cx="1598590" cy="1196288"/>
                <a:chOff x="2362569" y="5160428"/>
                <a:chExt cx="1598590" cy="1196288"/>
              </a:xfrm>
            </p:grpSpPr>
            <p:sp>
              <p:nvSpPr>
                <p:cNvPr id="74" name="流程图: 离页连接符 73">
                  <a:extLst>
                    <a:ext uri="{FF2B5EF4-FFF2-40B4-BE49-F238E27FC236}">
                      <a16:creationId xmlns:a16="http://schemas.microsoft.com/office/drawing/2014/main" id="{D08EFE95-2584-4BAF-3B7F-E48DC66EC0E8}"/>
                    </a:ext>
                  </a:extLst>
                </p:cNvPr>
                <p:cNvSpPr/>
                <p:nvPr/>
              </p:nvSpPr>
              <p:spPr>
                <a:xfrm rot="16200000">
                  <a:off x="2563720" y="4959277"/>
                  <a:ext cx="1196288" cy="1598590"/>
                </a:xfrm>
                <a:prstGeom prst="flowChartOffpageConnector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3016A4B-FFBC-1E68-0681-47C9FB680549}"/>
                    </a:ext>
                  </a:extLst>
                </p:cNvPr>
                <p:cNvSpPr txBox="1"/>
                <p:nvPr/>
              </p:nvSpPr>
              <p:spPr>
                <a:xfrm>
                  <a:off x="2423954" y="5305303"/>
                  <a:ext cx="132228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G</a:t>
                  </a:r>
                </a:p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(Generator)</a:t>
                  </a:r>
                  <a:endParaRPr lang="zh-CN" altLang="en-US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  <p:cxnSp>
          <p:nvCxnSpPr>
            <p:cNvPr id="5" name="连接符: 肘形 4">
              <a:extLst>
                <a:ext uri="{FF2B5EF4-FFF2-40B4-BE49-F238E27FC236}">
                  <a16:creationId xmlns:a16="http://schemas.microsoft.com/office/drawing/2014/main" id="{AAE6C16A-C100-44D0-6FC3-8B8196A38A93}"/>
                </a:ext>
              </a:extLst>
            </p:cNvPr>
            <p:cNvCxnSpPr/>
            <p:nvPr/>
          </p:nvCxnSpPr>
          <p:spPr>
            <a:xfrm>
              <a:off x="6033706" y="2991678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连接符: 肘形 9">
              <a:extLst>
                <a:ext uri="{FF2B5EF4-FFF2-40B4-BE49-F238E27FC236}">
                  <a16:creationId xmlns:a16="http://schemas.microsoft.com/office/drawing/2014/main" id="{75A1FEA5-8454-EF24-5E17-CE438F528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3706" y="4351722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A84803-A79F-FDCF-599E-5CADF0EF5CC5}"/>
              </a:ext>
            </a:extLst>
          </p:cNvPr>
          <p:cNvSpPr/>
          <p:nvPr/>
        </p:nvSpPr>
        <p:spPr>
          <a:xfrm>
            <a:off x="2926880" y="4886603"/>
            <a:ext cx="5934309" cy="1687481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F1195E-44AF-B946-BA0B-E4FE6260BB28}"/>
              </a:ext>
            </a:extLst>
          </p:cNvPr>
          <p:cNvGrpSpPr/>
          <p:nvPr/>
        </p:nvGrpSpPr>
        <p:grpSpPr>
          <a:xfrm>
            <a:off x="0" y="-18018"/>
            <a:ext cx="12192000" cy="546265"/>
            <a:chOff x="0" y="-18018"/>
            <a:chExt cx="12192000" cy="5462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026BBBE-1709-1704-BE96-031C4F6ED08E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7" name="jwc_logo">
              <a:extLst>
                <a:ext uri="{FF2B5EF4-FFF2-40B4-BE49-F238E27FC236}">
                  <a16:creationId xmlns:a16="http://schemas.microsoft.com/office/drawing/2014/main" id="{88E5F326-938C-4169-8CC3-F81CDDBFA65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2" name="Freeform 34">
                <a:extLst>
                  <a:ext uri="{FF2B5EF4-FFF2-40B4-BE49-F238E27FC236}">
                    <a16:creationId xmlns:a16="http://schemas.microsoft.com/office/drawing/2014/main" id="{25CE0D2F-1D5B-BEBE-1249-FE9FB7F0AB4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2C02F161-DEA7-6A6C-3316-E38725177FE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36">
                <a:extLst>
                  <a:ext uri="{FF2B5EF4-FFF2-40B4-BE49-F238E27FC236}">
                    <a16:creationId xmlns:a16="http://schemas.microsoft.com/office/drawing/2014/main" id="{42CFC277-3C98-C14A-BBA4-E12698E257B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37">
                <a:extLst>
                  <a:ext uri="{FF2B5EF4-FFF2-40B4-BE49-F238E27FC236}">
                    <a16:creationId xmlns:a16="http://schemas.microsoft.com/office/drawing/2014/main" id="{B70E6246-8E29-5D20-8658-FD1EA580648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38">
                <a:extLst>
                  <a:ext uri="{FF2B5EF4-FFF2-40B4-BE49-F238E27FC236}">
                    <a16:creationId xmlns:a16="http://schemas.microsoft.com/office/drawing/2014/main" id="{41C17413-3777-4047-FB8F-C64088F633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9D9058BF-D9C2-A928-69B4-7665A98EFC5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35F66821-B2A2-9EB4-BAAB-A45C36ABBAB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1">
                <a:extLst>
                  <a:ext uri="{FF2B5EF4-FFF2-40B4-BE49-F238E27FC236}">
                    <a16:creationId xmlns:a16="http://schemas.microsoft.com/office/drawing/2014/main" id="{DBB59AEB-328B-1013-846E-21D9F21B5882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2">
                <a:extLst>
                  <a:ext uri="{FF2B5EF4-FFF2-40B4-BE49-F238E27FC236}">
                    <a16:creationId xmlns:a16="http://schemas.microsoft.com/office/drawing/2014/main" id="{F83CBC28-D9CC-D982-D024-59CFAE080DAC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3">
                <a:extLst>
                  <a:ext uri="{FF2B5EF4-FFF2-40B4-BE49-F238E27FC236}">
                    <a16:creationId xmlns:a16="http://schemas.microsoft.com/office/drawing/2014/main" id="{7029B75A-6E59-3E44-9DDD-0FD8F3BE2A2B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4">
                <a:extLst>
                  <a:ext uri="{FF2B5EF4-FFF2-40B4-BE49-F238E27FC236}">
                    <a16:creationId xmlns:a16="http://schemas.microsoft.com/office/drawing/2014/main" id="{8A0BB199-E599-7BDD-86F9-E45F99A6E9E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45">
                <a:extLst>
                  <a:ext uri="{FF2B5EF4-FFF2-40B4-BE49-F238E27FC236}">
                    <a16:creationId xmlns:a16="http://schemas.microsoft.com/office/drawing/2014/main" id="{260B7DAF-F234-375B-9245-436E4205963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46">
                <a:extLst>
                  <a:ext uri="{FF2B5EF4-FFF2-40B4-BE49-F238E27FC236}">
                    <a16:creationId xmlns:a16="http://schemas.microsoft.com/office/drawing/2014/main" id="{62D8B482-DDD2-BF44-B44D-557A816372B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Freeform 47">
                <a:extLst>
                  <a:ext uri="{FF2B5EF4-FFF2-40B4-BE49-F238E27FC236}">
                    <a16:creationId xmlns:a16="http://schemas.microsoft.com/office/drawing/2014/main" id="{32D110B9-1692-EE10-B4CF-79812804550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Freeform 48">
                <a:extLst>
                  <a:ext uri="{FF2B5EF4-FFF2-40B4-BE49-F238E27FC236}">
                    <a16:creationId xmlns:a16="http://schemas.microsoft.com/office/drawing/2014/main" id="{EE2A1B2E-A366-396C-21D5-8F72DBD0791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49">
                <a:extLst>
                  <a:ext uri="{FF2B5EF4-FFF2-40B4-BE49-F238E27FC236}">
                    <a16:creationId xmlns:a16="http://schemas.microsoft.com/office/drawing/2014/main" id="{C5429B06-4036-3806-B974-4112C9BB95D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Freeform 50">
                <a:extLst>
                  <a:ext uri="{FF2B5EF4-FFF2-40B4-BE49-F238E27FC236}">
                    <a16:creationId xmlns:a16="http://schemas.microsoft.com/office/drawing/2014/main" id="{D9045D9C-C430-170C-7761-8867F3B9E50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Freeform 51">
                <a:extLst>
                  <a:ext uri="{FF2B5EF4-FFF2-40B4-BE49-F238E27FC236}">
                    <a16:creationId xmlns:a16="http://schemas.microsoft.com/office/drawing/2014/main" id="{A5A92A46-14D9-A763-6082-492EB355D21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0" name="Freeform 52">
                <a:extLst>
                  <a:ext uri="{FF2B5EF4-FFF2-40B4-BE49-F238E27FC236}">
                    <a16:creationId xmlns:a16="http://schemas.microsoft.com/office/drawing/2014/main" id="{AF744AE6-FBD5-A7E7-1551-E74D0B7FB96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AEC8A5-30A4-D5A8-6BE6-E71F93FB5ACE}"/>
                </a:ext>
              </a:extLst>
            </p:cNvPr>
            <p:cNvSpPr txBox="1"/>
            <p:nvPr/>
          </p:nvSpPr>
          <p:spPr>
            <a:xfrm>
              <a:off x="31866" y="16985"/>
              <a:ext cx="5782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GAN</a:t>
              </a:r>
              <a:endParaRPr lang="zh-CN" altLang="en-US" sz="24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18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DBB01-0575-C458-6D53-05114AE8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57EC787-5691-A313-F7AA-F297D4B0CD32}"/>
              </a:ext>
            </a:extLst>
          </p:cNvPr>
          <p:cNvGrpSpPr/>
          <p:nvPr/>
        </p:nvGrpSpPr>
        <p:grpSpPr>
          <a:xfrm>
            <a:off x="1477478" y="1422369"/>
            <a:ext cx="9604041" cy="3042784"/>
            <a:chOff x="423273" y="2390576"/>
            <a:chExt cx="11401816" cy="361236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E72C20F-D7AC-81EC-A847-ACB3DFB5E458}"/>
                </a:ext>
              </a:extLst>
            </p:cNvPr>
            <p:cNvGrpSpPr/>
            <p:nvPr/>
          </p:nvGrpSpPr>
          <p:grpSpPr>
            <a:xfrm>
              <a:off x="423273" y="2390576"/>
              <a:ext cx="11401816" cy="3612362"/>
              <a:chOff x="1808685" y="3454525"/>
              <a:chExt cx="11401816" cy="3612362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D942114F-AD21-BBC1-7C04-3B0278E19761}"/>
                  </a:ext>
                </a:extLst>
              </p:cNvPr>
              <p:cNvGrpSpPr/>
              <p:nvPr/>
            </p:nvGrpSpPr>
            <p:grpSpPr>
              <a:xfrm>
                <a:off x="1808685" y="4589118"/>
                <a:ext cx="6376326" cy="2477769"/>
                <a:chOff x="2373653" y="2571291"/>
                <a:chExt cx="6376326" cy="2477769"/>
              </a:xfrm>
            </p:grpSpPr>
            <p:pic>
              <p:nvPicPr>
                <p:cNvPr id="33" name="图片 32">
                  <a:extLst>
                    <a:ext uri="{FF2B5EF4-FFF2-40B4-BE49-F238E27FC236}">
                      <a16:creationId xmlns:a16="http://schemas.microsoft.com/office/drawing/2014/main" id="{C9933F93-A33A-DC7B-E0EE-5FE27FCB93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9880" t="61090" r="63532" b="12729"/>
                <a:stretch>
                  <a:fillRect/>
                </a:stretch>
              </p:blipFill>
              <p:spPr>
                <a:xfrm>
                  <a:off x="6793988" y="3581892"/>
                  <a:ext cx="1126066" cy="1028700"/>
                </a:xfrm>
                <a:prstGeom prst="rect">
                  <a:avLst/>
                </a:prstGeom>
              </p:spPr>
            </p:pic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C2D5DCC-7DD6-148C-2703-2244EACC73C1}"/>
                    </a:ext>
                  </a:extLst>
                </p:cNvPr>
                <p:cNvSpPr txBox="1"/>
                <p:nvPr/>
              </p:nvSpPr>
              <p:spPr>
                <a:xfrm>
                  <a:off x="6499369" y="4610593"/>
                  <a:ext cx="2250610" cy="4384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Real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106C1C9-FE0D-A3DC-67B0-61BBEF44C9FF}"/>
                    </a:ext>
                  </a:extLst>
                </p:cNvPr>
                <p:cNvSpPr txBox="1"/>
                <p:nvPr/>
              </p:nvSpPr>
              <p:spPr>
                <a:xfrm>
                  <a:off x="2373653" y="2571291"/>
                  <a:ext cx="2345244" cy="4384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Noise vector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A6BF675-19D1-A5C5-299D-34217BDE1989}"/>
                    </a:ext>
                  </a:extLst>
                </p:cNvPr>
                <p:cNvSpPr txBox="1"/>
                <p:nvPr/>
              </p:nvSpPr>
              <p:spPr>
                <a:xfrm>
                  <a:off x="2660385" y="3810756"/>
                  <a:ext cx="1414735" cy="4384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Label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907B789F-5394-21D4-C2DC-84BF5A80157B}"/>
                  </a:ext>
                </a:extLst>
              </p:cNvPr>
              <p:cNvSpPr/>
              <p:nvPr/>
            </p:nvSpPr>
            <p:spPr>
              <a:xfrm>
                <a:off x="2117410" y="3761409"/>
                <a:ext cx="806450" cy="6921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Z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53CF66D2-20C3-BF4F-7079-44CD133BC346}"/>
                  </a:ext>
                </a:extLst>
              </p:cNvPr>
              <p:cNvGrpSpPr/>
              <p:nvPr/>
            </p:nvGrpSpPr>
            <p:grpSpPr>
              <a:xfrm>
                <a:off x="5934401" y="3454525"/>
                <a:ext cx="3524113" cy="1559788"/>
                <a:chOff x="4975553" y="1391105"/>
                <a:chExt cx="3524113" cy="1559788"/>
              </a:xfrm>
            </p:grpSpPr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537C029E-B8D0-C2C9-3A59-176B1BDE73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1145" t="30973" r="42704" b="43127"/>
                <a:stretch>
                  <a:fillRect/>
                </a:stretch>
              </p:blipFill>
              <p:spPr>
                <a:xfrm>
                  <a:off x="5270172" y="1391105"/>
                  <a:ext cx="1096433" cy="1017613"/>
                </a:xfrm>
                <a:prstGeom prst="rect">
                  <a:avLst/>
                </a:prstGeom>
              </p:spPr>
            </p:pic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FC3A42D-BF14-8EB5-130C-DB5BCF81E14F}"/>
                    </a:ext>
                  </a:extLst>
                </p:cNvPr>
                <p:cNvSpPr txBox="1"/>
                <p:nvPr/>
              </p:nvSpPr>
              <p:spPr>
                <a:xfrm>
                  <a:off x="4975553" y="2512426"/>
                  <a:ext cx="3524113" cy="4384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Generated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5FCF5F02-932B-7DD5-FC5B-28F936ED6A4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264153" y="3914815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566478DB-24A6-8F82-615A-96AD891C6C9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823974" y="3914814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64DC67B0-9D31-82C1-2CBD-B85A08FE08B5}"/>
                  </a:ext>
                </a:extLst>
              </p:cNvPr>
              <p:cNvGrpSpPr/>
              <p:nvPr/>
            </p:nvGrpSpPr>
            <p:grpSpPr>
              <a:xfrm>
                <a:off x="10952509" y="4453559"/>
                <a:ext cx="773804" cy="941790"/>
                <a:chOff x="11035059" y="4342434"/>
                <a:chExt cx="773804" cy="941790"/>
              </a:xfrm>
            </p:grpSpPr>
            <p:cxnSp>
              <p:nvCxnSpPr>
                <p:cNvPr id="29" name="连接符: 肘形 28">
                  <a:extLst>
                    <a:ext uri="{FF2B5EF4-FFF2-40B4-BE49-F238E27FC236}">
                      <a16:creationId xmlns:a16="http://schemas.microsoft.com/office/drawing/2014/main" id="{D356C1C9-4B31-28D5-0AA2-D4C37A824BCF}"/>
                    </a:ext>
                  </a:extLst>
                </p:cNvPr>
                <p:cNvCxnSpPr/>
                <p:nvPr/>
              </p:nvCxnSpPr>
              <p:spPr>
                <a:xfrm flipV="1">
                  <a:off x="11038842" y="4342434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连接符: 肘形 29">
                  <a:extLst>
                    <a:ext uri="{FF2B5EF4-FFF2-40B4-BE49-F238E27FC236}">
                      <a16:creationId xmlns:a16="http://schemas.microsoft.com/office/drawing/2014/main" id="{A9677144-93C8-7EF7-E9A9-33BFF3B497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35059" y="4813329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D4D13C0-D9BC-7B11-CDF2-1C3162511788}"/>
                  </a:ext>
                </a:extLst>
              </p:cNvPr>
              <p:cNvSpPr txBox="1"/>
              <p:nvPr/>
            </p:nvSpPr>
            <p:spPr>
              <a:xfrm>
                <a:off x="11722530" y="4069326"/>
                <a:ext cx="1351141" cy="548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B050"/>
                    </a:solidFill>
                    <a:latin typeface="+mj-lt"/>
                    <a:ea typeface="黑体" panose="02010609060101010101" pitchFamily="49" charset="-122"/>
                  </a:rPr>
                  <a:t>Real</a:t>
                </a:r>
                <a:endParaRPr lang="zh-CN" altLang="en-US" sz="2400" b="1" dirty="0">
                  <a:solidFill>
                    <a:srgbClr val="00B050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94A16A2-9BA5-73DF-2C9E-9BCB5180DF73}"/>
                  </a:ext>
                </a:extLst>
              </p:cNvPr>
              <p:cNvSpPr txBox="1"/>
              <p:nvPr/>
            </p:nvSpPr>
            <p:spPr>
              <a:xfrm>
                <a:off x="11722530" y="5074895"/>
                <a:ext cx="1487971" cy="548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+mj-lt"/>
                    <a:ea typeface="黑体" panose="02010609060101010101" pitchFamily="49" charset="-122"/>
                  </a:rPr>
                  <a:t>Fake</a:t>
                </a:r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B17DEF73-5587-FC45-D2EC-5EB9EDDF2C6A}"/>
                  </a:ext>
                </a:extLst>
              </p:cNvPr>
              <p:cNvGrpSpPr/>
              <p:nvPr/>
            </p:nvGrpSpPr>
            <p:grpSpPr>
              <a:xfrm>
                <a:off x="9132020" y="4361646"/>
                <a:ext cx="1674839" cy="1196288"/>
                <a:chOff x="9169603" y="4129642"/>
                <a:chExt cx="1674839" cy="1196288"/>
              </a:xfrm>
            </p:grpSpPr>
            <p:sp>
              <p:nvSpPr>
                <p:cNvPr id="27" name="流程图: 离页连接符 26">
                  <a:extLst>
                    <a:ext uri="{FF2B5EF4-FFF2-40B4-BE49-F238E27FC236}">
                      <a16:creationId xmlns:a16="http://schemas.microsoft.com/office/drawing/2014/main" id="{54442E6C-3930-D2A6-B413-698633961C0C}"/>
                    </a:ext>
                  </a:extLst>
                </p:cNvPr>
                <p:cNvSpPr/>
                <p:nvPr/>
              </p:nvSpPr>
              <p:spPr>
                <a:xfrm rot="16200000">
                  <a:off x="9447003" y="3928490"/>
                  <a:ext cx="1196288" cy="1598591"/>
                </a:xfrm>
                <a:prstGeom prst="flowChartOffpageConnector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A3F472DD-9BD2-8FA3-DD9E-D7FC47D81BD3}"/>
                    </a:ext>
                  </a:extLst>
                </p:cNvPr>
                <p:cNvSpPr txBox="1"/>
                <p:nvPr/>
              </p:nvSpPr>
              <p:spPr>
                <a:xfrm>
                  <a:off x="9169603" y="4309348"/>
                  <a:ext cx="1657349" cy="986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D</a:t>
                  </a:r>
                </a:p>
                <a:p>
                  <a:pPr algn="ctr"/>
                  <a:endParaRPr lang="zh-CN" altLang="en-US" sz="24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88384E41-C9BB-50BC-B865-C4A7D7BFA1F6}"/>
                  </a:ext>
                </a:extLst>
              </p:cNvPr>
              <p:cNvGrpSpPr/>
              <p:nvPr/>
            </p:nvGrpSpPr>
            <p:grpSpPr>
              <a:xfrm>
                <a:off x="3512871" y="3565385"/>
                <a:ext cx="1987448" cy="1196288"/>
                <a:chOff x="1973710" y="5160425"/>
                <a:chExt cx="1987448" cy="1196288"/>
              </a:xfrm>
            </p:grpSpPr>
            <p:sp>
              <p:nvSpPr>
                <p:cNvPr id="25" name="流程图: 离页连接符 24">
                  <a:extLst>
                    <a:ext uri="{FF2B5EF4-FFF2-40B4-BE49-F238E27FC236}">
                      <a16:creationId xmlns:a16="http://schemas.microsoft.com/office/drawing/2014/main" id="{689F21ED-91B2-8D75-C5AF-0F89FEC42568}"/>
                    </a:ext>
                  </a:extLst>
                </p:cNvPr>
                <p:cNvSpPr/>
                <p:nvPr/>
              </p:nvSpPr>
              <p:spPr>
                <a:xfrm rot="16200000">
                  <a:off x="2369290" y="4764845"/>
                  <a:ext cx="1196288" cy="1987448"/>
                </a:xfrm>
                <a:prstGeom prst="flowChartOffpageConnector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23BA867-077B-19E2-697C-1166EFB8B8B9}"/>
                    </a:ext>
                  </a:extLst>
                </p:cNvPr>
                <p:cNvSpPr txBox="1"/>
                <p:nvPr/>
              </p:nvSpPr>
              <p:spPr>
                <a:xfrm>
                  <a:off x="2112298" y="5388260"/>
                  <a:ext cx="1845633" cy="5480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G</a:t>
                  </a:r>
                  <a:r>
                    <a:rPr lang="zh-CN" altLang="en-US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（</a:t>
                  </a:r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z</a:t>
                  </a:r>
                  <a:r>
                    <a:rPr lang="zh-CN" altLang="en-US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，</a:t>
                  </a:r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c</a:t>
                  </a:r>
                  <a:r>
                    <a:rPr lang="zh-CN" altLang="en-US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）</a:t>
                  </a:r>
                  <a:endParaRPr lang="en-US" altLang="zh-CN" sz="24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22C9203-B9AB-29E8-A0CE-E01B71E068D5}"/>
                  </a:ext>
                </a:extLst>
              </p:cNvPr>
              <p:cNvSpPr/>
              <p:nvPr/>
            </p:nvSpPr>
            <p:spPr>
              <a:xfrm>
                <a:off x="2117410" y="5074895"/>
                <a:ext cx="806450" cy="692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C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cxnSp>
          <p:nvCxnSpPr>
            <p:cNvPr id="10" name="连接符: 肘形 9">
              <a:extLst>
                <a:ext uri="{FF2B5EF4-FFF2-40B4-BE49-F238E27FC236}">
                  <a16:creationId xmlns:a16="http://schemas.microsoft.com/office/drawing/2014/main" id="{5747EF11-0732-F7B1-0F1D-45EDBF698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68399" y="2966740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11A1C7CA-6773-8A35-98CF-8B661266F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8399" y="4326784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01D8B3B7-49DC-9D3A-169A-3EAB3A31F871}"/>
                </a:ext>
              </a:extLst>
            </p:cNvPr>
            <p:cNvCxnSpPr>
              <a:cxnSpLocks/>
              <a:stCxn id="24" idx="6"/>
              <a:endCxn id="25" idx="1"/>
            </p:cNvCxnSpPr>
            <p:nvPr/>
          </p:nvCxnSpPr>
          <p:spPr>
            <a:xfrm flipV="1">
              <a:off x="1538448" y="3697725"/>
              <a:ext cx="1582736" cy="659296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CF4159C-4178-88F1-062F-E0E034F446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82" y="4095149"/>
              <a:ext cx="4497068" cy="804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56FC884-56E8-5B5B-CE36-72DA4C9824E2}"/>
              </a:ext>
            </a:extLst>
          </p:cNvPr>
          <p:cNvGrpSpPr/>
          <p:nvPr/>
        </p:nvGrpSpPr>
        <p:grpSpPr>
          <a:xfrm>
            <a:off x="2166468" y="5185806"/>
            <a:ext cx="7859063" cy="1180710"/>
            <a:chOff x="2324028" y="5336466"/>
            <a:chExt cx="7859063" cy="1180710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15A2BD6-C0ED-C426-D56C-8A4A1F489FE3}"/>
                </a:ext>
              </a:extLst>
            </p:cNvPr>
            <p:cNvSpPr txBox="1"/>
            <p:nvPr/>
          </p:nvSpPr>
          <p:spPr>
            <a:xfrm>
              <a:off x="2324028" y="5452204"/>
              <a:ext cx="7774046" cy="870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>
                <a:lnSpc>
                  <a:spcPct val="150000"/>
                </a:lnSpc>
                <a:spcAft>
                  <a:spcPts val="900"/>
                </a:spcAft>
              </a:pP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在</a:t>
              </a:r>
              <a:r>
                <a:rPr lang="zh-CN" altLang="en-US" b="1" i="0" dirty="0">
                  <a:effectLst/>
                  <a:latin typeface="+mj-lt"/>
                  <a:ea typeface="黑体" panose="02010609060101010101" pitchFamily="49" charset="-122"/>
                </a:rPr>
                <a:t>生成器和判别器二者相互对抗训练的基础上引入了条件信息 </a:t>
              </a:r>
              <a:r>
                <a:rPr lang="en-US" altLang="zh-CN" b="1" i="1" dirty="0">
                  <a:effectLst/>
                  <a:latin typeface="+mj-lt"/>
                  <a:ea typeface="黑体" panose="02010609060101010101" pitchFamily="49" charset="-122"/>
                </a:rPr>
                <a:t>c</a:t>
              </a:r>
              <a:r>
                <a:rPr lang="zh-CN" altLang="en-US" b="1" i="0" dirty="0">
                  <a:effectLst/>
                  <a:latin typeface="+mj-lt"/>
                  <a:ea typeface="黑体" panose="02010609060101010101" pitchFamily="49" charset="-122"/>
                </a:rPr>
                <a:t>，使生成器和判别器都能接收条件信息作为输入，从而生成满足特定条件的数据样本。</a:t>
              </a: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BEA6761-0C5E-078D-561F-A46005596B97}"/>
                </a:ext>
              </a:extLst>
            </p:cNvPr>
            <p:cNvSpPr/>
            <p:nvPr/>
          </p:nvSpPr>
          <p:spPr>
            <a:xfrm>
              <a:off x="2324028" y="5336466"/>
              <a:ext cx="7859063" cy="1180710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B607B5A-7835-B31B-A925-1AC84CABF598}"/>
              </a:ext>
            </a:extLst>
          </p:cNvPr>
          <p:cNvGrpSpPr/>
          <p:nvPr/>
        </p:nvGrpSpPr>
        <p:grpSpPr>
          <a:xfrm>
            <a:off x="0" y="-69459"/>
            <a:ext cx="12192000" cy="597706"/>
            <a:chOff x="0" y="-69459"/>
            <a:chExt cx="12192000" cy="597706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9B01F9B-BA90-6E31-FDD2-C8C9311C7832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9" name="jwc_logo">
              <a:extLst>
                <a:ext uri="{FF2B5EF4-FFF2-40B4-BE49-F238E27FC236}">
                  <a16:creationId xmlns:a16="http://schemas.microsoft.com/office/drawing/2014/main" id="{30B94356-B72B-306F-EC87-FF9AE730C9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41" name="Freeform 34">
                <a:extLst>
                  <a:ext uri="{FF2B5EF4-FFF2-40B4-BE49-F238E27FC236}">
                    <a16:creationId xmlns:a16="http://schemas.microsoft.com/office/drawing/2014/main" id="{AF2541CD-ECF7-F636-F388-47F47216E14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Freeform 35">
                <a:extLst>
                  <a:ext uri="{FF2B5EF4-FFF2-40B4-BE49-F238E27FC236}">
                    <a16:creationId xmlns:a16="http://schemas.microsoft.com/office/drawing/2014/main" id="{404289E8-A846-DE5B-2160-45FC78FA4FB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Freeform 36">
                <a:extLst>
                  <a:ext uri="{FF2B5EF4-FFF2-40B4-BE49-F238E27FC236}">
                    <a16:creationId xmlns:a16="http://schemas.microsoft.com/office/drawing/2014/main" id="{49C9E7CD-7015-52CC-5F64-3D906D36AD0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37">
                <a:extLst>
                  <a:ext uri="{FF2B5EF4-FFF2-40B4-BE49-F238E27FC236}">
                    <a16:creationId xmlns:a16="http://schemas.microsoft.com/office/drawing/2014/main" id="{228C2AD2-D061-23C4-48A0-9614257E3F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38">
                <a:extLst>
                  <a:ext uri="{FF2B5EF4-FFF2-40B4-BE49-F238E27FC236}">
                    <a16:creationId xmlns:a16="http://schemas.microsoft.com/office/drawing/2014/main" id="{DF808D11-5F05-A9FC-D87A-741F4D3551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87C054FE-81F2-66E2-063C-0C06C76CAA2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0">
                <a:extLst>
                  <a:ext uri="{FF2B5EF4-FFF2-40B4-BE49-F238E27FC236}">
                    <a16:creationId xmlns:a16="http://schemas.microsoft.com/office/drawing/2014/main" id="{A42E4EDC-3109-68F4-3D03-A4132984DFD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1">
                <a:extLst>
                  <a:ext uri="{FF2B5EF4-FFF2-40B4-BE49-F238E27FC236}">
                    <a16:creationId xmlns:a16="http://schemas.microsoft.com/office/drawing/2014/main" id="{CC811462-763A-36DA-C2E0-D79DD32BD9D8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2">
                <a:extLst>
                  <a:ext uri="{FF2B5EF4-FFF2-40B4-BE49-F238E27FC236}">
                    <a16:creationId xmlns:a16="http://schemas.microsoft.com/office/drawing/2014/main" id="{0EFB3ADC-7761-AC67-FC8C-B59588E35226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3">
                <a:extLst>
                  <a:ext uri="{FF2B5EF4-FFF2-40B4-BE49-F238E27FC236}">
                    <a16:creationId xmlns:a16="http://schemas.microsoft.com/office/drawing/2014/main" id="{E22708F8-830A-154D-5073-D95A9FA1D848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44">
                <a:extLst>
                  <a:ext uri="{FF2B5EF4-FFF2-40B4-BE49-F238E27FC236}">
                    <a16:creationId xmlns:a16="http://schemas.microsoft.com/office/drawing/2014/main" id="{E325EC69-812A-C313-6131-B0ED78BA414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45">
                <a:extLst>
                  <a:ext uri="{FF2B5EF4-FFF2-40B4-BE49-F238E27FC236}">
                    <a16:creationId xmlns:a16="http://schemas.microsoft.com/office/drawing/2014/main" id="{D483ED6A-2B3A-D2AD-AEFF-8D684D8C703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6">
                <a:extLst>
                  <a:ext uri="{FF2B5EF4-FFF2-40B4-BE49-F238E27FC236}">
                    <a16:creationId xmlns:a16="http://schemas.microsoft.com/office/drawing/2014/main" id="{D863D39B-1935-8792-FB91-A2137A68F8E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7">
                <a:extLst>
                  <a:ext uri="{FF2B5EF4-FFF2-40B4-BE49-F238E27FC236}">
                    <a16:creationId xmlns:a16="http://schemas.microsoft.com/office/drawing/2014/main" id="{D9D03706-B60A-CA28-469C-E3ED7D23037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48">
                <a:extLst>
                  <a:ext uri="{FF2B5EF4-FFF2-40B4-BE49-F238E27FC236}">
                    <a16:creationId xmlns:a16="http://schemas.microsoft.com/office/drawing/2014/main" id="{F263B0F7-D63B-3245-7216-FF348AF38F7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49">
                <a:extLst>
                  <a:ext uri="{FF2B5EF4-FFF2-40B4-BE49-F238E27FC236}">
                    <a16:creationId xmlns:a16="http://schemas.microsoft.com/office/drawing/2014/main" id="{596B3983-E93C-BB43-E541-D74F43FD174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Freeform 50">
                <a:extLst>
                  <a:ext uri="{FF2B5EF4-FFF2-40B4-BE49-F238E27FC236}">
                    <a16:creationId xmlns:a16="http://schemas.microsoft.com/office/drawing/2014/main" id="{2706ADFC-81D2-CA46-75B6-F9F7111A509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0" name="Freeform 51">
                <a:extLst>
                  <a:ext uri="{FF2B5EF4-FFF2-40B4-BE49-F238E27FC236}">
                    <a16:creationId xmlns:a16="http://schemas.microsoft.com/office/drawing/2014/main" id="{E3DAB0AC-98F3-864E-D1D1-6CA847C4585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1" name="Freeform 52">
                <a:extLst>
                  <a:ext uri="{FF2B5EF4-FFF2-40B4-BE49-F238E27FC236}">
                    <a16:creationId xmlns:a16="http://schemas.microsoft.com/office/drawing/2014/main" id="{4AF8E763-91E4-D204-86A9-EA5CB0F325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569F31F-12E0-B7DE-5D6D-2BEC8BA65071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CGAN-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条件生成网络</a:t>
              </a:r>
              <a:endParaRPr lang="en-US" altLang="zh-CN" sz="24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90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C3B2E-AD09-FCAF-07F9-71F157CF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7DFB8C0-7056-5B70-D01E-00808AC19E22}"/>
              </a:ext>
            </a:extLst>
          </p:cNvPr>
          <p:cNvGrpSpPr/>
          <p:nvPr/>
        </p:nvGrpSpPr>
        <p:grpSpPr>
          <a:xfrm>
            <a:off x="1649915" y="904811"/>
            <a:ext cx="9098571" cy="3592281"/>
            <a:chOff x="232459" y="1701473"/>
            <a:chExt cx="11592630" cy="430567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1589EE7-A75C-56C9-904C-A4C03388E237}"/>
                </a:ext>
              </a:extLst>
            </p:cNvPr>
            <p:cNvGrpSpPr/>
            <p:nvPr/>
          </p:nvGrpSpPr>
          <p:grpSpPr>
            <a:xfrm>
              <a:off x="232459" y="1701473"/>
              <a:ext cx="11592630" cy="4305677"/>
              <a:chOff x="1617871" y="2765422"/>
              <a:chExt cx="11592630" cy="4305677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5E7B1720-AE82-B2A8-A3F6-56CE6084DC28}"/>
                  </a:ext>
                </a:extLst>
              </p:cNvPr>
              <p:cNvGrpSpPr/>
              <p:nvPr/>
            </p:nvGrpSpPr>
            <p:grpSpPr>
              <a:xfrm>
                <a:off x="1617871" y="4553052"/>
                <a:ext cx="6770252" cy="2518047"/>
                <a:chOff x="2182839" y="2535225"/>
                <a:chExt cx="6770252" cy="2518047"/>
              </a:xfrm>
            </p:grpSpPr>
            <p:pic>
              <p:nvPicPr>
                <p:cNvPr id="30" name="图片 29">
                  <a:extLst>
                    <a:ext uri="{FF2B5EF4-FFF2-40B4-BE49-F238E27FC236}">
                      <a16:creationId xmlns:a16="http://schemas.microsoft.com/office/drawing/2014/main" id="{599AF8B6-6460-1A38-1557-365AC1D41A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9880" t="61090" r="63532" b="12729"/>
                <a:stretch>
                  <a:fillRect/>
                </a:stretch>
              </p:blipFill>
              <p:spPr>
                <a:xfrm>
                  <a:off x="6793988" y="3581892"/>
                  <a:ext cx="1126066" cy="1028700"/>
                </a:xfrm>
                <a:prstGeom prst="rect">
                  <a:avLst/>
                </a:prstGeom>
              </p:spPr>
            </p:pic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B51DF28-94A8-A258-2B2E-ACFEF33090D7}"/>
                    </a:ext>
                  </a:extLst>
                </p:cNvPr>
                <p:cNvSpPr txBox="1"/>
                <p:nvPr/>
              </p:nvSpPr>
              <p:spPr>
                <a:xfrm>
                  <a:off x="6702481" y="4610594"/>
                  <a:ext cx="2250610" cy="442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Real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78C98F5-87E3-FE0C-D39D-F450EB8BB71C}"/>
                    </a:ext>
                  </a:extLst>
                </p:cNvPr>
                <p:cNvSpPr txBox="1"/>
                <p:nvPr/>
              </p:nvSpPr>
              <p:spPr>
                <a:xfrm>
                  <a:off x="2182839" y="2535225"/>
                  <a:ext cx="2345245" cy="442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Noise vector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368A87A-C3D6-12A9-4E48-A9E5FAAF4102}"/>
                  </a:ext>
                </a:extLst>
              </p:cNvPr>
              <p:cNvSpPr/>
              <p:nvPr/>
            </p:nvSpPr>
            <p:spPr>
              <a:xfrm>
                <a:off x="2492890" y="3761409"/>
                <a:ext cx="806450" cy="6921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Z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95C51BBF-71B4-973F-5B45-0E5D94B36C7F}"/>
                  </a:ext>
                </a:extLst>
              </p:cNvPr>
              <p:cNvGrpSpPr/>
              <p:nvPr/>
            </p:nvGrpSpPr>
            <p:grpSpPr>
              <a:xfrm>
                <a:off x="5519832" y="2765422"/>
                <a:ext cx="3524113" cy="1706716"/>
                <a:chOff x="4560984" y="702002"/>
                <a:chExt cx="3524113" cy="1706716"/>
              </a:xfrm>
            </p:grpSpPr>
            <p:pic>
              <p:nvPicPr>
                <p:cNvPr id="28" name="图片 27">
                  <a:extLst>
                    <a:ext uri="{FF2B5EF4-FFF2-40B4-BE49-F238E27FC236}">
                      <a16:creationId xmlns:a16="http://schemas.microsoft.com/office/drawing/2014/main" id="{0E36FB62-8F3D-55BE-0BA1-53CEE731BA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1145" t="30973" r="42704" b="43127"/>
                <a:stretch>
                  <a:fillRect/>
                </a:stretch>
              </p:blipFill>
              <p:spPr>
                <a:xfrm>
                  <a:off x="5270172" y="1391105"/>
                  <a:ext cx="1096433" cy="1017613"/>
                </a:xfrm>
                <a:prstGeom prst="rect">
                  <a:avLst/>
                </a:prstGeom>
              </p:spPr>
            </p:pic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0A8C0E1-0E87-8EA8-11C2-442144734723}"/>
                    </a:ext>
                  </a:extLst>
                </p:cNvPr>
                <p:cNvSpPr txBox="1"/>
                <p:nvPr/>
              </p:nvSpPr>
              <p:spPr>
                <a:xfrm>
                  <a:off x="4560984" y="702002"/>
                  <a:ext cx="3524113" cy="442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Generated sample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AE04D6B9-D4EA-74AA-2CBE-01642BB334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606538" y="3914814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8FA8F756-40FC-4359-1A19-102713BA8A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823974" y="3914814"/>
                <a:ext cx="0" cy="497434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5E17D673-78F4-3AD9-B1BF-4D867EA180F6}"/>
                  </a:ext>
                </a:extLst>
              </p:cNvPr>
              <p:cNvGrpSpPr/>
              <p:nvPr/>
            </p:nvGrpSpPr>
            <p:grpSpPr>
              <a:xfrm>
                <a:off x="10952509" y="4453559"/>
                <a:ext cx="773804" cy="941790"/>
                <a:chOff x="11035059" y="4342434"/>
                <a:chExt cx="773804" cy="941790"/>
              </a:xfrm>
            </p:grpSpPr>
            <p:cxnSp>
              <p:nvCxnSpPr>
                <p:cNvPr id="26" name="连接符: 肘形 25">
                  <a:extLst>
                    <a:ext uri="{FF2B5EF4-FFF2-40B4-BE49-F238E27FC236}">
                      <a16:creationId xmlns:a16="http://schemas.microsoft.com/office/drawing/2014/main" id="{87EB7FAA-A2B0-4E98-5B32-82AA34405ABB}"/>
                    </a:ext>
                  </a:extLst>
                </p:cNvPr>
                <p:cNvCxnSpPr/>
                <p:nvPr/>
              </p:nvCxnSpPr>
              <p:spPr>
                <a:xfrm flipV="1">
                  <a:off x="11038842" y="4342434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连接符: 肘形 26">
                  <a:extLst>
                    <a:ext uri="{FF2B5EF4-FFF2-40B4-BE49-F238E27FC236}">
                      <a16:creationId xmlns:a16="http://schemas.microsoft.com/office/drawing/2014/main" id="{BA78E05B-F099-746D-03F1-1004B4124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35059" y="4813329"/>
                  <a:ext cx="770021" cy="470895"/>
                </a:xfrm>
                <a:prstGeom prst="bentConnector3">
                  <a:avLst>
                    <a:gd name="adj1" fmla="val 48750"/>
                  </a:avLst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2266B4D-C02D-E400-3A00-A21E061FC112}"/>
                  </a:ext>
                </a:extLst>
              </p:cNvPr>
              <p:cNvSpPr txBox="1"/>
              <p:nvPr/>
            </p:nvSpPr>
            <p:spPr>
              <a:xfrm>
                <a:off x="11722530" y="4069325"/>
                <a:ext cx="1351142" cy="553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B050"/>
                    </a:solidFill>
                    <a:latin typeface="+mj-lt"/>
                    <a:ea typeface="黑体" panose="02010609060101010101" pitchFamily="49" charset="-122"/>
                  </a:rPr>
                  <a:t>Real</a:t>
                </a:r>
                <a:endParaRPr lang="zh-CN" altLang="en-US" sz="2400" b="1" dirty="0">
                  <a:solidFill>
                    <a:srgbClr val="00B050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5DB8CE6-8D8A-741B-54FA-0C3BD1234BCF}"/>
                  </a:ext>
                </a:extLst>
              </p:cNvPr>
              <p:cNvSpPr txBox="1"/>
              <p:nvPr/>
            </p:nvSpPr>
            <p:spPr>
              <a:xfrm>
                <a:off x="11722530" y="5074894"/>
                <a:ext cx="1487971" cy="553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+mj-lt"/>
                    <a:ea typeface="黑体" panose="02010609060101010101" pitchFamily="49" charset="-122"/>
                  </a:rPr>
                  <a:t>Fake</a:t>
                </a:r>
              </a:p>
            </p:txBody>
          </p: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C9001DA5-54F1-FA9C-74F7-76491FE073F4}"/>
                  </a:ext>
                </a:extLst>
              </p:cNvPr>
              <p:cNvGrpSpPr/>
              <p:nvPr/>
            </p:nvGrpSpPr>
            <p:grpSpPr>
              <a:xfrm>
                <a:off x="9132020" y="4361646"/>
                <a:ext cx="1674839" cy="1196288"/>
                <a:chOff x="9169603" y="4129642"/>
                <a:chExt cx="1674839" cy="1196288"/>
              </a:xfrm>
            </p:grpSpPr>
            <p:sp>
              <p:nvSpPr>
                <p:cNvPr id="24" name="流程图: 离页连接符 23">
                  <a:extLst>
                    <a:ext uri="{FF2B5EF4-FFF2-40B4-BE49-F238E27FC236}">
                      <a16:creationId xmlns:a16="http://schemas.microsoft.com/office/drawing/2014/main" id="{D05D6D02-0238-773C-4A46-C30ABD41264C}"/>
                    </a:ext>
                  </a:extLst>
                </p:cNvPr>
                <p:cNvSpPr/>
                <p:nvPr/>
              </p:nvSpPr>
              <p:spPr>
                <a:xfrm rot="16200000">
                  <a:off x="9447003" y="3928490"/>
                  <a:ext cx="1196288" cy="1598591"/>
                </a:xfrm>
                <a:prstGeom prst="flowChartOffpageConnector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E0183B1-2FBF-2DE5-2E23-8E358C18E238}"/>
                    </a:ext>
                  </a:extLst>
                </p:cNvPr>
                <p:cNvSpPr txBox="1"/>
                <p:nvPr/>
              </p:nvSpPr>
              <p:spPr>
                <a:xfrm>
                  <a:off x="9169603" y="4309348"/>
                  <a:ext cx="1657349" cy="9960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D</a:t>
                  </a:r>
                </a:p>
                <a:p>
                  <a:pPr algn="ctr"/>
                  <a:endParaRPr lang="zh-CN" altLang="en-US" sz="2400" b="1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17BE7CF9-D4BE-FD85-2B1F-C6DE50CC399A}"/>
                  </a:ext>
                </a:extLst>
              </p:cNvPr>
              <p:cNvGrpSpPr/>
              <p:nvPr/>
            </p:nvGrpSpPr>
            <p:grpSpPr>
              <a:xfrm>
                <a:off x="3901729" y="3565388"/>
                <a:ext cx="1598590" cy="1196288"/>
                <a:chOff x="2362568" y="5160428"/>
                <a:chExt cx="1598590" cy="1196288"/>
              </a:xfrm>
            </p:grpSpPr>
            <p:sp>
              <p:nvSpPr>
                <p:cNvPr id="22" name="流程图: 离页连接符 21">
                  <a:extLst>
                    <a:ext uri="{FF2B5EF4-FFF2-40B4-BE49-F238E27FC236}">
                      <a16:creationId xmlns:a16="http://schemas.microsoft.com/office/drawing/2014/main" id="{3A2EFBB7-D121-3BDA-554B-4FD31B09FD42}"/>
                    </a:ext>
                  </a:extLst>
                </p:cNvPr>
                <p:cNvSpPr/>
                <p:nvPr/>
              </p:nvSpPr>
              <p:spPr>
                <a:xfrm rot="16200000">
                  <a:off x="2563719" y="4959277"/>
                  <a:ext cx="1196288" cy="1598590"/>
                </a:xfrm>
                <a:prstGeom prst="flowChartOffpageConnector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2A0DC50-5CD9-E1B7-C6A1-18FB6B654A70}"/>
                    </a:ext>
                  </a:extLst>
                </p:cNvPr>
                <p:cNvSpPr txBox="1"/>
                <p:nvPr/>
              </p:nvSpPr>
              <p:spPr>
                <a:xfrm>
                  <a:off x="2423955" y="5311503"/>
                  <a:ext cx="1322282" cy="5533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rPr>
                    <a:t>G</a:t>
                  </a:r>
                </a:p>
              </p:txBody>
            </p:sp>
          </p:grpSp>
        </p:grpSp>
        <p:cxnSp>
          <p:nvCxnSpPr>
            <p:cNvPr id="7" name="连接符: 肘形 6">
              <a:extLst>
                <a:ext uri="{FF2B5EF4-FFF2-40B4-BE49-F238E27FC236}">
                  <a16:creationId xmlns:a16="http://schemas.microsoft.com/office/drawing/2014/main" id="{08285F07-DC90-1EE8-16F3-331291743FD5}"/>
                </a:ext>
              </a:extLst>
            </p:cNvPr>
            <p:cNvCxnSpPr>
              <a:cxnSpLocks/>
            </p:cNvCxnSpPr>
            <p:nvPr/>
          </p:nvCxnSpPr>
          <p:spPr>
            <a:xfrm>
              <a:off x="6068399" y="2966740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连接符: 肘形 7">
              <a:extLst>
                <a:ext uri="{FF2B5EF4-FFF2-40B4-BE49-F238E27FC236}">
                  <a16:creationId xmlns:a16="http://schemas.microsoft.com/office/drawing/2014/main" id="{6B1BDD54-29F0-7CB6-C1ED-5CE24D51D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8399" y="4326784"/>
              <a:ext cx="1549851" cy="809499"/>
            </a:xfrm>
            <a:prstGeom prst="bentConnector3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280AC561-41FF-9202-DA14-8E754D03C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279" y="3606279"/>
            <a:ext cx="3435433" cy="1349400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889E95-FCDF-C2C3-F3EA-D1D9995EC911}"/>
              </a:ext>
            </a:extLst>
          </p:cNvPr>
          <p:cNvGrpSpPr/>
          <p:nvPr/>
        </p:nvGrpSpPr>
        <p:grpSpPr>
          <a:xfrm>
            <a:off x="1946085" y="5317478"/>
            <a:ext cx="8105326" cy="1289455"/>
            <a:chOff x="2851265" y="5213486"/>
            <a:chExt cx="5286895" cy="1289455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C40854C-C548-0490-BF08-6B9237D4B892}"/>
                </a:ext>
              </a:extLst>
            </p:cNvPr>
            <p:cNvSpPr txBox="1"/>
            <p:nvPr/>
          </p:nvSpPr>
          <p:spPr>
            <a:xfrm>
              <a:off x="3109311" y="5379315"/>
              <a:ext cx="4837111" cy="873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黑体" panose="02010609060101010101" pitchFamily="49" charset="-122"/>
                </a:rPr>
                <a:t>DCGAN将卷积神经网络CNN应用到</a:t>
              </a:r>
              <a:r>
                <a:rPr lang="zh-CN" altLang="zh-CN" b="1" dirty="0">
                  <a:latin typeface="+mj-lt"/>
                  <a:ea typeface="黑体" panose="02010609060101010101" pitchFamily="49" charset="-122"/>
                </a:rPr>
                <a:t>原始的GAN</a:t>
              </a:r>
              <a:r>
                <a:rPr kumimoji="0" lang="zh-CN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黑体" panose="02010609060101010101" pitchFamily="49" charset="-122"/>
                </a:rPr>
                <a:t>的模型算法设计当中，替代了全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连</a:t>
              </a:r>
              <a:r>
                <a:rPr kumimoji="0" lang="zh-CN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黑体" panose="02010609060101010101" pitchFamily="49" charset="-122"/>
                </a:rPr>
                <a:t>接层，提高了图片场景里训练的稳定性。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BA30F92-B14D-6BE3-0001-B1308E57E159}"/>
                </a:ext>
              </a:extLst>
            </p:cNvPr>
            <p:cNvSpPr/>
            <p:nvPr/>
          </p:nvSpPr>
          <p:spPr>
            <a:xfrm>
              <a:off x="2851265" y="5213486"/>
              <a:ext cx="5286895" cy="1289455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45" name="箭头: 右 44">
            <a:extLst>
              <a:ext uri="{FF2B5EF4-FFF2-40B4-BE49-F238E27FC236}">
                <a16:creationId xmlns:a16="http://schemas.microsoft.com/office/drawing/2014/main" id="{823DAC4A-B7B5-B60B-BBF6-6CC6B6E83387}"/>
              </a:ext>
            </a:extLst>
          </p:cNvPr>
          <p:cNvSpPr/>
          <p:nvPr/>
        </p:nvSpPr>
        <p:spPr>
          <a:xfrm rot="19025594">
            <a:off x="2740840" y="2995121"/>
            <a:ext cx="1146201" cy="361586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F68706C-88D9-B255-2C8F-059E4711898C}"/>
              </a:ext>
            </a:extLst>
          </p:cNvPr>
          <p:cNvGrpSpPr/>
          <p:nvPr/>
        </p:nvGrpSpPr>
        <p:grpSpPr>
          <a:xfrm>
            <a:off x="0" y="-69459"/>
            <a:ext cx="12192000" cy="597706"/>
            <a:chOff x="0" y="-69459"/>
            <a:chExt cx="12192000" cy="5977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538BBBF-C4DD-4D8E-0B42-AB143A2556EF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5" name="jwc_logo">
              <a:extLst>
                <a:ext uri="{FF2B5EF4-FFF2-40B4-BE49-F238E27FC236}">
                  <a16:creationId xmlns:a16="http://schemas.microsoft.com/office/drawing/2014/main" id="{6E0B7B84-24FA-3A2E-824C-361216FC91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0" name="Freeform 34">
                <a:extLst>
                  <a:ext uri="{FF2B5EF4-FFF2-40B4-BE49-F238E27FC236}">
                    <a16:creationId xmlns:a16="http://schemas.microsoft.com/office/drawing/2014/main" id="{89E31CD6-8297-E5ED-76E1-D484920875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1CD61228-6EF7-73A3-7123-F543DE5DAB2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36">
                <a:extLst>
                  <a:ext uri="{FF2B5EF4-FFF2-40B4-BE49-F238E27FC236}">
                    <a16:creationId xmlns:a16="http://schemas.microsoft.com/office/drawing/2014/main" id="{677CCD27-D507-724C-E624-E3240F5373C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37">
                <a:extLst>
                  <a:ext uri="{FF2B5EF4-FFF2-40B4-BE49-F238E27FC236}">
                    <a16:creationId xmlns:a16="http://schemas.microsoft.com/office/drawing/2014/main" id="{774A4993-031B-3399-3CBB-7E4C527DBB5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Freeform 38">
                <a:extLst>
                  <a:ext uri="{FF2B5EF4-FFF2-40B4-BE49-F238E27FC236}">
                    <a16:creationId xmlns:a16="http://schemas.microsoft.com/office/drawing/2014/main" id="{AC6D9772-366D-C203-2F41-C45F8FEAE13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39">
                <a:extLst>
                  <a:ext uri="{FF2B5EF4-FFF2-40B4-BE49-F238E27FC236}">
                    <a16:creationId xmlns:a16="http://schemas.microsoft.com/office/drawing/2014/main" id="{2D60A98A-EF18-7C58-540A-D3C9FB3DFD6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0" name="Freeform 40">
                <a:extLst>
                  <a:ext uri="{FF2B5EF4-FFF2-40B4-BE49-F238E27FC236}">
                    <a16:creationId xmlns:a16="http://schemas.microsoft.com/office/drawing/2014/main" id="{41656F23-29F3-179E-0FB2-4167BDA8B93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9A9C75C2-2FC4-5A81-CB38-2C776C910897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4" name="Freeform 42">
                <a:extLst>
                  <a:ext uri="{FF2B5EF4-FFF2-40B4-BE49-F238E27FC236}">
                    <a16:creationId xmlns:a16="http://schemas.microsoft.com/office/drawing/2014/main" id="{92713E22-885E-706B-0187-5FC246A41F0C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43">
                <a:extLst>
                  <a:ext uri="{FF2B5EF4-FFF2-40B4-BE49-F238E27FC236}">
                    <a16:creationId xmlns:a16="http://schemas.microsoft.com/office/drawing/2014/main" id="{2826CDDE-6C11-B5CF-A3D0-C9AEAA4FF9CA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44">
                <a:extLst>
                  <a:ext uri="{FF2B5EF4-FFF2-40B4-BE49-F238E27FC236}">
                    <a16:creationId xmlns:a16="http://schemas.microsoft.com/office/drawing/2014/main" id="{4C384BB4-10A2-6A33-E34E-46315E86224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45">
                <a:extLst>
                  <a:ext uri="{FF2B5EF4-FFF2-40B4-BE49-F238E27FC236}">
                    <a16:creationId xmlns:a16="http://schemas.microsoft.com/office/drawing/2014/main" id="{462D09C6-4723-08F7-F081-1992B5CFFB2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6">
                <a:extLst>
                  <a:ext uri="{FF2B5EF4-FFF2-40B4-BE49-F238E27FC236}">
                    <a16:creationId xmlns:a16="http://schemas.microsoft.com/office/drawing/2014/main" id="{FDFF7259-F301-9221-06D8-8D32F03E509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7">
                <a:extLst>
                  <a:ext uri="{FF2B5EF4-FFF2-40B4-BE49-F238E27FC236}">
                    <a16:creationId xmlns:a16="http://schemas.microsoft.com/office/drawing/2014/main" id="{AA951924-8DFF-FEA1-DCCB-5A720F08B72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8">
                <a:extLst>
                  <a:ext uri="{FF2B5EF4-FFF2-40B4-BE49-F238E27FC236}">
                    <a16:creationId xmlns:a16="http://schemas.microsoft.com/office/drawing/2014/main" id="{481BDAD1-34B7-B45F-68C4-E7E58933375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9">
                <a:extLst>
                  <a:ext uri="{FF2B5EF4-FFF2-40B4-BE49-F238E27FC236}">
                    <a16:creationId xmlns:a16="http://schemas.microsoft.com/office/drawing/2014/main" id="{60774114-BEA4-B18D-B1D4-5600D86D19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50">
                <a:extLst>
                  <a:ext uri="{FF2B5EF4-FFF2-40B4-BE49-F238E27FC236}">
                    <a16:creationId xmlns:a16="http://schemas.microsoft.com/office/drawing/2014/main" id="{0478AD57-F9CE-F8E7-F887-189E2CB04DB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51">
                <a:extLst>
                  <a:ext uri="{FF2B5EF4-FFF2-40B4-BE49-F238E27FC236}">
                    <a16:creationId xmlns:a16="http://schemas.microsoft.com/office/drawing/2014/main" id="{ADC4E743-10EE-30E3-9C11-A07BBEC83DD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52">
                <a:extLst>
                  <a:ext uri="{FF2B5EF4-FFF2-40B4-BE49-F238E27FC236}">
                    <a16:creationId xmlns:a16="http://schemas.microsoft.com/office/drawing/2014/main" id="{FD2D4A77-331E-FCAE-BDC6-EDDF1338AEE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4912CA1-3EF3-2A4E-5091-AEC84AD8FAE9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DCGAN-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深度卷积生成网络</a:t>
              </a:r>
              <a:endParaRPr lang="en-US" altLang="zh-CN" sz="24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15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8B23-2490-39AD-46CF-199ED4C0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716100E-2C92-8A15-301A-29DEDEA8D8D7}"/>
              </a:ext>
            </a:extLst>
          </p:cNvPr>
          <p:cNvSpPr/>
          <p:nvPr/>
        </p:nvSpPr>
        <p:spPr>
          <a:xfrm>
            <a:off x="3158611" y="1024568"/>
            <a:ext cx="2027024" cy="1075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DCGAN</a:t>
            </a:r>
          </a:p>
          <a:p>
            <a:pPr algn="ctr"/>
            <a:r>
              <a:rPr lang="zh-CN" altLang="en-US" b="1" dirty="0">
                <a:latin typeface="+mj-lt"/>
                <a:ea typeface="黑体" panose="02010609060101010101" pitchFamily="49" charset="-122"/>
              </a:rPr>
              <a:t>深度卷积生成网络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138A93-D5CF-CD6F-A85C-9F73A406A83B}"/>
              </a:ext>
            </a:extLst>
          </p:cNvPr>
          <p:cNvSpPr/>
          <p:nvPr/>
        </p:nvSpPr>
        <p:spPr>
          <a:xfrm>
            <a:off x="486104" y="1007648"/>
            <a:ext cx="2027024" cy="1075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CGAN</a:t>
            </a:r>
          </a:p>
          <a:p>
            <a:pPr algn="ctr"/>
            <a:r>
              <a:rPr lang="zh-CN" altLang="en-US" b="1" dirty="0">
                <a:latin typeface="+mj-lt"/>
                <a:ea typeface="黑体" panose="02010609060101010101" pitchFamily="49" charset="-122"/>
              </a:rPr>
              <a:t>条件生成网络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03651D-E8FA-8B3F-B76C-8AEAF9123D7E}"/>
              </a:ext>
            </a:extLst>
          </p:cNvPr>
          <p:cNvSpPr txBox="1"/>
          <p:nvPr/>
        </p:nvSpPr>
        <p:spPr>
          <a:xfrm>
            <a:off x="585216" y="2453479"/>
            <a:ext cx="207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基于条件生成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F3132D-C7E2-69A0-9D51-527A157367BD}"/>
              </a:ext>
            </a:extLst>
          </p:cNvPr>
          <p:cNvSpPr txBox="1"/>
          <p:nvPr/>
        </p:nvSpPr>
        <p:spPr>
          <a:xfrm>
            <a:off x="3167122" y="2453479"/>
            <a:ext cx="207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生成的图像质量高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719FB77A-D0BF-1489-74C7-A31E08B4A448}"/>
              </a:ext>
            </a:extLst>
          </p:cNvPr>
          <p:cNvSpPr/>
          <p:nvPr/>
        </p:nvSpPr>
        <p:spPr>
          <a:xfrm>
            <a:off x="2219826" y="2593294"/>
            <a:ext cx="1060704" cy="1272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BB6C47-AAF3-A958-8227-E4722B818970}"/>
              </a:ext>
            </a:extLst>
          </p:cNvPr>
          <p:cNvSpPr/>
          <p:nvPr/>
        </p:nvSpPr>
        <p:spPr>
          <a:xfrm>
            <a:off x="1529395" y="4081970"/>
            <a:ext cx="2526354" cy="1075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DC-CGAN</a:t>
            </a:r>
          </a:p>
          <a:p>
            <a:pPr algn="ctr"/>
            <a:r>
              <a:rPr lang="zh-CN" altLang="en-US" b="1" dirty="0">
                <a:latin typeface="+mj-lt"/>
                <a:ea typeface="黑体" panose="02010609060101010101" pitchFamily="49" charset="-122"/>
              </a:rPr>
              <a:t>深度卷积条件生成网络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D396A6-A640-767B-C49A-473426DB27C2}"/>
              </a:ext>
            </a:extLst>
          </p:cNvPr>
          <p:cNvSpPr txBox="1"/>
          <p:nvPr/>
        </p:nvSpPr>
        <p:spPr>
          <a:xfrm>
            <a:off x="1091719" y="5823661"/>
            <a:ext cx="3819032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结合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DCGAN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网络和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CGAN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网络，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控制模型生成特定类别的图片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49CB04-EA81-9955-55EC-476A2AA66C1A}"/>
              </a:ext>
            </a:extLst>
          </p:cNvPr>
          <p:cNvSpPr/>
          <p:nvPr/>
        </p:nvSpPr>
        <p:spPr>
          <a:xfrm>
            <a:off x="857505" y="5723101"/>
            <a:ext cx="3819032" cy="107533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C233C1-3C8E-0B7F-7C0C-9BC471D2B62B}"/>
              </a:ext>
            </a:extLst>
          </p:cNvPr>
          <p:cNvSpPr txBox="1"/>
          <p:nvPr/>
        </p:nvSpPr>
        <p:spPr>
          <a:xfrm>
            <a:off x="857505" y="5300728"/>
            <a:ext cx="107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创新点</a:t>
            </a:r>
            <a:r>
              <a:rPr lang="en-US" altLang="zh-CN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19F443B-A436-0021-AE17-2A501ACD93F8}"/>
              </a:ext>
            </a:extLst>
          </p:cNvPr>
          <p:cNvGrpSpPr/>
          <p:nvPr/>
        </p:nvGrpSpPr>
        <p:grpSpPr>
          <a:xfrm>
            <a:off x="0" y="-69459"/>
            <a:ext cx="12192000" cy="597706"/>
            <a:chOff x="0" y="-69459"/>
            <a:chExt cx="12192000" cy="597706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DCD3ADC-0287-42CE-6728-FC5A861168CF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4" name="jwc_logo">
              <a:extLst>
                <a:ext uri="{FF2B5EF4-FFF2-40B4-BE49-F238E27FC236}">
                  <a16:creationId xmlns:a16="http://schemas.microsoft.com/office/drawing/2014/main" id="{480AD1D7-9537-8E54-918D-D41FB48F1A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47" name="Freeform 34">
                <a:extLst>
                  <a:ext uri="{FF2B5EF4-FFF2-40B4-BE49-F238E27FC236}">
                    <a16:creationId xmlns:a16="http://schemas.microsoft.com/office/drawing/2014/main" id="{30264D4E-6B78-B944-6715-68D90F5ECBE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35">
                <a:extLst>
                  <a:ext uri="{FF2B5EF4-FFF2-40B4-BE49-F238E27FC236}">
                    <a16:creationId xmlns:a16="http://schemas.microsoft.com/office/drawing/2014/main" id="{79CB8121-A8A4-7D29-80E9-A67FEA3F2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36">
                <a:extLst>
                  <a:ext uri="{FF2B5EF4-FFF2-40B4-BE49-F238E27FC236}">
                    <a16:creationId xmlns:a16="http://schemas.microsoft.com/office/drawing/2014/main" id="{270C5A32-F60A-E400-FFEF-DDE9CDC1692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37">
                <a:extLst>
                  <a:ext uri="{FF2B5EF4-FFF2-40B4-BE49-F238E27FC236}">
                    <a16:creationId xmlns:a16="http://schemas.microsoft.com/office/drawing/2014/main" id="{7016723F-BF81-4B31-EBB7-45DD8745F2C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38">
                <a:extLst>
                  <a:ext uri="{FF2B5EF4-FFF2-40B4-BE49-F238E27FC236}">
                    <a16:creationId xmlns:a16="http://schemas.microsoft.com/office/drawing/2014/main" id="{897A1C61-36CC-A61A-5B5C-346D7F1F5C9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39">
                <a:extLst>
                  <a:ext uri="{FF2B5EF4-FFF2-40B4-BE49-F238E27FC236}">
                    <a16:creationId xmlns:a16="http://schemas.microsoft.com/office/drawing/2014/main" id="{A63F0AD0-78B0-5F32-9F62-D03C275B46E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0">
                <a:extLst>
                  <a:ext uri="{FF2B5EF4-FFF2-40B4-BE49-F238E27FC236}">
                    <a16:creationId xmlns:a16="http://schemas.microsoft.com/office/drawing/2014/main" id="{4C7F1474-0C9A-A8AD-AF8D-0B28DC8079C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58C8BDB7-F3AA-D7DA-AC85-E63B0FF4578A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42">
                <a:extLst>
                  <a:ext uri="{FF2B5EF4-FFF2-40B4-BE49-F238E27FC236}">
                    <a16:creationId xmlns:a16="http://schemas.microsoft.com/office/drawing/2014/main" id="{2C81B3A6-060C-9D91-465C-B420BA478DA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43">
                <a:extLst>
                  <a:ext uri="{FF2B5EF4-FFF2-40B4-BE49-F238E27FC236}">
                    <a16:creationId xmlns:a16="http://schemas.microsoft.com/office/drawing/2014/main" id="{7A925461-3716-40CA-BE83-5F419E3D9C97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Freeform 44">
                <a:extLst>
                  <a:ext uri="{FF2B5EF4-FFF2-40B4-BE49-F238E27FC236}">
                    <a16:creationId xmlns:a16="http://schemas.microsoft.com/office/drawing/2014/main" id="{EAB5D0AA-57EA-F9DD-0B09-0A28447EEE8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C7DD1053-286C-7B4F-29B8-185D5A8A325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E35FA5AF-B0F5-A791-3D6D-C47985DD8A4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B68B64C2-ABB0-B78E-3554-E9CDCF9CECA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10046D1D-4D3E-5CF4-D10C-21909EC6597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57A55165-C07F-E334-C768-9D7462F38FE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B20FBD50-BA91-D8B7-71CA-32A02E3ABC0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AB6D340D-2ABB-08EF-EE68-2ED126F766B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E6E1DD03-A917-E4C0-22CE-0AED68AFF16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81B89AC-9AFD-2C67-A914-D6FCD3F90360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新的</a:t>
              </a: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GAN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模式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6CF3040-777A-5EBB-CBE0-A1FAD4A25159}"/>
              </a:ext>
            </a:extLst>
          </p:cNvPr>
          <p:cNvGrpSpPr/>
          <p:nvPr/>
        </p:nvGrpSpPr>
        <p:grpSpPr>
          <a:xfrm>
            <a:off x="5336657" y="1655349"/>
            <a:ext cx="6828069" cy="4352590"/>
            <a:chOff x="5336657" y="1655349"/>
            <a:chExt cx="6828069" cy="435259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37A475A-7CF7-BCDB-5509-DECF48EC5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6641" y="4818999"/>
              <a:ext cx="3026918" cy="1188940"/>
            </a:xfrm>
            <a:prstGeom prst="rect">
              <a:avLst/>
            </a:prstGeom>
          </p:spPr>
        </p:pic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09B1B4C-2DE6-B66C-162C-0EBE2F5E1355}"/>
                </a:ext>
              </a:extLst>
            </p:cNvPr>
            <p:cNvGrpSpPr/>
            <p:nvPr/>
          </p:nvGrpSpPr>
          <p:grpSpPr>
            <a:xfrm>
              <a:off x="5336657" y="1655349"/>
              <a:ext cx="6828069" cy="2710919"/>
              <a:chOff x="560580" y="1701473"/>
              <a:chExt cx="11264509" cy="4472299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9639571B-0A6F-893D-A692-E34F63A47619}"/>
                  </a:ext>
                </a:extLst>
              </p:cNvPr>
              <p:cNvGrpSpPr/>
              <p:nvPr/>
            </p:nvGrpSpPr>
            <p:grpSpPr>
              <a:xfrm>
                <a:off x="560580" y="1701473"/>
                <a:ext cx="11264509" cy="4472299"/>
                <a:chOff x="1945992" y="2765422"/>
                <a:chExt cx="11264509" cy="4472299"/>
              </a:xfrm>
            </p:grpSpPr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id="{AD61469C-1D16-D5C7-0E3A-A1197E93579C}"/>
                    </a:ext>
                  </a:extLst>
                </p:cNvPr>
                <p:cNvGrpSpPr/>
                <p:nvPr/>
              </p:nvGrpSpPr>
              <p:grpSpPr>
                <a:xfrm>
                  <a:off x="1945992" y="4577882"/>
                  <a:ext cx="6702499" cy="2659839"/>
                  <a:chOff x="2510960" y="2560055"/>
                  <a:chExt cx="6702499" cy="2659839"/>
                </a:xfrm>
              </p:grpSpPr>
              <p:pic>
                <p:nvPicPr>
                  <p:cNvPr id="34" name="图片 33">
                    <a:extLst>
                      <a:ext uri="{FF2B5EF4-FFF2-40B4-BE49-F238E27FC236}">
                        <a16:creationId xmlns:a16="http://schemas.microsoft.com/office/drawing/2014/main" id="{E0BB9B22-5D0D-96CD-307E-E39890B9C3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19880" t="61090" r="63532" b="12729"/>
                  <a:stretch>
                    <a:fillRect/>
                  </a:stretch>
                </p:blipFill>
                <p:spPr>
                  <a:xfrm>
                    <a:off x="6793988" y="3581892"/>
                    <a:ext cx="1126066" cy="1028700"/>
                  </a:xfrm>
                  <a:prstGeom prst="rect">
                    <a:avLst/>
                  </a:prstGeom>
                </p:spPr>
              </p:pic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0A5EEA89-171A-7075-D46A-8251EBBF7C2F}"/>
                      </a:ext>
                    </a:extLst>
                  </p:cNvPr>
                  <p:cNvSpPr txBox="1"/>
                  <p:nvPr/>
                </p:nvSpPr>
                <p:spPr>
                  <a:xfrm>
                    <a:off x="6702482" y="4610594"/>
                    <a:ext cx="2510977" cy="6093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+mj-lt"/>
                        <a:ea typeface="黑体" panose="02010609060101010101" pitchFamily="49" charset="-122"/>
                      </a:rPr>
                      <a:t>Real sample</a:t>
                    </a:r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96B9E31-093D-E456-CDAD-985987CC22FF}"/>
                      </a:ext>
                    </a:extLst>
                  </p:cNvPr>
                  <p:cNvSpPr txBox="1"/>
                  <p:nvPr/>
                </p:nvSpPr>
                <p:spPr>
                  <a:xfrm>
                    <a:off x="2510960" y="2560055"/>
                    <a:ext cx="2345245" cy="6093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+mj-lt"/>
                        <a:ea typeface="黑体" panose="02010609060101010101" pitchFamily="49" charset="-122"/>
                      </a:rPr>
                      <a:t>Noise vector</a:t>
                    </a:r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76A78FF4-5191-D7BC-345F-115D2CCDB206}"/>
                      </a:ext>
                    </a:extLst>
                  </p:cNvPr>
                  <p:cNvSpPr txBox="1"/>
                  <p:nvPr/>
                </p:nvSpPr>
                <p:spPr>
                  <a:xfrm>
                    <a:off x="2827434" y="3769211"/>
                    <a:ext cx="1414734" cy="6093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+mj-lt"/>
                        <a:ea typeface="黑体" panose="02010609060101010101" pitchFamily="49" charset="-122"/>
                      </a:rPr>
                      <a:t>Label</a:t>
                    </a:r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E4D9EAE4-DA8A-FC5D-1158-0AF50FBA057B}"/>
                    </a:ext>
                  </a:extLst>
                </p:cNvPr>
                <p:cNvSpPr/>
                <p:nvPr/>
              </p:nvSpPr>
              <p:spPr>
                <a:xfrm>
                  <a:off x="2492890" y="3761409"/>
                  <a:ext cx="806450" cy="6921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Z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73086BC5-A80E-E09D-83ED-CDE110B9FEEE}"/>
                    </a:ext>
                  </a:extLst>
                </p:cNvPr>
                <p:cNvGrpSpPr/>
                <p:nvPr/>
              </p:nvGrpSpPr>
              <p:grpSpPr>
                <a:xfrm>
                  <a:off x="5519832" y="2765422"/>
                  <a:ext cx="3524113" cy="1706716"/>
                  <a:chOff x="4560984" y="702002"/>
                  <a:chExt cx="3524113" cy="1706716"/>
                </a:xfrm>
              </p:grpSpPr>
              <p:pic>
                <p:nvPicPr>
                  <p:cNvPr id="32" name="图片 31">
                    <a:extLst>
                      <a:ext uri="{FF2B5EF4-FFF2-40B4-BE49-F238E27FC236}">
                        <a16:creationId xmlns:a16="http://schemas.microsoft.com/office/drawing/2014/main" id="{1A6B5D8F-3D21-E605-8159-F5D9C184ED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41145" t="30973" r="42704" b="43127"/>
                  <a:stretch>
                    <a:fillRect/>
                  </a:stretch>
                </p:blipFill>
                <p:spPr>
                  <a:xfrm>
                    <a:off x="5270172" y="1391105"/>
                    <a:ext cx="1096433" cy="1017613"/>
                  </a:xfrm>
                  <a:prstGeom prst="rect">
                    <a:avLst/>
                  </a:prstGeom>
                </p:spPr>
              </p:pic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926ABF38-83A4-8557-980A-7A4018C6B5FC}"/>
                      </a:ext>
                    </a:extLst>
                  </p:cNvPr>
                  <p:cNvSpPr txBox="1"/>
                  <p:nvPr/>
                </p:nvSpPr>
                <p:spPr>
                  <a:xfrm>
                    <a:off x="4560984" y="702002"/>
                    <a:ext cx="3524113" cy="6093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+mj-lt"/>
                        <a:ea typeface="黑体" panose="02010609060101010101" pitchFamily="49" charset="-122"/>
                      </a:rPr>
                      <a:t>Generated sample</a:t>
                    </a:r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</p:grpSp>
            <p:cxnSp>
              <p:nvCxnSpPr>
                <p:cNvPr id="18" name="直接箭头连接符 17">
                  <a:extLst>
                    <a:ext uri="{FF2B5EF4-FFF2-40B4-BE49-F238E27FC236}">
                      <a16:creationId xmlns:a16="http://schemas.microsoft.com/office/drawing/2014/main" id="{02503607-4F89-4F24-202E-4161210D61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606538" y="3914814"/>
                  <a:ext cx="0" cy="497434"/>
                </a:xfrm>
                <a:prstGeom prst="straightConnector1">
                  <a:avLst/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>
                  <a:extLst>
                    <a:ext uri="{FF2B5EF4-FFF2-40B4-BE49-F238E27FC236}">
                      <a16:creationId xmlns:a16="http://schemas.microsoft.com/office/drawing/2014/main" id="{9106ABA4-D527-CE0E-C763-1A1873583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823974" y="3914814"/>
                  <a:ext cx="0" cy="497434"/>
                </a:xfrm>
                <a:prstGeom prst="straightConnector1">
                  <a:avLst/>
                </a:prstGeom>
                <a:ln w="38100"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FF4B742D-2A76-4184-8645-A882C4326BB5}"/>
                    </a:ext>
                  </a:extLst>
                </p:cNvPr>
                <p:cNvGrpSpPr/>
                <p:nvPr/>
              </p:nvGrpSpPr>
              <p:grpSpPr>
                <a:xfrm>
                  <a:off x="10952509" y="4453559"/>
                  <a:ext cx="773804" cy="941790"/>
                  <a:chOff x="11035059" y="4342434"/>
                  <a:chExt cx="773804" cy="941790"/>
                </a:xfrm>
              </p:grpSpPr>
              <p:cxnSp>
                <p:nvCxnSpPr>
                  <p:cNvPr id="30" name="连接符: 肘形 29">
                    <a:extLst>
                      <a:ext uri="{FF2B5EF4-FFF2-40B4-BE49-F238E27FC236}">
                        <a16:creationId xmlns:a16="http://schemas.microsoft.com/office/drawing/2014/main" id="{A214D2A5-9135-EAE0-DA75-49946FFB78A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38842" y="4342434"/>
                    <a:ext cx="770021" cy="470895"/>
                  </a:xfrm>
                  <a:prstGeom prst="bentConnector3">
                    <a:avLst>
                      <a:gd name="adj1" fmla="val 48750"/>
                    </a:avLst>
                  </a:prstGeom>
                  <a:ln w="38100">
                    <a:solidFill>
                      <a:schemeClr val="bg2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连接符: 肘形 30">
                    <a:extLst>
                      <a:ext uri="{FF2B5EF4-FFF2-40B4-BE49-F238E27FC236}">
                        <a16:creationId xmlns:a16="http://schemas.microsoft.com/office/drawing/2014/main" id="{5888D064-4CD5-FB61-B16E-B513FF1A6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035059" y="4813329"/>
                    <a:ext cx="770021" cy="470895"/>
                  </a:xfrm>
                  <a:prstGeom prst="bentConnector3">
                    <a:avLst>
                      <a:gd name="adj1" fmla="val 48750"/>
                    </a:avLst>
                  </a:prstGeom>
                  <a:ln w="38100">
                    <a:solidFill>
                      <a:schemeClr val="bg2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2C15F0-7350-C93A-FDFC-96962851BBA9}"/>
                    </a:ext>
                  </a:extLst>
                </p:cNvPr>
                <p:cNvSpPr txBox="1"/>
                <p:nvPr/>
              </p:nvSpPr>
              <p:spPr>
                <a:xfrm>
                  <a:off x="11722530" y="4069325"/>
                  <a:ext cx="1351142" cy="76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00B050"/>
                      </a:solidFill>
                      <a:latin typeface="+mj-lt"/>
                      <a:ea typeface="黑体" panose="02010609060101010101" pitchFamily="49" charset="-122"/>
                    </a:rPr>
                    <a:t>Real</a:t>
                  </a:r>
                  <a:endParaRPr lang="zh-CN" altLang="en-US" sz="2400" b="1" dirty="0">
                    <a:solidFill>
                      <a:srgbClr val="00B050"/>
                    </a:solidFill>
                    <a:latin typeface="+mj-lt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8245016-F2F4-EDA8-7E5B-B4B7EA6EC0F5}"/>
                    </a:ext>
                  </a:extLst>
                </p:cNvPr>
                <p:cNvSpPr txBox="1"/>
                <p:nvPr/>
              </p:nvSpPr>
              <p:spPr>
                <a:xfrm>
                  <a:off x="11722530" y="5074895"/>
                  <a:ext cx="1487971" cy="76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FF0000"/>
                      </a:solidFill>
                      <a:latin typeface="+mj-lt"/>
                      <a:ea typeface="黑体" panose="02010609060101010101" pitchFamily="49" charset="-122"/>
                    </a:rPr>
                    <a:t>Fake</a:t>
                  </a:r>
                </a:p>
              </p:txBody>
            </p:sp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D1E462AC-F9D8-1F73-2AF5-19C3FDF3FFE7}"/>
                    </a:ext>
                  </a:extLst>
                </p:cNvPr>
                <p:cNvGrpSpPr/>
                <p:nvPr/>
              </p:nvGrpSpPr>
              <p:grpSpPr>
                <a:xfrm>
                  <a:off x="9132020" y="4361646"/>
                  <a:ext cx="1674839" cy="1550632"/>
                  <a:chOff x="9169603" y="4129642"/>
                  <a:chExt cx="1674839" cy="1550632"/>
                </a:xfrm>
              </p:grpSpPr>
              <p:sp>
                <p:nvSpPr>
                  <p:cNvPr id="28" name="流程图: 离页连接符 27">
                    <a:extLst>
                      <a:ext uri="{FF2B5EF4-FFF2-40B4-BE49-F238E27FC236}">
                        <a16:creationId xmlns:a16="http://schemas.microsoft.com/office/drawing/2014/main" id="{F5554C1D-9389-A916-C49A-0F5C8A05BE3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447003" y="3928490"/>
                    <a:ext cx="1196288" cy="1598591"/>
                  </a:xfrm>
                  <a:prstGeom prst="flowChartOffpageConnector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DB0F9FD7-C310-1A7F-3AE3-4039E077E69D}"/>
                      </a:ext>
                    </a:extLst>
                  </p:cNvPr>
                  <p:cNvSpPr txBox="1"/>
                  <p:nvPr/>
                </p:nvSpPr>
                <p:spPr>
                  <a:xfrm>
                    <a:off x="9169603" y="4309348"/>
                    <a:ext cx="1657349" cy="137092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bg1"/>
                        </a:solidFill>
                        <a:latin typeface="+mj-lt"/>
                        <a:ea typeface="黑体" panose="02010609060101010101" pitchFamily="49" charset="-122"/>
                      </a:rPr>
                      <a:t>D</a:t>
                    </a:r>
                  </a:p>
                  <a:p>
                    <a:pPr algn="ctr"/>
                    <a:endParaRPr lang="zh-CN" altLang="en-US" sz="2400" b="1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DF432323-12C4-5D2B-B66D-59D2FA9BDEA4}"/>
                    </a:ext>
                  </a:extLst>
                </p:cNvPr>
                <p:cNvGrpSpPr/>
                <p:nvPr/>
              </p:nvGrpSpPr>
              <p:grpSpPr>
                <a:xfrm>
                  <a:off x="3901729" y="3565388"/>
                  <a:ext cx="1598590" cy="1196288"/>
                  <a:chOff x="2362568" y="5160428"/>
                  <a:chExt cx="1598590" cy="1196288"/>
                </a:xfrm>
              </p:grpSpPr>
              <p:sp>
                <p:nvSpPr>
                  <p:cNvPr id="26" name="流程图: 离页连接符 25">
                    <a:extLst>
                      <a:ext uri="{FF2B5EF4-FFF2-40B4-BE49-F238E27FC236}">
                        <a16:creationId xmlns:a16="http://schemas.microsoft.com/office/drawing/2014/main" id="{EF9E714E-7BF2-EB6C-AB9E-8906553E105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563719" y="4959277"/>
                    <a:ext cx="1196288" cy="1598590"/>
                  </a:xfrm>
                  <a:prstGeom prst="flowChartOffpageConnector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2F7E5191-03F8-9BFD-AA41-2B02C6C92E16}"/>
                      </a:ext>
                    </a:extLst>
                  </p:cNvPr>
                  <p:cNvSpPr txBox="1"/>
                  <p:nvPr/>
                </p:nvSpPr>
                <p:spPr>
                  <a:xfrm>
                    <a:off x="2423955" y="5311503"/>
                    <a:ext cx="1322282" cy="76162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bg1"/>
                        </a:solidFill>
                        <a:latin typeface="+mj-lt"/>
                        <a:ea typeface="黑体" panose="02010609060101010101" pitchFamily="49" charset="-122"/>
                      </a:rPr>
                      <a:t>G</a:t>
                    </a:r>
                  </a:p>
                </p:txBody>
              </p:sp>
            </p:grpSp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151539E2-179E-8BFF-1B01-908FF6478BE3}"/>
                    </a:ext>
                  </a:extLst>
                </p:cNvPr>
                <p:cNvSpPr/>
                <p:nvPr/>
              </p:nvSpPr>
              <p:spPr>
                <a:xfrm>
                  <a:off x="2440522" y="5074895"/>
                  <a:ext cx="806450" cy="6921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latin typeface="+mj-lt"/>
                      <a:ea typeface="黑体" panose="02010609060101010101" pitchFamily="49" charset="-122"/>
                    </a:rPr>
                    <a:t>C</a:t>
                  </a:r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38" name="连接符: 肘形 37">
                <a:extLst>
                  <a:ext uri="{FF2B5EF4-FFF2-40B4-BE49-F238E27FC236}">
                    <a16:creationId xmlns:a16="http://schemas.microsoft.com/office/drawing/2014/main" id="{F4713A52-F096-5DC0-B9F6-6E02FB4539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8399" y="2966740"/>
                <a:ext cx="1549851" cy="809499"/>
              </a:xfrm>
              <a:prstGeom prst="bentConnector3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DEA6DC85-F665-DE0E-8A06-8DFD881376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8399" y="4326784"/>
                <a:ext cx="1549851" cy="809499"/>
              </a:xfrm>
              <a:prstGeom prst="bentConnector3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连接符: 肘形 39">
                <a:extLst>
                  <a:ext uri="{FF2B5EF4-FFF2-40B4-BE49-F238E27FC236}">
                    <a16:creationId xmlns:a16="http://schemas.microsoft.com/office/drawing/2014/main" id="{546E4CE2-67B8-4858-064E-8CFD22DD3002}"/>
                  </a:ext>
                </a:extLst>
              </p:cNvPr>
              <p:cNvCxnSpPr>
                <a:cxnSpLocks/>
                <a:endCxn id="26" idx="1"/>
              </p:cNvCxnSpPr>
              <p:nvPr/>
            </p:nvCxnSpPr>
            <p:spPr>
              <a:xfrm flipV="1">
                <a:off x="1861560" y="3697729"/>
                <a:ext cx="1454054" cy="716328"/>
              </a:xfrm>
              <a:prstGeom prst="bentConnector2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FA9C0B66-3BD9-B2F7-EC86-9442821F29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5612" y="4095149"/>
                <a:ext cx="4302638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箭头: 右 50">
              <a:extLst>
                <a:ext uri="{FF2B5EF4-FFF2-40B4-BE49-F238E27FC236}">
                  <a16:creationId xmlns:a16="http://schemas.microsoft.com/office/drawing/2014/main" id="{352B7A7E-A456-2D6F-EEA9-BB06763B2DEB}"/>
                </a:ext>
              </a:extLst>
            </p:cNvPr>
            <p:cNvSpPr/>
            <p:nvPr/>
          </p:nvSpPr>
          <p:spPr>
            <a:xfrm rot="14418127">
              <a:off x="6949214" y="3924737"/>
              <a:ext cx="780570" cy="597806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" name="箭头: 右 1">
              <a:extLst>
                <a:ext uri="{FF2B5EF4-FFF2-40B4-BE49-F238E27FC236}">
                  <a16:creationId xmlns:a16="http://schemas.microsoft.com/office/drawing/2014/main" id="{3595BFD6-2587-4BB4-DDE5-6C7B0F53A2D1}"/>
                </a:ext>
              </a:extLst>
            </p:cNvPr>
            <p:cNvSpPr/>
            <p:nvPr/>
          </p:nvSpPr>
          <p:spPr>
            <a:xfrm rot="17505818">
              <a:off x="9383928" y="3918123"/>
              <a:ext cx="780570" cy="597806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126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E8411-B326-5B28-739B-52F474CE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8D1BC298-DE2B-B4C6-2D8A-6EED1090945E}"/>
              </a:ext>
            </a:extLst>
          </p:cNvPr>
          <p:cNvGrpSpPr/>
          <p:nvPr/>
        </p:nvGrpSpPr>
        <p:grpSpPr>
          <a:xfrm>
            <a:off x="1322591" y="2380415"/>
            <a:ext cx="856618" cy="1576576"/>
            <a:chOff x="1193800" y="1970843"/>
            <a:chExt cx="1816100" cy="4018477"/>
          </a:xfrm>
        </p:grpSpPr>
        <p:sp>
          <p:nvSpPr>
            <p:cNvPr id="462" name="任意多边形: 形状 461">
              <a:extLst>
                <a:ext uri="{FF2B5EF4-FFF2-40B4-BE49-F238E27FC236}">
                  <a16:creationId xmlns:a16="http://schemas.microsoft.com/office/drawing/2014/main" id="{891F1186-EC45-8612-5382-12B3DD0818F2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53B97A05-0AEF-CC64-D4E1-6C628A228289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465" name="矩形 464">
                <a:extLst>
                  <a:ext uri="{FF2B5EF4-FFF2-40B4-BE49-F238E27FC236}">
                    <a16:creationId xmlns:a16="http://schemas.microsoft.com/office/drawing/2014/main" id="{051EC05D-7925-7C75-5BC3-EFD5893337E1}"/>
                  </a:ext>
                </a:extLst>
              </p:cNvPr>
              <p:cNvSpPr/>
              <p:nvPr/>
            </p:nvSpPr>
            <p:spPr>
              <a:xfrm>
                <a:off x="1198486" y="2831978"/>
                <a:ext cx="692457" cy="315157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466" name="直接连接符 465">
                <a:extLst>
                  <a:ext uri="{FF2B5EF4-FFF2-40B4-BE49-F238E27FC236}">
                    <a16:creationId xmlns:a16="http://schemas.microsoft.com/office/drawing/2014/main" id="{F9ACF699-9BA2-2467-090F-FC14B08BCA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4" name="任意多边形: 形状 463">
              <a:extLst>
                <a:ext uri="{FF2B5EF4-FFF2-40B4-BE49-F238E27FC236}">
                  <a16:creationId xmlns:a16="http://schemas.microsoft.com/office/drawing/2014/main" id="{C67FD2EC-BF3F-B0B3-DADD-EAD2ABB868A9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020D20A-000E-8FB2-85ED-E0302F0FDAA6}"/>
              </a:ext>
            </a:extLst>
          </p:cNvPr>
          <p:cNvCxnSpPr>
            <a:cxnSpLocks/>
          </p:cNvCxnSpPr>
          <p:nvPr/>
        </p:nvCxnSpPr>
        <p:spPr>
          <a:xfrm flipV="1">
            <a:off x="3412258" y="3569622"/>
            <a:ext cx="0" cy="1551162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86DDF36-8D12-39FF-114D-EFCA07276AAF}"/>
              </a:ext>
            </a:extLst>
          </p:cNvPr>
          <p:cNvGrpSpPr/>
          <p:nvPr/>
        </p:nvGrpSpPr>
        <p:grpSpPr>
          <a:xfrm>
            <a:off x="1632473" y="972740"/>
            <a:ext cx="713538" cy="1289711"/>
            <a:chOff x="1193800" y="1970843"/>
            <a:chExt cx="1816100" cy="4018477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C586B28E-4366-7319-E352-5F49B9CE39B5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D239E05-2E53-3BA4-5BEC-1C89368ACB0F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9C1E2A0F-EA7A-ACA0-4036-BCD68D7307CC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336F54A-59B0-8727-B7D8-F0595AB29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2C5D794E-EE98-72E1-0D02-A91A98012893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A99A78C4-EAEA-B558-A68A-9F56E8BA56A6}"/>
              </a:ext>
            </a:extLst>
          </p:cNvPr>
          <p:cNvGrpSpPr/>
          <p:nvPr/>
        </p:nvGrpSpPr>
        <p:grpSpPr>
          <a:xfrm>
            <a:off x="6983477" y="1130297"/>
            <a:ext cx="623420" cy="2671058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244" name="任意多边形: 形状 243">
              <a:extLst>
                <a:ext uri="{FF2B5EF4-FFF2-40B4-BE49-F238E27FC236}">
                  <a16:creationId xmlns:a16="http://schemas.microsoft.com/office/drawing/2014/main" id="{096D6D40-E072-BE05-BAD8-C59897920E17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76463285-9826-1C0F-280C-DC5856EB6B78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ED9AE39F-B9C7-C510-BF5B-B15400B3B2B9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28DED5DF-5423-685A-CB19-ED0F6ACD5F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6" name="任意多边形: 形状 245">
              <a:extLst>
                <a:ext uri="{FF2B5EF4-FFF2-40B4-BE49-F238E27FC236}">
                  <a16:creationId xmlns:a16="http://schemas.microsoft.com/office/drawing/2014/main" id="{CBCFE1A7-CE01-FC95-7CB1-10FD6FBAF1DA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4CC26D3-C9F9-1448-5A0A-34E04C74A071}"/>
              </a:ext>
            </a:extLst>
          </p:cNvPr>
          <p:cNvGrpSpPr/>
          <p:nvPr/>
        </p:nvGrpSpPr>
        <p:grpSpPr>
          <a:xfrm>
            <a:off x="5438971" y="1089175"/>
            <a:ext cx="644302" cy="2760526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8BF1C368-40D9-4038-9A23-32668870B927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528C733-8112-1713-C076-C82818309064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59C7147-93B7-169C-5B3A-9D57F6DEE226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2E41E199-D56C-7816-28D6-CFDBEEAA1E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7547FD9-5555-96A6-3DFE-CA79CE7A53F8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6020416-F2CC-A30D-90DA-85646773E41D}"/>
              </a:ext>
            </a:extLst>
          </p:cNvPr>
          <p:cNvGrpSpPr/>
          <p:nvPr/>
        </p:nvGrpSpPr>
        <p:grpSpPr>
          <a:xfrm>
            <a:off x="1913434" y="1198126"/>
            <a:ext cx="735786" cy="971041"/>
            <a:chOff x="3369733" y="1395110"/>
            <a:chExt cx="1350184" cy="4018477"/>
          </a:xfrm>
        </p:grpSpPr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A02F4A56-ED0E-13DA-E6FD-0353E50D5006}"/>
                </a:ext>
              </a:extLst>
            </p:cNvPr>
            <p:cNvSpPr/>
            <p:nvPr/>
          </p:nvSpPr>
          <p:spPr>
            <a:xfrm>
              <a:off x="3374987" y="1395307"/>
              <a:ext cx="606666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62357BD2-53EC-4168-01C7-4DA854357D51}"/>
                </a:ext>
              </a:extLst>
            </p:cNvPr>
            <p:cNvGrpSpPr/>
            <p:nvPr/>
          </p:nvGrpSpPr>
          <p:grpSpPr>
            <a:xfrm>
              <a:off x="3369733" y="1395110"/>
              <a:ext cx="985832" cy="4018477"/>
              <a:chOff x="1193800" y="1970843"/>
              <a:chExt cx="1816100" cy="4018477"/>
            </a:xfrm>
          </p:grpSpPr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8BF4EF4A-63B8-C39D-6F41-9410935DA1D7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10726C7B-A6A3-FB76-CEFF-FFD58441EFD2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899BF162-2876-CAE1-FB0F-D02DF9DEFCAC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8" cy="315157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97" name="直接连接符 96">
                  <a:extLst>
                    <a:ext uri="{FF2B5EF4-FFF2-40B4-BE49-F238E27FC236}">
                      <a16:creationId xmlns:a16="http://schemas.microsoft.com/office/drawing/2014/main" id="{96AEE3E7-7D55-A586-D333-241CF3DF4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C09A4EC0-DE9D-48AB-F50C-34C3AEBD0930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BF9196E-FDF5-5476-BACE-DEAC1518EB7C}"/>
                </a:ext>
              </a:extLst>
            </p:cNvPr>
            <p:cNvGrpSpPr/>
            <p:nvPr/>
          </p:nvGrpSpPr>
          <p:grpSpPr>
            <a:xfrm>
              <a:off x="3734085" y="1395110"/>
              <a:ext cx="985832" cy="4018477"/>
              <a:chOff x="1193799" y="1970843"/>
              <a:chExt cx="1816099" cy="4018477"/>
            </a:xfrm>
          </p:grpSpPr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80ADAD1F-0FA2-F244-51A8-A192B2B1110B}"/>
                  </a:ext>
                </a:extLst>
              </p:cNvPr>
              <p:cNvSpPr/>
              <p:nvPr/>
            </p:nvSpPr>
            <p:spPr>
              <a:xfrm>
                <a:off x="1889758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EEDD44D3-F3AA-43B0-F425-E1847CD4DC38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DACAF8C-AA69-B978-78C3-4711A02A563D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7" cy="3151573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91" name="直接连接符 90">
                  <a:extLst>
                    <a:ext uri="{FF2B5EF4-FFF2-40B4-BE49-F238E27FC236}">
                      <a16:creationId xmlns:a16="http://schemas.microsoft.com/office/drawing/2014/main" id="{BF68012B-5156-F792-9260-A93609E97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0FE5B0F7-CB8B-4B73-DA60-8B8D8B556EFD}"/>
                  </a:ext>
                </a:extLst>
              </p:cNvPr>
              <p:cNvSpPr/>
              <p:nvPr/>
            </p:nvSpPr>
            <p:spPr>
              <a:xfrm>
                <a:off x="1193799" y="1971675"/>
                <a:ext cx="1816099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7AE33DB-9B86-A7A0-1A6A-F5FA62DDC7C9}"/>
              </a:ext>
            </a:extLst>
          </p:cNvPr>
          <p:cNvSpPr txBox="1"/>
          <p:nvPr/>
        </p:nvSpPr>
        <p:spPr>
          <a:xfrm>
            <a:off x="1495689" y="4042781"/>
            <a:ext cx="537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512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91A69DB-9149-7BF5-D568-25D28B45D717}"/>
              </a:ext>
            </a:extLst>
          </p:cNvPr>
          <p:cNvSpPr txBox="1"/>
          <p:nvPr/>
        </p:nvSpPr>
        <p:spPr>
          <a:xfrm>
            <a:off x="3517838" y="519527"/>
            <a:ext cx="139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初始特征图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生成层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F758DDF-FDA8-03D9-9051-6C1F4DA4FEDF}"/>
              </a:ext>
            </a:extLst>
          </p:cNvPr>
          <p:cNvSpPr txBox="1"/>
          <p:nvPr/>
        </p:nvSpPr>
        <p:spPr>
          <a:xfrm>
            <a:off x="5460418" y="519527"/>
            <a:ext cx="132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上采样块 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1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F914EA2-0D55-6D7F-C75A-1F8235E0E146}"/>
              </a:ext>
            </a:extLst>
          </p:cNvPr>
          <p:cNvSpPr txBox="1"/>
          <p:nvPr/>
        </p:nvSpPr>
        <p:spPr>
          <a:xfrm>
            <a:off x="6884230" y="519527"/>
            <a:ext cx="132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上采样块 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A87BBC6B-B2CC-F5F4-EA27-C99E00FB718B}"/>
              </a:ext>
            </a:extLst>
          </p:cNvPr>
          <p:cNvSpPr txBox="1"/>
          <p:nvPr/>
        </p:nvSpPr>
        <p:spPr>
          <a:xfrm>
            <a:off x="8385134" y="519527"/>
            <a:ext cx="145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最终卷积层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103DD41C-397A-D343-DB76-1A0D2B0801BB}"/>
              </a:ext>
            </a:extLst>
          </p:cNvPr>
          <p:cNvSpPr txBox="1"/>
          <p:nvPr/>
        </p:nvSpPr>
        <p:spPr>
          <a:xfrm>
            <a:off x="10191365" y="4097614"/>
            <a:ext cx="144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32x32x3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D79F3FD2-499C-AFA5-F469-0007AA3AC2E2}"/>
              </a:ext>
            </a:extLst>
          </p:cNvPr>
          <p:cNvSpPr txBox="1"/>
          <p:nvPr/>
        </p:nvSpPr>
        <p:spPr>
          <a:xfrm>
            <a:off x="5528910" y="4097614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4x4x128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F5E72E6C-1327-A4B3-9E8A-0E0C15E48C9E}"/>
              </a:ext>
            </a:extLst>
          </p:cNvPr>
          <p:cNvSpPr txBox="1"/>
          <p:nvPr/>
        </p:nvSpPr>
        <p:spPr>
          <a:xfrm>
            <a:off x="7060319" y="4097614"/>
            <a:ext cx="89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4x4x64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90950B8-F5E8-EC3F-E530-26B83DE3BD96}"/>
              </a:ext>
            </a:extLst>
          </p:cNvPr>
          <p:cNvSpPr txBox="1"/>
          <p:nvPr/>
        </p:nvSpPr>
        <p:spPr>
          <a:xfrm>
            <a:off x="8363596" y="4097614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3x3x3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1FC3B6-1406-0B3A-FF54-A0FDF8925626}"/>
              </a:ext>
            </a:extLst>
          </p:cNvPr>
          <p:cNvSpPr txBox="1"/>
          <p:nvPr/>
        </p:nvSpPr>
        <p:spPr>
          <a:xfrm>
            <a:off x="1345347" y="527081"/>
            <a:ext cx="1475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条件投影层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54A499-7A47-1B56-5E23-BF7DCE913058}"/>
              </a:ext>
            </a:extLst>
          </p:cNvPr>
          <p:cNvSpPr/>
          <p:nvPr/>
        </p:nvSpPr>
        <p:spPr>
          <a:xfrm>
            <a:off x="-10047" y="1521639"/>
            <a:ext cx="943954" cy="4481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noise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1B7DCC-0B34-AD06-08D6-0B01D2447889}"/>
              </a:ext>
            </a:extLst>
          </p:cNvPr>
          <p:cNvSpPr/>
          <p:nvPr/>
        </p:nvSpPr>
        <p:spPr>
          <a:xfrm>
            <a:off x="-10047" y="3024509"/>
            <a:ext cx="943954" cy="448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labels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ECED8BA-65C0-F67F-FFE6-F38797AB87EE}"/>
              </a:ext>
            </a:extLst>
          </p:cNvPr>
          <p:cNvCxnSpPr>
            <a:cxnSpLocks/>
          </p:cNvCxnSpPr>
          <p:nvPr/>
        </p:nvCxnSpPr>
        <p:spPr>
          <a:xfrm>
            <a:off x="2677783" y="1844910"/>
            <a:ext cx="143274" cy="69080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0C28B00-6DEC-996E-635D-9B8994DC25A9}"/>
              </a:ext>
            </a:extLst>
          </p:cNvPr>
          <p:cNvCxnSpPr>
            <a:cxnSpLocks/>
          </p:cNvCxnSpPr>
          <p:nvPr/>
        </p:nvCxnSpPr>
        <p:spPr>
          <a:xfrm>
            <a:off x="8246008" y="2726093"/>
            <a:ext cx="30993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97065774-F6B4-E302-741F-12F3E1F29826}"/>
              </a:ext>
            </a:extLst>
          </p:cNvPr>
          <p:cNvCxnSpPr>
            <a:cxnSpLocks/>
          </p:cNvCxnSpPr>
          <p:nvPr/>
        </p:nvCxnSpPr>
        <p:spPr>
          <a:xfrm>
            <a:off x="4028243" y="2721649"/>
            <a:ext cx="18330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箭头连接符 385">
            <a:extLst>
              <a:ext uri="{FF2B5EF4-FFF2-40B4-BE49-F238E27FC236}">
                <a16:creationId xmlns:a16="http://schemas.microsoft.com/office/drawing/2014/main" id="{983BA54A-D00D-E398-069F-1E55C69E6024}"/>
              </a:ext>
            </a:extLst>
          </p:cNvPr>
          <p:cNvCxnSpPr>
            <a:cxnSpLocks/>
          </p:cNvCxnSpPr>
          <p:nvPr/>
        </p:nvCxnSpPr>
        <p:spPr>
          <a:xfrm>
            <a:off x="1065942" y="1724189"/>
            <a:ext cx="541807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EB5F0DA3-3ABE-6A98-2C38-907BF62C9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36" y="1461854"/>
            <a:ext cx="2160000" cy="2160000"/>
          </a:xfrm>
          <a:prstGeom prst="rect">
            <a:avLst/>
          </a:prstGeom>
        </p:spPr>
      </p:pic>
      <p:sp>
        <p:nvSpPr>
          <p:cNvPr id="74" name="立方体 73">
            <a:extLst>
              <a:ext uri="{FF2B5EF4-FFF2-40B4-BE49-F238E27FC236}">
                <a16:creationId xmlns:a16="http://schemas.microsoft.com/office/drawing/2014/main" id="{1422CE25-0538-0691-42F9-277CAB22013C}"/>
              </a:ext>
            </a:extLst>
          </p:cNvPr>
          <p:cNvSpPr/>
          <p:nvPr/>
        </p:nvSpPr>
        <p:spPr>
          <a:xfrm>
            <a:off x="2992274" y="2535715"/>
            <a:ext cx="899636" cy="372532"/>
          </a:xfrm>
          <a:prstGeom prst="cube">
            <a:avLst>
              <a:gd name="adj" fmla="val 40909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5295CA98-0E83-245F-73E1-471791B11640}"/>
              </a:ext>
            </a:extLst>
          </p:cNvPr>
          <p:cNvGrpSpPr/>
          <p:nvPr/>
        </p:nvGrpSpPr>
        <p:grpSpPr>
          <a:xfrm>
            <a:off x="7233903" y="1349434"/>
            <a:ext cx="972673" cy="2336973"/>
            <a:chOff x="8771026" y="2022186"/>
            <a:chExt cx="1365264" cy="3280223"/>
          </a:xfrm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056EE74F-5831-2B41-CD49-3A32D05C1500}"/>
                </a:ext>
              </a:extLst>
            </p:cNvPr>
            <p:cNvGrpSpPr/>
            <p:nvPr/>
          </p:nvGrpSpPr>
          <p:grpSpPr>
            <a:xfrm>
              <a:off x="8771026" y="2022186"/>
              <a:ext cx="765597" cy="3280223"/>
              <a:chOff x="3369733" y="1395110"/>
              <a:chExt cx="985832" cy="4018477"/>
            </a:xfrm>
          </p:grpSpPr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1AC84D24-00B7-544D-39ED-E1FBF364736D}"/>
                  </a:ext>
                </a:extLst>
              </p:cNvPr>
              <p:cNvSpPr/>
              <p:nvPr/>
            </p:nvSpPr>
            <p:spPr>
              <a:xfrm>
                <a:off x="3374986" y="1395308"/>
                <a:ext cx="606665" cy="4018279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5447658E-57CF-D018-5A30-8D6A9B851BAF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57" name="任意多边形: 形状 156">
                  <a:extLst>
                    <a:ext uri="{FF2B5EF4-FFF2-40B4-BE49-F238E27FC236}">
                      <a16:creationId xmlns:a16="http://schemas.microsoft.com/office/drawing/2014/main" id="{3E769BC9-3DD1-8EF3-49C9-0E72BFD4F03B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58" name="组合 157">
                  <a:extLst>
                    <a:ext uri="{FF2B5EF4-FFF2-40B4-BE49-F238E27FC236}">
                      <a16:creationId xmlns:a16="http://schemas.microsoft.com/office/drawing/2014/main" id="{A0D9E996-100C-3E3B-D223-D0F2E3AB416C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60" name="矩形 159">
                    <a:extLst>
                      <a:ext uri="{FF2B5EF4-FFF2-40B4-BE49-F238E27FC236}">
                        <a16:creationId xmlns:a16="http://schemas.microsoft.com/office/drawing/2014/main" id="{70B5C846-D239-5AFD-F2FC-A266CA47A8E2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61" name="直接连接符 160">
                    <a:extLst>
                      <a:ext uri="{FF2B5EF4-FFF2-40B4-BE49-F238E27FC236}">
                        <a16:creationId xmlns:a16="http://schemas.microsoft.com/office/drawing/2014/main" id="{ADF40C16-5B59-710B-DF88-6BC7BACA9C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任意多边形: 形状 158">
                  <a:extLst>
                    <a:ext uri="{FF2B5EF4-FFF2-40B4-BE49-F238E27FC236}">
                      <a16:creationId xmlns:a16="http://schemas.microsoft.com/office/drawing/2014/main" id="{21E9F472-E69F-E848-49D9-59458F570756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770A2103-6DBE-E223-C653-A8B34E96219D}"/>
                </a:ext>
              </a:extLst>
            </p:cNvPr>
            <p:cNvGrpSpPr/>
            <p:nvPr/>
          </p:nvGrpSpPr>
          <p:grpSpPr>
            <a:xfrm>
              <a:off x="9081384" y="2022186"/>
              <a:ext cx="1054906" cy="3280223"/>
              <a:chOff x="2997200" y="1395110"/>
              <a:chExt cx="1358365" cy="4018477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B3E07BC9-D40C-A7F9-96DA-D37611214E7D}"/>
                  </a:ext>
                </a:extLst>
              </p:cNvPr>
              <p:cNvGrpSpPr/>
              <p:nvPr/>
            </p:nvGrpSpPr>
            <p:grpSpPr>
              <a:xfrm>
                <a:off x="2997200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46" name="任意多边形: 形状 145">
                  <a:extLst>
                    <a:ext uri="{FF2B5EF4-FFF2-40B4-BE49-F238E27FC236}">
                      <a16:creationId xmlns:a16="http://schemas.microsoft.com/office/drawing/2014/main" id="{CDD8334E-C27A-5DD3-358F-688C1A7F3D8B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B6C3EE0F-17AE-1E5F-3D1A-331F2258D224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49" name="矩形 148">
                    <a:extLst>
                      <a:ext uri="{FF2B5EF4-FFF2-40B4-BE49-F238E27FC236}">
                        <a16:creationId xmlns:a16="http://schemas.microsoft.com/office/drawing/2014/main" id="{5099521C-D744-0B42-02FA-230E2EEC4DF5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50" name="直接连接符 149">
                    <a:extLst>
                      <a:ext uri="{FF2B5EF4-FFF2-40B4-BE49-F238E27FC236}">
                        <a16:creationId xmlns:a16="http://schemas.microsoft.com/office/drawing/2014/main" id="{86E1D88D-3837-CA0A-A02C-31C0D55A96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8" name="任意多边形: 形状 147">
                  <a:extLst>
                    <a:ext uri="{FF2B5EF4-FFF2-40B4-BE49-F238E27FC236}">
                      <a16:creationId xmlns:a16="http://schemas.microsoft.com/office/drawing/2014/main" id="{DF342F12-2E9B-3253-7907-260EA299D877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6A6E0C31-6F8A-871D-8AE2-F2B35EF50615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40" name="任意多边形: 形状 139">
                  <a:extLst>
                    <a:ext uri="{FF2B5EF4-FFF2-40B4-BE49-F238E27FC236}">
                      <a16:creationId xmlns:a16="http://schemas.microsoft.com/office/drawing/2014/main" id="{A529192D-3676-669A-BBCD-4AF1C5E8C4EF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B3051F92-AC3B-B978-5D70-364124F7C7F5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43" name="矩形 142">
                    <a:extLst>
                      <a:ext uri="{FF2B5EF4-FFF2-40B4-BE49-F238E27FC236}">
                        <a16:creationId xmlns:a16="http://schemas.microsoft.com/office/drawing/2014/main" id="{848A659F-C363-52A1-C638-E0494BF9D766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rgbClr val="7030A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44" name="直接连接符 143">
                    <a:extLst>
                      <a:ext uri="{FF2B5EF4-FFF2-40B4-BE49-F238E27FC236}">
                        <a16:creationId xmlns:a16="http://schemas.microsoft.com/office/drawing/2014/main" id="{372FDC02-59B4-3818-9D36-2BBA90780B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2" name="任意多边形: 形状 141">
                  <a:extLst>
                    <a:ext uri="{FF2B5EF4-FFF2-40B4-BE49-F238E27FC236}">
                      <a16:creationId xmlns:a16="http://schemas.microsoft.com/office/drawing/2014/main" id="{EF692CBA-D062-99B5-7CE1-3D0AED880050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0FA48BDE-C482-85A6-E29B-FCB036CE3361}"/>
              </a:ext>
            </a:extLst>
          </p:cNvPr>
          <p:cNvGrpSpPr/>
          <p:nvPr/>
        </p:nvGrpSpPr>
        <p:grpSpPr>
          <a:xfrm>
            <a:off x="8550438" y="1578054"/>
            <a:ext cx="420158" cy="1800176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5B9F42E5-160E-FF61-1408-DE8827E40CC8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AE17746A-60DB-F1B4-B247-99E102D201AB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9BEBE12D-9F9E-013E-A60D-65F403DCF5D1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B3DDADDF-5D5D-3257-F765-8A7DB5CF66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B635B6DD-C29E-C8F0-DF19-013DA7948228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326" name="文本框 325">
            <a:extLst>
              <a:ext uri="{FF2B5EF4-FFF2-40B4-BE49-F238E27FC236}">
                <a16:creationId xmlns:a16="http://schemas.microsoft.com/office/drawing/2014/main" id="{46EBB4AD-98D8-4DCC-D2ED-3A32B7050214}"/>
              </a:ext>
            </a:extLst>
          </p:cNvPr>
          <p:cNvSpPr txBox="1"/>
          <p:nvPr/>
        </p:nvSpPr>
        <p:spPr>
          <a:xfrm>
            <a:off x="2723011" y="1652690"/>
            <a:ext cx="163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+mj-lt"/>
                <a:ea typeface="黑体" panose="02010609060101010101" pitchFamily="49" charset="-122"/>
              </a:rPr>
              <a:t>条件融合层</a:t>
            </a:r>
          </a:p>
        </p:txBody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A7C0DD13-9EB5-C20C-1474-254F125AFA48}"/>
              </a:ext>
            </a:extLst>
          </p:cNvPr>
          <p:cNvSpPr/>
          <p:nvPr/>
        </p:nvSpPr>
        <p:spPr>
          <a:xfrm>
            <a:off x="5695227" y="1383080"/>
            <a:ext cx="335659" cy="2336858"/>
          </a:xfrm>
          <a:custGeom>
            <a:avLst/>
            <a:gdLst>
              <a:gd name="connsiteX0" fmla="*/ 0 w 1117600"/>
              <a:gd name="connsiteY0" fmla="*/ 868680 h 4018280"/>
              <a:gd name="connsiteX1" fmla="*/ 5080 w 1117600"/>
              <a:gd name="connsiteY1" fmla="*/ 4018280 h 4018280"/>
              <a:gd name="connsiteX2" fmla="*/ 1117600 w 1117600"/>
              <a:gd name="connsiteY2" fmla="*/ 3149600 h 4018280"/>
              <a:gd name="connsiteX3" fmla="*/ 1117600 w 1117600"/>
              <a:gd name="connsiteY3" fmla="*/ 0 h 4018280"/>
              <a:gd name="connsiteX4" fmla="*/ 0 w 1117600"/>
              <a:gd name="connsiteY4" fmla="*/ 868680 h 401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7600" h="4018280">
                <a:moveTo>
                  <a:pt x="0" y="868680"/>
                </a:moveTo>
                <a:cubicBezTo>
                  <a:pt x="1693" y="1918547"/>
                  <a:pt x="3387" y="2968413"/>
                  <a:pt x="5080" y="4018280"/>
                </a:cubicBezTo>
                <a:lnTo>
                  <a:pt x="1117600" y="3149600"/>
                </a:lnTo>
                <a:lnTo>
                  <a:pt x="1117600" y="0"/>
                </a:lnTo>
                <a:lnTo>
                  <a:pt x="0" y="86868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F05BD1C4-F225-ECB7-2825-38DB346EC677}"/>
              </a:ext>
            </a:extLst>
          </p:cNvPr>
          <p:cNvGrpSpPr/>
          <p:nvPr/>
        </p:nvGrpSpPr>
        <p:grpSpPr>
          <a:xfrm>
            <a:off x="5692319" y="1382965"/>
            <a:ext cx="545445" cy="2336973"/>
            <a:chOff x="1193800" y="1970843"/>
            <a:chExt cx="1816100" cy="4018477"/>
          </a:xfrm>
        </p:grpSpPr>
        <p:sp>
          <p:nvSpPr>
            <p:cNvPr id="353" name="任意多边形: 形状 352">
              <a:extLst>
                <a:ext uri="{FF2B5EF4-FFF2-40B4-BE49-F238E27FC236}">
                  <a16:creationId xmlns:a16="http://schemas.microsoft.com/office/drawing/2014/main" id="{ADB3CFF7-A592-F5D6-B1FE-33BC1718B78F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54" name="组合 353">
              <a:extLst>
                <a:ext uri="{FF2B5EF4-FFF2-40B4-BE49-F238E27FC236}">
                  <a16:creationId xmlns:a16="http://schemas.microsoft.com/office/drawing/2014/main" id="{8C29C19A-E455-6E8C-D63C-B1C3375CA70B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356" name="矩形 355">
                <a:extLst>
                  <a:ext uri="{FF2B5EF4-FFF2-40B4-BE49-F238E27FC236}">
                    <a16:creationId xmlns:a16="http://schemas.microsoft.com/office/drawing/2014/main" id="{AFA14684-5623-A824-F0A5-8AD1DF1F7043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C0C27A2B-6CA4-9E02-06AE-B61CD6A778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5" name="任意多边形: 形状 354">
              <a:extLst>
                <a:ext uri="{FF2B5EF4-FFF2-40B4-BE49-F238E27FC236}">
                  <a16:creationId xmlns:a16="http://schemas.microsoft.com/office/drawing/2014/main" id="{D0222E9A-326C-DA09-FC64-B62D9FCAAFED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1BB78CA6-2212-EE57-1474-D512FF4B3720}"/>
              </a:ext>
            </a:extLst>
          </p:cNvPr>
          <p:cNvGrpSpPr/>
          <p:nvPr/>
        </p:nvGrpSpPr>
        <p:grpSpPr>
          <a:xfrm>
            <a:off x="5913432" y="1382965"/>
            <a:ext cx="751561" cy="2336973"/>
            <a:chOff x="2997200" y="1395110"/>
            <a:chExt cx="1358365" cy="4018477"/>
          </a:xfrm>
        </p:grpSpPr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CF0685AA-EB0F-B847-2E7A-0935B7C44411}"/>
                </a:ext>
              </a:extLst>
            </p:cNvPr>
            <p:cNvGrpSpPr/>
            <p:nvPr/>
          </p:nvGrpSpPr>
          <p:grpSpPr>
            <a:xfrm>
              <a:off x="2997200" y="1395110"/>
              <a:ext cx="985832" cy="4018477"/>
              <a:chOff x="1193800" y="1970843"/>
              <a:chExt cx="1816100" cy="4018477"/>
            </a:xfrm>
          </p:grpSpPr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C8F7452A-343A-D5D0-8084-AFF93D7E0DAB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346" name="组合 345">
                <a:extLst>
                  <a:ext uri="{FF2B5EF4-FFF2-40B4-BE49-F238E27FC236}">
                    <a16:creationId xmlns:a16="http://schemas.microsoft.com/office/drawing/2014/main" id="{0FFD3073-B3AD-34CD-C9E6-B5D08AFC6C4B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348" name="矩形 347">
                  <a:extLst>
                    <a:ext uri="{FF2B5EF4-FFF2-40B4-BE49-F238E27FC236}">
                      <a16:creationId xmlns:a16="http://schemas.microsoft.com/office/drawing/2014/main" id="{42B52CD6-7850-1A9A-AFA7-6DAE58DB3CBF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8" cy="315157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349" name="直接连接符 348">
                  <a:extLst>
                    <a:ext uri="{FF2B5EF4-FFF2-40B4-BE49-F238E27FC236}">
                      <a16:creationId xmlns:a16="http://schemas.microsoft.com/office/drawing/2014/main" id="{8734F3CB-280D-75AE-F465-8570A91F3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E93ECE99-A9FC-DA4B-6689-E14102B65AC4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C447B001-3D30-66F0-FDEA-B30562A1015A}"/>
                </a:ext>
              </a:extLst>
            </p:cNvPr>
            <p:cNvGrpSpPr/>
            <p:nvPr/>
          </p:nvGrpSpPr>
          <p:grpSpPr>
            <a:xfrm>
              <a:off x="3369733" y="1395110"/>
              <a:ext cx="985832" cy="4018477"/>
              <a:chOff x="1193800" y="1970843"/>
              <a:chExt cx="1816100" cy="4018477"/>
            </a:xfrm>
          </p:grpSpPr>
          <p:sp>
            <p:nvSpPr>
              <p:cNvPr id="340" name="任意多边形: 形状 339">
                <a:extLst>
                  <a:ext uri="{FF2B5EF4-FFF2-40B4-BE49-F238E27FC236}">
                    <a16:creationId xmlns:a16="http://schemas.microsoft.com/office/drawing/2014/main" id="{3D116036-7A17-3A0F-D9FD-1B7189A2F4F2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0D59FADA-0398-5F20-4DD5-30C3C0319B3A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343" name="矩形 342">
                  <a:extLst>
                    <a:ext uri="{FF2B5EF4-FFF2-40B4-BE49-F238E27FC236}">
                      <a16:creationId xmlns:a16="http://schemas.microsoft.com/office/drawing/2014/main" id="{D7FCA41A-95D2-25CB-02C0-4ABD58CF7197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8" cy="3151573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344" name="直接连接符 343">
                  <a:extLst>
                    <a:ext uri="{FF2B5EF4-FFF2-40B4-BE49-F238E27FC236}">
                      <a16:creationId xmlns:a16="http://schemas.microsoft.com/office/drawing/2014/main" id="{6CF0AECF-3E39-2EFF-9ABA-76ABD1EBC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34A7C3B3-6FEA-69A9-2305-0C9ADB9CB3E9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id="{C3C1AC73-E5A5-FEAB-E00E-39BB7CF7C87C}"/>
              </a:ext>
            </a:extLst>
          </p:cNvPr>
          <p:cNvGrpSpPr/>
          <p:nvPr/>
        </p:nvGrpSpPr>
        <p:grpSpPr>
          <a:xfrm>
            <a:off x="4209770" y="936310"/>
            <a:ext cx="713538" cy="3057170"/>
            <a:chOff x="1193800" y="1970843"/>
            <a:chExt cx="1816100" cy="4018477"/>
          </a:xfrm>
        </p:grpSpPr>
        <p:sp>
          <p:nvSpPr>
            <p:cNvPr id="377" name="任意多边形: 形状 376">
              <a:extLst>
                <a:ext uri="{FF2B5EF4-FFF2-40B4-BE49-F238E27FC236}">
                  <a16:creationId xmlns:a16="http://schemas.microsoft.com/office/drawing/2014/main" id="{3431EF0F-2738-80BF-2437-03AC4671C934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78" name="组合 377">
              <a:extLst>
                <a:ext uri="{FF2B5EF4-FFF2-40B4-BE49-F238E27FC236}">
                  <a16:creationId xmlns:a16="http://schemas.microsoft.com/office/drawing/2014/main" id="{E0B501B0-AF7E-2084-E30F-F16A292D95D0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48049E0E-2919-7163-C4B8-E44D371D0FB7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EAB8AF97-A3AD-FF9E-9EE6-616AADF3F3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" name="任意多边形: 形状 378">
              <a:extLst>
                <a:ext uri="{FF2B5EF4-FFF2-40B4-BE49-F238E27FC236}">
                  <a16:creationId xmlns:a16="http://schemas.microsoft.com/office/drawing/2014/main" id="{936A2EBD-E8B9-ACF7-D085-0D038739B0C3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71" name="组合 370">
            <a:extLst>
              <a:ext uri="{FF2B5EF4-FFF2-40B4-BE49-F238E27FC236}">
                <a16:creationId xmlns:a16="http://schemas.microsoft.com/office/drawing/2014/main" id="{CE9D27F7-8AE8-16CF-6233-284832652FF1}"/>
              </a:ext>
            </a:extLst>
          </p:cNvPr>
          <p:cNvGrpSpPr/>
          <p:nvPr/>
        </p:nvGrpSpPr>
        <p:grpSpPr>
          <a:xfrm>
            <a:off x="4568377" y="1690017"/>
            <a:ext cx="414310" cy="1775118"/>
            <a:chOff x="1193800" y="1970843"/>
            <a:chExt cx="1816100" cy="4018477"/>
          </a:xfrm>
        </p:grpSpPr>
        <p:sp>
          <p:nvSpPr>
            <p:cNvPr id="372" name="任意多边形: 形状 371">
              <a:extLst>
                <a:ext uri="{FF2B5EF4-FFF2-40B4-BE49-F238E27FC236}">
                  <a16:creationId xmlns:a16="http://schemas.microsoft.com/office/drawing/2014/main" id="{5E9BCCFB-83FF-46D0-847F-6905A9E84595}"/>
                </a:ext>
              </a:extLst>
            </p:cNvPr>
            <p:cNvSpPr/>
            <p:nvPr/>
          </p:nvSpPr>
          <p:spPr>
            <a:xfrm>
              <a:off x="1889760" y="1971040"/>
              <a:ext cx="1117599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73" name="组合 372">
              <a:extLst>
                <a:ext uri="{FF2B5EF4-FFF2-40B4-BE49-F238E27FC236}">
                  <a16:creationId xmlns:a16="http://schemas.microsoft.com/office/drawing/2014/main" id="{1912F770-DF07-D3B1-0D6E-69B3C7C8402E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6"/>
              <a:chOff x="1198486" y="1970843"/>
              <a:chExt cx="1118587" cy="4012706"/>
            </a:xfrm>
          </p:grpSpPr>
          <p:sp>
            <p:nvSpPr>
              <p:cNvPr id="375" name="矩形 374">
                <a:extLst>
                  <a:ext uri="{FF2B5EF4-FFF2-40B4-BE49-F238E27FC236}">
                    <a16:creationId xmlns:a16="http://schemas.microsoft.com/office/drawing/2014/main" id="{1188AE40-1766-6B28-C1E1-272ABA835367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9" cy="315157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52F20E4C-3145-8249-4113-A5205DEB49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4" name="任意多边形: 形状 373">
              <a:extLst>
                <a:ext uri="{FF2B5EF4-FFF2-40B4-BE49-F238E27FC236}">
                  <a16:creationId xmlns:a16="http://schemas.microsoft.com/office/drawing/2014/main" id="{159B0894-9043-0E39-AD9C-2358ED7B1348}"/>
                </a:ext>
              </a:extLst>
            </p:cNvPr>
            <p:cNvSpPr/>
            <p:nvPr/>
          </p:nvSpPr>
          <p:spPr>
            <a:xfrm>
              <a:off x="1193800" y="1971676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390" name="直接箭头连接符 389">
            <a:extLst>
              <a:ext uri="{FF2B5EF4-FFF2-40B4-BE49-F238E27FC236}">
                <a16:creationId xmlns:a16="http://schemas.microsoft.com/office/drawing/2014/main" id="{E987147F-4F5A-F87F-40E8-8F3F53945F60}"/>
              </a:ext>
            </a:extLst>
          </p:cNvPr>
          <p:cNvCxnSpPr>
            <a:cxnSpLocks/>
          </p:cNvCxnSpPr>
          <p:nvPr/>
        </p:nvCxnSpPr>
        <p:spPr>
          <a:xfrm>
            <a:off x="984081" y="3233079"/>
            <a:ext cx="36126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接箭头连接符 405">
            <a:extLst>
              <a:ext uri="{FF2B5EF4-FFF2-40B4-BE49-F238E27FC236}">
                <a16:creationId xmlns:a16="http://schemas.microsoft.com/office/drawing/2014/main" id="{35ABCC91-5907-2543-3945-BDE101EFA5E9}"/>
              </a:ext>
            </a:extLst>
          </p:cNvPr>
          <p:cNvCxnSpPr>
            <a:cxnSpLocks/>
          </p:cNvCxnSpPr>
          <p:nvPr/>
        </p:nvCxnSpPr>
        <p:spPr>
          <a:xfrm>
            <a:off x="6733811" y="2732443"/>
            <a:ext cx="250197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直接箭头连接符 468">
            <a:extLst>
              <a:ext uri="{FF2B5EF4-FFF2-40B4-BE49-F238E27FC236}">
                <a16:creationId xmlns:a16="http://schemas.microsoft.com/office/drawing/2014/main" id="{E6DD5812-ACD3-4608-4FC6-E7D199683516}"/>
              </a:ext>
            </a:extLst>
          </p:cNvPr>
          <p:cNvCxnSpPr>
            <a:cxnSpLocks/>
          </p:cNvCxnSpPr>
          <p:nvPr/>
        </p:nvCxnSpPr>
        <p:spPr>
          <a:xfrm>
            <a:off x="4971542" y="2731608"/>
            <a:ext cx="454023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15DC8465-74D0-FB63-BB2B-9254E3F32ED4}"/>
              </a:ext>
            </a:extLst>
          </p:cNvPr>
          <p:cNvGrpSpPr/>
          <p:nvPr/>
        </p:nvGrpSpPr>
        <p:grpSpPr>
          <a:xfrm>
            <a:off x="7435214" y="4634135"/>
            <a:ext cx="4531643" cy="2020069"/>
            <a:chOff x="1935319" y="3780668"/>
            <a:chExt cx="4531643" cy="2020069"/>
          </a:xfrm>
        </p:grpSpPr>
        <p:sp>
          <p:nvSpPr>
            <p:cNvPr id="327" name="文本框 326">
              <a:extLst>
                <a:ext uri="{FF2B5EF4-FFF2-40B4-BE49-F238E27FC236}">
                  <a16:creationId xmlns:a16="http://schemas.microsoft.com/office/drawing/2014/main" id="{54D40F8A-E345-62F7-9EF1-77BC3B525E6C}"/>
                </a:ext>
              </a:extLst>
            </p:cNvPr>
            <p:cNvSpPr txBox="1"/>
            <p:nvPr/>
          </p:nvSpPr>
          <p:spPr>
            <a:xfrm>
              <a:off x="2603104" y="3865948"/>
              <a:ext cx="994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线性层</a:t>
              </a:r>
            </a:p>
          </p:txBody>
        </p:sp>
        <p:sp>
          <p:nvSpPr>
            <p:cNvPr id="328" name="文本框 327">
              <a:extLst>
                <a:ext uri="{FF2B5EF4-FFF2-40B4-BE49-F238E27FC236}">
                  <a16:creationId xmlns:a16="http://schemas.microsoft.com/office/drawing/2014/main" id="{A4C18A0E-340A-A030-A602-B04DEA9ECE44}"/>
                </a:ext>
              </a:extLst>
            </p:cNvPr>
            <p:cNvSpPr txBox="1"/>
            <p:nvPr/>
          </p:nvSpPr>
          <p:spPr>
            <a:xfrm>
              <a:off x="2589863" y="4354530"/>
              <a:ext cx="1583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条件批归一化</a:t>
              </a: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C677E58F-DA64-2A98-44CE-E57BE4244035}"/>
                </a:ext>
              </a:extLst>
            </p:cNvPr>
            <p:cNvSpPr txBox="1"/>
            <p:nvPr/>
          </p:nvSpPr>
          <p:spPr>
            <a:xfrm>
              <a:off x="4883873" y="3780668"/>
              <a:ext cx="1583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Reshape 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操作</a:t>
              </a:r>
            </a:p>
          </p:txBody>
        </p:sp>
        <p:sp>
          <p:nvSpPr>
            <p:cNvPr id="472" name="立方体 471">
              <a:extLst>
                <a:ext uri="{FF2B5EF4-FFF2-40B4-BE49-F238E27FC236}">
                  <a16:creationId xmlns:a16="http://schemas.microsoft.com/office/drawing/2014/main" id="{2178626C-C221-FAF9-1E66-B678544D489E}"/>
                </a:ext>
              </a:extLst>
            </p:cNvPr>
            <p:cNvSpPr/>
            <p:nvPr/>
          </p:nvSpPr>
          <p:spPr>
            <a:xfrm>
              <a:off x="1935319" y="3874171"/>
              <a:ext cx="467650" cy="369321"/>
            </a:xfrm>
            <a:prstGeom prst="cub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3" name="立方体 472">
              <a:extLst>
                <a:ext uri="{FF2B5EF4-FFF2-40B4-BE49-F238E27FC236}">
                  <a16:creationId xmlns:a16="http://schemas.microsoft.com/office/drawing/2014/main" id="{ACD8ED9C-A6CF-16E9-E4C8-C6F10D40708E}"/>
                </a:ext>
              </a:extLst>
            </p:cNvPr>
            <p:cNvSpPr/>
            <p:nvPr/>
          </p:nvSpPr>
          <p:spPr>
            <a:xfrm>
              <a:off x="1935319" y="4383670"/>
              <a:ext cx="467650" cy="369321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5" name="立方体 474">
              <a:extLst>
                <a:ext uri="{FF2B5EF4-FFF2-40B4-BE49-F238E27FC236}">
                  <a16:creationId xmlns:a16="http://schemas.microsoft.com/office/drawing/2014/main" id="{01F4AEF1-9526-DF9D-9017-76E6CBBB5710}"/>
                </a:ext>
              </a:extLst>
            </p:cNvPr>
            <p:cNvSpPr/>
            <p:nvPr/>
          </p:nvSpPr>
          <p:spPr>
            <a:xfrm>
              <a:off x="1935319" y="4905746"/>
              <a:ext cx="467650" cy="369321"/>
            </a:xfrm>
            <a:prstGeom prst="cub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6" name="立方体 475">
              <a:extLst>
                <a:ext uri="{FF2B5EF4-FFF2-40B4-BE49-F238E27FC236}">
                  <a16:creationId xmlns:a16="http://schemas.microsoft.com/office/drawing/2014/main" id="{812564DD-0F98-B47D-19BF-CE2EDDAAE0A2}"/>
                </a:ext>
              </a:extLst>
            </p:cNvPr>
            <p:cNvSpPr/>
            <p:nvPr/>
          </p:nvSpPr>
          <p:spPr>
            <a:xfrm>
              <a:off x="4231986" y="3879653"/>
              <a:ext cx="467650" cy="369321"/>
            </a:xfrm>
            <a:prstGeom prst="cub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7" name="立方体 476">
              <a:extLst>
                <a:ext uri="{FF2B5EF4-FFF2-40B4-BE49-F238E27FC236}">
                  <a16:creationId xmlns:a16="http://schemas.microsoft.com/office/drawing/2014/main" id="{80D8C008-CBE9-A348-B11F-9E3E2058858B}"/>
                </a:ext>
              </a:extLst>
            </p:cNvPr>
            <p:cNvSpPr/>
            <p:nvPr/>
          </p:nvSpPr>
          <p:spPr>
            <a:xfrm>
              <a:off x="4231986" y="4389152"/>
              <a:ext cx="467650" cy="369321"/>
            </a:xfrm>
            <a:prstGeom prst="cub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8" name="立方体 477">
              <a:extLst>
                <a:ext uri="{FF2B5EF4-FFF2-40B4-BE49-F238E27FC236}">
                  <a16:creationId xmlns:a16="http://schemas.microsoft.com/office/drawing/2014/main" id="{ADA941F2-38D3-AD43-5720-D42ACBC63948}"/>
                </a:ext>
              </a:extLst>
            </p:cNvPr>
            <p:cNvSpPr/>
            <p:nvPr/>
          </p:nvSpPr>
          <p:spPr>
            <a:xfrm>
              <a:off x="4231986" y="4882672"/>
              <a:ext cx="467650" cy="369321"/>
            </a:xfrm>
            <a:prstGeom prst="cub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79" name="文本框 478">
              <a:extLst>
                <a:ext uri="{FF2B5EF4-FFF2-40B4-BE49-F238E27FC236}">
                  <a16:creationId xmlns:a16="http://schemas.microsoft.com/office/drawing/2014/main" id="{4AE1A221-9F63-C69A-A7B7-5730D384AAE9}"/>
                </a:ext>
              </a:extLst>
            </p:cNvPr>
            <p:cNvSpPr txBox="1"/>
            <p:nvPr/>
          </p:nvSpPr>
          <p:spPr>
            <a:xfrm>
              <a:off x="2589863" y="4843370"/>
              <a:ext cx="1655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Leaky Relu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F7F57C79-6131-7033-2BCF-2DBD5388118F}"/>
                </a:ext>
              </a:extLst>
            </p:cNvPr>
            <p:cNvSpPr txBox="1"/>
            <p:nvPr/>
          </p:nvSpPr>
          <p:spPr>
            <a:xfrm>
              <a:off x="4883873" y="4352139"/>
              <a:ext cx="1583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卷积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(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转置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)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层</a:t>
              </a:r>
            </a:p>
          </p:txBody>
        </p:sp>
        <p:sp>
          <p:nvSpPr>
            <p:cNvPr id="481" name="文本框 480">
              <a:extLst>
                <a:ext uri="{FF2B5EF4-FFF2-40B4-BE49-F238E27FC236}">
                  <a16:creationId xmlns:a16="http://schemas.microsoft.com/office/drawing/2014/main" id="{BB8D78B6-BB32-E5FA-ACD7-8FC45F1A8C5D}"/>
                </a:ext>
              </a:extLst>
            </p:cNvPr>
            <p:cNvSpPr txBox="1"/>
            <p:nvPr/>
          </p:nvSpPr>
          <p:spPr>
            <a:xfrm>
              <a:off x="4883874" y="4879110"/>
              <a:ext cx="114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添加噪声</a:t>
              </a:r>
            </a:p>
          </p:txBody>
        </p:sp>
        <p:sp>
          <p:nvSpPr>
            <p:cNvPr id="497" name="立方体 496">
              <a:extLst>
                <a:ext uri="{FF2B5EF4-FFF2-40B4-BE49-F238E27FC236}">
                  <a16:creationId xmlns:a16="http://schemas.microsoft.com/office/drawing/2014/main" id="{CC4222E6-471F-BCCB-167E-4ADF6D45365F}"/>
                </a:ext>
              </a:extLst>
            </p:cNvPr>
            <p:cNvSpPr/>
            <p:nvPr/>
          </p:nvSpPr>
          <p:spPr>
            <a:xfrm>
              <a:off x="1935319" y="5431416"/>
              <a:ext cx="467650" cy="369321"/>
            </a:xfrm>
            <a:prstGeom prst="cub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98" name="文本框 497">
              <a:extLst>
                <a:ext uri="{FF2B5EF4-FFF2-40B4-BE49-F238E27FC236}">
                  <a16:creationId xmlns:a16="http://schemas.microsoft.com/office/drawing/2014/main" id="{B0CEC97E-05A4-554F-8340-615ECFCC7321}"/>
                </a:ext>
              </a:extLst>
            </p:cNvPr>
            <p:cNvSpPr txBox="1"/>
            <p:nvPr/>
          </p:nvSpPr>
          <p:spPr>
            <a:xfrm>
              <a:off x="2589863" y="5369040"/>
              <a:ext cx="1655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Tanh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492" name="直接箭头连接符 491">
            <a:extLst>
              <a:ext uri="{FF2B5EF4-FFF2-40B4-BE49-F238E27FC236}">
                <a16:creationId xmlns:a16="http://schemas.microsoft.com/office/drawing/2014/main" id="{A25F9CBF-6F6B-576C-6188-EBAF8EA62EC0}"/>
              </a:ext>
            </a:extLst>
          </p:cNvPr>
          <p:cNvCxnSpPr>
            <a:cxnSpLocks/>
          </p:cNvCxnSpPr>
          <p:nvPr/>
        </p:nvCxnSpPr>
        <p:spPr>
          <a:xfrm>
            <a:off x="9319699" y="2726093"/>
            <a:ext cx="392192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文本框 498">
            <a:extLst>
              <a:ext uri="{FF2B5EF4-FFF2-40B4-BE49-F238E27FC236}">
                <a16:creationId xmlns:a16="http://schemas.microsoft.com/office/drawing/2014/main" id="{7EBCC265-CDDA-B68F-289A-78B8E5DC30F4}"/>
              </a:ext>
            </a:extLst>
          </p:cNvPr>
          <p:cNvSpPr txBox="1"/>
          <p:nvPr/>
        </p:nvSpPr>
        <p:spPr>
          <a:xfrm>
            <a:off x="4053643" y="4097614"/>
            <a:ext cx="537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512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2F5DAF0-A6D8-A795-F727-5BDFC2D66B45}"/>
              </a:ext>
            </a:extLst>
          </p:cNvPr>
          <p:cNvGrpSpPr/>
          <p:nvPr/>
        </p:nvGrpSpPr>
        <p:grpSpPr>
          <a:xfrm>
            <a:off x="8811803" y="1963537"/>
            <a:ext cx="240216" cy="1029210"/>
            <a:chOff x="1193800" y="1970843"/>
            <a:chExt cx="1816100" cy="4018477"/>
          </a:xfrm>
          <a:solidFill>
            <a:schemeClr val="accent4">
              <a:lumMod val="75000"/>
            </a:schemeClr>
          </a:solidFill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A9299E72-E29B-B92D-C26F-774970389366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17FCA23-035A-CBEB-829E-568691111AC3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550B6C4F-9C8E-2397-61B7-F57E7DC9B47D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116ACE6-990F-686D-AE6B-F1BD626FFF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9A3BBC6F-96DA-1378-06C9-DF3731F395B4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3FCD0E6D-1195-5AFD-2A85-85DE9F04F132}"/>
              </a:ext>
            </a:extLst>
          </p:cNvPr>
          <p:cNvSpPr txBox="1"/>
          <p:nvPr/>
        </p:nvSpPr>
        <p:spPr>
          <a:xfrm>
            <a:off x="2801652" y="2980414"/>
            <a:ext cx="1298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600" b="1" kern="1200" dirty="0">
                <a:solidFill>
                  <a:schemeClr val="tx1"/>
                </a:solidFill>
                <a:effectLst/>
                <a:latin typeface="+mj-lt"/>
                <a:ea typeface="黑体" panose="02010609060101010101" pitchFamily="49" charset="-122"/>
              </a:rPr>
              <a:t>0.6 * labels + 0.4 * noise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5D93B1-6655-10D6-4447-15FC26E8FA0A}"/>
              </a:ext>
            </a:extLst>
          </p:cNvPr>
          <p:cNvSpPr txBox="1"/>
          <p:nvPr/>
        </p:nvSpPr>
        <p:spPr>
          <a:xfrm>
            <a:off x="2090044" y="3762686"/>
            <a:ext cx="5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0.2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50AAA-5928-C915-E9F2-A7953FBA6831}"/>
              </a:ext>
            </a:extLst>
          </p:cNvPr>
          <p:cNvSpPr/>
          <p:nvPr/>
        </p:nvSpPr>
        <p:spPr>
          <a:xfrm>
            <a:off x="2928207" y="2401256"/>
            <a:ext cx="1014388" cy="5883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58294-580E-6042-25A4-E2EDE769AB3C}"/>
              </a:ext>
            </a:extLst>
          </p:cNvPr>
          <p:cNvSpPr txBox="1"/>
          <p:nvPr/>
        </p:nvSpPr>
        <p:spPr>
          <a:xfrm>
            <a:off x="1803554" y="5399217"/>
            <a:ext cx="3137220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创新点</a:t>
            </a:r>
            <a:r>
              <a:rPr lang="en-US" altLang="zh-CN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加权调制噪声和条件的强度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B0FC34-85A4-1323-C55D-3ECD5AE8B14C}"/>
              </a:ext>
            </a:extLst>
          </p:cNvPr>
          <p:cNvSpPr/>
          <p:nvPr/>
        </p:nvSpPr>
        <p:spPr>
          <a:xfrm>
            <a:off x="1757447" y="5274715"/>
            <a:ext cx="3175506" cy="125305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5351C62-BFAF-E161-A58E-90EF971088CC}"/>
              </a:ext>
            </a:extLst>
          </p:cNvPr>
          <p:cNvGrpSpPr/>
          <p:nvPr/>
        </p:nvGrpSpPr>
        <p:grpSpPr>
          <a:xfrm>
            <a:off x="-1887" y="-44371"/>
            <a:ext cx="12192000" cy="597706"/>
            <a:chOff x="0" y="-69459"/>
            <a:chExt cx="12192000" cy="59770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4DA5698-2701-7BDB-4329-EC7FA76AA66C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4" name="jwc_logo">
              <a:extLst>
                <a:ext uri="{FF2B5EF4-FFF2-40B4-BE49-F238E27FC236}">
                  <a16:creationId xmlns:a16="http://schemas.microsoft.com/office/drawing/2014/main" id="{2008BC2B-976F-7603-DE65-14842B22EC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26" name="Freeform 34">
                <a:extLst>
                  <a:ext uri="{FF2B5EF4-FFF2-40B4-BE49-F238E27FC236}">
                    <a16:creationId xmlns:a16="http://schemas.microsoft.com/office/drawing/2014/main" id="{84978114-B926-2D1F-D2C3-5D84F5D036A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35">
                <a:extLst>
                  <a:ext uri="{FF2B5EF4-FFF2-40B4-BE49-F238E27FC236}">
                    <a16:creationId xmlns:a16="http://schemas.microsoft.com/office/drawing/2014/main" id="{B2BD2E80-8E91-2792-6014-1D324BBFD82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14EF285C-AAFC-E268-475A-A8FE5EEFD65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ADC9DB41-C8BD-8532-28D9-407DD01DE3A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EC89966B-7B34-4B79-1EDD-656D3C618AD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39">
                <a:extLst>
                  <a:ext uri="{FF2B5EF4-FFF2-40B4-BE49-F238E27FC236}">
                    <a16:creationId xmlns:a16="http://schemas.microsoft.com/office/drawing/2014/main" id="{ABEBE955-DEC9-01FA-A73D-D0C590E38A8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Freeform 40">
                <a:extLst>
                  <a:ext uri="{FF2B5EF4-FFF2-40B4-BE49-F238E27FC236}">
                    <a16:creationId xmlns:a16="http://schemas.microsoft.com/office/drawing/2014/main" id="{B2FCEAC6-86AD-451E-39B9-C670DA02AD8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41">
                <a:extLst>
                  <a:ext uri="{FF2B5EF4-FFF2-40B4-BE49-F238E27FC236}">
                    <a16:creationId xmlns:a16="http://schemas.microsoft.com/office/drawing/2014/main" id="{82264A56-47B3-F437-C6F0-BE7573573BE4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42">
                <a:extLst>
                  <a:ext uri="{FF2B5EF4-FFF2-40B4-BE49-F238E27FC236}">
                    <a16:creationId xmlns:a16="http://schemas.microsoft.com/office/drawing/2014/main" id="{6ECF0DB4-1DBC-E8A0-B929-B68B3B427CC0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3">
                <a:extLst>
                  <a:ext uri="{FF2B5EF4-FFF2-40B4-BE49-F238E27FC236}">
                    <a16:creationId xmlns:a16="http://schemas.microsoft.com/office/drawing/2014/main" id="{7E031D8A-32FD-8234-D478-DE82498F7ECD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19A88EB9-CC0E-AA84-65A6-CAAA14042B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5">
                <a:extLst>
                  <a:ext uri="{FF2B5EF4-FFF2-40B4-BE49-F238E27FC236}">
                    <a16:creationId xmlns:a16="http://schemas.microsoft.com/office/drawing/2014/main" id="{84D34032-1351-7B23-DC9A-44DF39A69DC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6">
                <a:extLst>
                  <a:ext uri="{FF2B5EF4-FFF2-40B4-BE49-F238E27FC236}">
                    <a16:creationId xmlns:a16="http://schemas.microsoft.com/office/drawing/2014/main" id="{9F014FBB-480A-28EE-7095-DC524AE8CA5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47">
                <a:extLst>
                  <a:ext uri="{FF2B5EF4-FFF2-40B4-BE49-F238E27FC236}">
                    <a16:creationId xmlns:a16="http://schemas.microsoft.com/office/drawing/2014/main" id="{C08AE3BF-8287-317D-3689-D56B1B4B016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48">
                <a:extLst>
                  <a:ext uri="{FF2B5EF4-FFF2-40B4-BE49-F238E27FC236}">
                    <a16:creationId xmlns:a16="http://schemas.microsoft.com/office/drawing/2014/main" id="{C4D6D0D4-2B8C-0082-A989-C8A2095C487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9">
                <a:extLst>
                  <a:ext uri="{FF2B5EF4-FFF2-40B4-BE49-F238E27FC236}">
                    <a16:creationId xmlns:a16="http://schemas.microsoft.com/office/drawing/2014/main" id="{FD4934A7-22C7-04FF-2B4A-5AEA4B2AFCF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50">
                <a:extLst>
                  <a:ext uri="{FF2B5EF4-FFF2-40B4-BE49-F238E27FC236}">
                    <a16:creationId xmlns:a16="http://schemas.microsoft.com/office/drawing/2014/main" id="{721591F6-B671-30E2-A9A6-27839528E17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51">
                <a:extLst>
                  <a:ext uri="{FF2B5EF4-FFF2-40B4-BE49-F238E27FC236}">
                    <a16:creationId xmlns:a16="http://schemas.microsoft.com/office/drawing/2014/main" id="{B06148C9-A9CD-0706-36EB-2A383F0DC02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52">
                <a:extLst>
                  <a:ext uri="{FF2B5EF4-FFF2-40B4-BE49-F238E27FC236}">
                    <a16:creationId xmlns:a16="http://schemas.microsoft.com/office/drawing/2014/main" id="{E2C02E23-4945-5571-735C-39119F0CF4B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3444992-06C7-926F-E7C2-EA4AB01F5BFA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DC-CGAN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生成器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B92F2B-F497-3BFC-A18D-0C8440A11056}"/>
              </a:ext>
            </a:extLst>
          </p:cNvPr>
          <p:cNvGrpSpPr/>
          <p:nvPr/>
        </p:nvGrpSpPr>
        <p:grpSpPr>
          <a:xfrm>
            <a:off x="1691994" y="2535939"/>
            <a:ext cx="713538" cy="1289711"/>
            <a:chOff x="1193800" y="1970843"/>
            <a:chExt cx="1816100" cy="4018477"/>
          </a:xfrm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F48033A7-2EF6-47CF-3706-3C47C029B609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84EDB21-E834-C955-192E-EF6691742CF1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7EA98A3-2FBB-6BA3-40DF-177776EF7B10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D01DCAE-1293-1E08-C2D1-C40594EEF7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4D705C32-D321-232C-A08B-F3AEFFF2BAFC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4488B05-374B-C23A-99BC-EEDFC6C5F239}"/>
              </a:ext>
            </a:extLst>
          </p:cNvPr>
          <p:cNvGrpSpPr/>
          <p:nvPr/>
        </p:nvGrpSpPr>
        <p:grpSpPr>
          <a:xfrm>
            <a:off x="1972022" y="2741538"/>
            <a:ext cx="735786" cy="971041"/>
            <a:chOff x="3369733" y="1395110"/>
            <a:chExt cx="1350184" cy="4018477"/>
          </a:xfrm>
        </p:grpSpPr>
        <p:sp>
          <p:nvSpPr>
            <p:cNvPr id="448" name="任意多边形: 形状 447">
              <a:extLst>
                <a:ext uri="{FF2B5EF4-FFF2-40B4-BE49-F238E27FC236}">
                  <a16:creationId xmlns:a16="http://schemas.microsoft.com/office/drawing/2014/main" id="{3F05009F-518A-800A-B0E5-1F6079ECBA51}"/>
                </a:ext>
              </a:extLst>
            </p:cNvPr>
            <p:cNvSpPr/>
            <p:nvPr/>
          </p:nvSpPr>
          <p:spPr>
            <a:xfrm>
              <a:off x="3374987" y="1395307"/>
              <a:ext cx="606666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49" name="组合 448">
              <a:extLst>
                <a:ext uri="{FF2B5EF4-FFF2-40B4-BE49-F238E27FC236}">
                  <a16:creationId xmlns:a16="http://schemas.microsoft.com/office/drawing/2014/main" id="{0C63F40B-C488-0E4C-C37D-8DE7A3EB50CD}"/>
                </a:ext>
              </a:extLst>
            </p:cNvPr>
            <p:cNvGrpSpPr/>
            <p:nvPr/>
          </p:nvGrpSpPr>
          <p:grpSpPr>
            <a:xfrm>
              <a:off x="3369733" y="1395110"/>
              <a:ext cx="985832" cy="4018477"/>
              <a:chOff x="1193800" y="1970843"/>
              <a:chExt cx="1816100" cy="4018477"/>
            </a:xfrm>
          </p:grpSpPr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04F898AC-7341-B6CA-06D7-CF266B7F91C2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457" name="组合 456">
                <a:extLst>
                  <a:ext uri="{FF2B5EF4-FFF2-40B4-BE49-F238E27FC236}">
                    <a16:creationId xmlns:a16="http://schemas.microsoft.com/office/drawing/2014/main" id="{0A27184A-4D65-D348-A12A-BE3AA9CCE17B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459" name="矩形 458">
                  <a:extLst>
                    <a:ext uri="{FF2B5EF4-FFF2-40B4-BE49-F238E27FC236}">
                      <a16:creationId xmlns:a16="http://schemas.microsoft.com/office/drawing/2014/main" id="{ABF9F127-35F9-2432-3065-789A4C5E7BD2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8" cy="315157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460" name="直接连接符 459">
                  <a:extLst>
                    <a:ext uri="{FF2B5EF4-FFF2-40B4-BE49-F238E27FC236}">
                      <a16:creationId xmlns:a16="http://schemas.microsoft.com/office/drawing/2014/main" id="{9C392701-2F41-0529-1EBA-9BDE984AA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E54B3716-BA67-C273-20E3-2DCC9B791798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DE00B85F-CEFC-F6F4-AB6C-04274EDDFB35}"/>
                </a:ext>
              </a:extLst>
            </p:cNvPr>
            <p:cNvGrpSpPr/>
            <p:nvPr/>
          </p:nvGrpSpPr>
          <p:grpSpPr>
            <a:xfrm>
              <a:off x="3734085" y="1395110"/>
              <a:ext cx="985832" cy="4018477"/>
              <a:chOff x="1193799" y="1970843"/>
              <a:chExt cx="1816099" cy="4018477"/>
            </a:xfrm>
          </p:grpSpPr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C7990F5F-1295-70C7-25E3-A6557F4780A8}"/>
                  </a:ext>
                </a:extLst>
              </p:cNvPr>
              <p:cNvSpPr/>
              <p:nvPr/>
            </p:nvSpPr>
            <p:spPr>
              <a:xfrm>
                <a:off x="1889758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452" name="组合 451">
                <a:extLst>
                  <a:ext uri="{FF2B5EF4-FFF2-40B4-BE49-F238E27FC236}">
                    <a16:creationId xmlns:a16="http://schemas.microsoft.com/office/drawing/2014/main" id="{73117D97-8C16-5462-07F7-B0B1205E2EE2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454" name="矩形 453">
                  <a:extLst>
                    <a:ext uri="{FF2B5EF4-FFF2-40B4-BE49-F238E27FC236}">
                      <a16:creationId xmlns:a16="http://schemas.microsoft.com/office/drawing/2014/main" id="{9A5E01EE-1DF0-B530-F08C-E2F54EE5AD8B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7" cy="3151573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455" name="直接连接符 454">
                  <a:extLst>
                    <a:ext uri="{FF2B5EF4-FFF2-40B4-BE49-F238E27FC236}">
                      <a16:creationId xmlns:a16="http://schemas.microsoft.com/office/drawing/2014/main" id="{497CC266-3C0C-8318-B3A6-EA600BADCB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3" name="任意多边形: 形状 452">
                <a:extLst>
                  <a:ext uri="{FF2B5EF4-FFF2-40B4-BE49-F238E27FC236}">
                    <a16:creationId xmlns:a16="http://schemas.microsoft.com/office/drawing/2014/main" id="{EF8647F0-FEB0-3CFA-E7CD-D6738AFDD1F6}"/>
                  </a:ext>
                </a:extLst>
              </p:cNvPr>
              <p:cNvSpPr/>
              <p:nvPr/>
            </p:nvSpPr>
            <p:spPr>
              <a:xfrm>
                <a:off x="1193799" y="1971675"/>
                <a:ext cx="1816099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cxnSp>
        <p:nvCxnSpPr>
          <p:cNvPr id="470" name="直接箭头连接符 469">
            <a:extLst>
              <a:ext uri="{FF2B5EF4-FFF2-40B4-BE49-F238E27FC236}">
                <a16:creationId xmlns:a16="http://schemas.microsoft.com/office/drawing/2014/main" id="{0D1B5780-AE24-EBBD-1175-7205BE7E011F}"/>
              </a:ext>
            </a:extLst>
          </p:cNvPr>
          <p:cNvCxnSpPr>
            <a:cxnSpLocks/>
          </p:cNvCxnSpPr>
          <p:nvPr/>
        </p:nvCxnSpPr>
        <p:spPr>
          <a:xfrm flipV="1">
            <a:off x="2756424" y="2719559"/>
            <a:ext cx="126555" cy="30495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33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0125-C013-D5A2-CC05-36F91665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5A9598A7-6724-E7F6-0B21-5C8F40DA9C70}"/>
              </a:ext>
            </a:extLst>
          </p:cNvPr>
          <p:cNvGrpSpPr/>
          <p:nvPr/>
        </p:nvGrpSpPr>
        <p:grpSpPr>
          <a:xfrm>
            <a:off x="6498750" y="1374689"/>
            <a:ext cx="640476" cy="1794329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55E73801-99C4-8D24-9991-44AE1B9AEE8C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BF7664E-9BF2-97FF-C3F3-B01BE7A96C7E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EC0C904-67B2-5222-4E4F-21EA53CF50E5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E8CA69ED-09B1-59D6-3F71-C3D6A2680E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FFA9B922-EFD1-DDAF-5B7B-1B21704EBE40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4ECD386-D411-C111-2BE0-F07AE8ACF0D1}"/>
              </a:ext>
            </a:extLst>
          </p:cNvPr>
          <p:cNvGrpSpPr/>
          <p:nvPr/>
        </p:nvGrpSpPr>
        <p:grpSpPr>
          <a:xfrm>
            <a:off x="5137830" y="1464322"/>
            <a:ext cx="517364" cy="1449425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66A42742-7FA8-926E-1FEF-2623DFEA54AB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0CBFE40-69C0-36FB-E675-3229C0F55995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1F5F8BF-C55C-0447-46B3-7D4AB6DE7786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32A4624-C224-734A-2F3B-9401C52DFB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A28151E2-AC6E-F391-9C86-D1F6052FD24D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EB02D29-86D5-1EAB-9036-2B5A4DBBECEE}"/>
              </a:ext>
            </a:extLst>
          </p:cNvPr>
          <p:cNvGrpSpPr/>
          <p:nvPr/>
        </p:nvGrpSpPr>
        <p:grpSpPr>
          <a:xfrm>
            <a:off x="3804757" y="1547199"/>
            <a:ext cx="443028" cy="1241167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4FBC1FED-A701-CAF3-B73D-7C279BADC6B9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DDB401E-B772-43FF-C97E-8BA4A30293AB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719CDAB-63FA-328F-F949-0ADE1483A03F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43A334C-9BD8-B516-57AC-72BDAE86FF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1B2DF3DA-9904-7FC2-A620-06FB5C7586B2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D5DFBBD-F6FC-AF40-2C17-D2CAF50E6FF8}"/>
              </a:ext>
            </a:extLst>
          </p:cNvPr>
          <p:cNvGrpSpPr/>
          <p:nvPr/>
        </p:nvGrpSpPr>
        <p:grpSpPr>
          <a:xfrm>
            <a:off x="2866054" y="1608827"/>
            <a:ext cx="336716" cy="943327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BC3E1B4-42EA-8393-1956-C7C798867FCA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D5F43AE8-DD64-A7A5-CFBC-3BF89904346C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B9979ABC-CF29-E9D8-DED0-60285F3CB2A1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8C00BD88-81E4-CA0A-79C4-D7A6E068AA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B56E08C9-FE54-A2E8-F891-523428648143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FC34392-A1BD-16A0-8BCD-1CDB0204CD6F}"/>
              </a:ext>
            </a:extLst>
          </p:cNvPr>
          <p:cNvSpPr txBox="1"/>
          <p:nvPr/>
        </p:nvSpPr>
        <p:spPr>
          <a:xfrm>
            <a:off x="3380321" y="653753"/>
            <a:ext cx="206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图像特征提取模块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383E595-AF49-808B-3247-AA2E0B291DA8}"/>
              </a:ext>
            </a:extLst>
          </p:cNvPr>
          <p:cNvSpPr txBox="1"/>
          <p:nvPr/>
        </p:nvSpPr>
        <p:spPr>
          <a:xfrm>
            <a:off x="2722683" y="3568689"/>
            <a:ext cx="11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标签处理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7240D926-D882-530F-EE1C-ADBF20238542}"/>
              </a:ext>
            </a:extLst>
          </p:cNvPr>
          <p:cNvSpPr txBox="1"/>
          <p:nvPr/>
        </p:nvSpPr>
        <p:spPr>
          <a:xfrm>
            <a:off x="9624254" y="563727"/>
            <a:ext cx="1661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特征融合与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联合判别模块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AF8082D-818D-FE4E-B7C8-61E5F75ADBD6}"/>
              </a:ext>
            </a:extLst>
          </p:cNvPr>
          <p:cNvSpPr txBox="1"/>
          <p:nvPr/>
        </p:nvSpPr>
        <p:spPr>
          <a:xfrm>
            <a:off x="2900804" y="972062"/>
            <a:ext cx="1061141" cy="38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卷积块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1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16121C5-568E-A6A8-C00E-D9F17EEF846C}"/>
              </a:ext>
            </a:extLst>
          </p:cNvPr>
          <p:cNvSpPr txBox="1"/>
          <p:nvPr/>
        </p:nvSpPr>
        <p:spPr>
          <a:xfrm>
            <a:off x="4211790" y="967613"/>
            <a:ext cx="1061141" cy="38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卷积块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DF197533-D855-1F9F-6EA8-EFF609602F97}"/>
              </a:ext>
            </a:extLst>
          </p:cNvPr>
          <p:cNvSpPr txBox="1"/>
          <p:nvPr/>
        </p:nvSpPr>
        <p:spPr>
          <a:xfrm>
            <a:off x="5350378" y="967612"/>
            <a:ext cx="1061141" cy="38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卷积块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3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32BB389-F7DE-8919-EAEF-114F7F3D0194}"/>
              </a:ext>
            </a:extLst>
          </p:cNvPr>
          <p:cNvSpPr txBox="1"/>
          <p:nvPr/>
        </p:nvSpPr>
        <p:spPr>
          <a:xfrm>
            <a:off x="6614148" y="945378"/>
            <a:ext cx="1061141" cy="38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卷积块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4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8519C9-8382-1282-4A34-B9AB260799FD}"/>
              </a:ext>
            </a:extLst>
          </p:cNvPr>
          <p:cNvSpPr/>
          <p:nvPr/>
        </p:nvSpPr>
        <p:spPr>
          <a:xfrm>
            <a:off x="1141486" y="4714274"/>
            <a:ext cx="943954" cy="448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黑体" panose="02010609060101010101" pitchFamily="49" charset="-122"/>
              </a:rPr>
              <a:t>label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B33FC5-CDDA-BA0D-0C30-AC8519301E03}"/>
              </a:ext>
            </a:extLst>
          </p:cNvPr>
          <p:cNvCxnSpPr>
            <a:cxnSpLocks/>
          </p:cNvCxnSpPr>
          <p:nvPr/>
        </p:nvCxnSpPr>
        <p:spPr>
          <a:xfrm>
            <a:off x="8898000" y="2204232"/>
            <a:ext cx="24013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矩形 183">
            <a:extLst>
              <a:ext uri="{FF2B5EF4-FFF2-40B4-BE49-F238E27FC236}">
                <a16:creationId xmlns:a16="http://schemas.microsoft.com/office/drawing/2014/main" id="{7ECF4982-E031-B272-82B0-E33D782CE1FD}"/>
              </a:ext>
            </a:extLst>
          </p:cNvPr>
          <p:cNvSpPr/>
          <p:nvPr/>
        </p:nvSpPr>
        <p:spPr>
          <a:xfrm>
            <a:off x="11436521" y="2365900"/>
            <a:ext cx="713491" cy="686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lt"/>
                <a:ea typeface="黑体" panose="02010609060101010101" pitchFamily="49" charset="-122"/>
              </a:rPr>
              <a:t>判别结果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E747D61-5176-B2FE-9B23-E93FC9DD61FC}"/>
              </a:ext>
            </a:extLst>
          </p:cNvPr>
          <p:cNvCxnSpPr>
            <a:cxnSpLocks/>
          </p:cNvCxnSpPr>
          <p:nvPr/>
        </p:nvCxnSpPr>
        <p:spPr>
          <a:xfrm>
            <a:off x="3599535" y="2204232"/>
            <a:ext cx="20799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A468ACF-F012-0D1A-AF9F-265D4A4CA916}"/>
              </a:ext>
            </a:extLst>
          </p:cNvPr>
          <p:cNvCxnSpPr>
            <a:cxnSpLocks/>
          </p:cNvCxnSpPr>
          <p:nvPr/>
        </p:nvCxnSpPr>
        <p:spPr>
          <a:xfrm>
            <a:off x="10454790" y="2674981"/>
            <a:ext cx="22490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C53767D-0456-3042-F507-A4B6FF512519}"/>
              </a:ext>
            </a:extLst>
          </p:cNvPr>
          <p:cNvCxnSpPr>
            <a:cxnSpLocks/>
          </p:cNvCxnSpPr>
          <p:nvPr/>
        </p:nvCxnSpPr>
        <p:spPr>
          <a:xfrm>
            <a:off x="7542280" y="2204232"/>
            <a:ext cx="211473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1379682C-B8EB-8681-8070-FE96C85E4AA9}"/>
              </a:ext>
            </a:extLst>
          </p:cNvPr>
          <p:cNvSpPr txBox="1"/>
          <p:nvPr/>
        </p:nvSpPr>
        <p:spPr>
          <a:xfrm>
            <a:off x="2392258" y="3197617"/>
            <a:ext cx="94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3x3x16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BC47E93-8D92-5A7B-3BC7-0EB521CCC23C}"/>
              </a:ext>
            </a:extLst>
          </p:cNvPr>
          <p:cNvSpPr txBox="1"/>
          <p:nvPr/>
        </p:nvSpPr>
        <p:spPr>
          <a:xfrm>
            <a:off x="3537923" y="3217605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3x3x32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95A0F9E-0FA4-3F3E-AFC1-ECC2096E0E5F}"/>
              </a:ext>
            </a:extLst>
          </p:cNvPr>
          <p:cNvSpPr txBox="1"/>
          <p:nvPr/>
        </p:nvSpPr>
        <p:spPr>
          <a:xfrm>
            <a:off x="5045844" y="3235789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3x3x64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98E99D2-8D35-02D8-BE19-65116B35BD87}"/>
              </a:ext>
            </a:extLst>
          </p:cNvPr>
          <p:cNvSpPr txBox="1"/>
          <p:nvPr/>
        </p:nvSpPr>
        <p:spPr>
          <a:xfrm>
            <a:off x="6240471" y="3244987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3x3x128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670D059-1D5E-3965-FB6C-65A56BD2FCDE}"/>
              </a:ext>
            </a:extLst>
          </p:cNvPr>
          <p:cNvSpPr txBox="1"/>
          <p:nvPr/>
        </p:nvSpPr>
        <p:spPr>
          <a:xfrm>
            <a:off x="0" y="6211669"/>
            <a:ext cx="8094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+mj-lt"/>
                <a:ea typeface="黑体" panose="02010609060101010101" pitchFamily="49" charset="-122"/>
              </a:rPr>
              <a:t>使用二元交叉熵损失函数</a:t>
            </a:r>
            <a:endParaRPr lang="en-US" altLang="zh-CN" b="1" i="0" dirty="0">
              <a:effectLst/>
              <a:latin typeface="+mj-lt"/>
              <a:ea typeface="黑体" panose="02010609060101010101" pitchFamily="49" charset="-122"/>
            </a:endParaRPr>
          </a:p>
          <a:p>
            <a:r>
              <a:rPr lang="zh-CN" altLang="en-US" b="1" i="0" dirty="0">
                <a:effectLst/>
                <a:latin typeface="+mj-lt"/>
                <a:ea typeface="黑体" panose="02010609060101010101" pitchFamily="49" charset="-122"/>
              </a:rPr>
              <a:t>以及 </a:t>
            </a:r>
            <a:r>
              <a:rPr lang="en-US" altLang="zh-CN" b="1" i="0" dirty="0">
                <a:effectLst/>
                <a:latin typeface="+mj-lt"/>
                <a:ea typeface="黑体" panose="02010609060101010101" pitchFamily="49" charset="-122"/>
              </a:rPr>
              <a:t>Adam </a:t>
            </a:r>
            <a:r>
              <a:rPr lang="zh-CN" altLang="en-US" b="1" i="0" dirty="0">
                <a:effectLst/>
                <a:latin typeface="+mj-lt"/>
                <a:ea typeface="黑体" panose="02010609060101010101" pitchFamily="49" charset="-122"/>
              </a:rPr>
              <a:t>优化器分别对生成器和判别器进行优化。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1F0E13-9745-881B-4B3E-EBB6E5FCB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20" y="1601415"/>
            <a:ext cx="1413124" cy="141312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FDECC51-A5D3-E1EE-7A01-B314C47212D8}"/>
              </a:ext>
            </a:extLst>
          </p:cNvPr>
          <p:cNvGrpSpPr/>
          <p:nvPr/>
        </p:nvGrpSpPr>
        <p:grpSpPr>
          <a:xfrm>
            <a:off x="2983523" y="1460850"/>
            <a:ext cx="553058" cy="1549347"/>
            <a:chOff x="3369733" y="1395307"/>
            <a:chExt cx="985832" cy="4018280"/>
          </a:xfrm>
        </p:grpSpPr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634F039A-64C7-005C-B933-7B1B47B33EE5}"/>
                </a:ext>
              </a:extLst>
            </p:cNvPr>
            <p:cNvSpPr/>
            <p:nvPr/>
          </p:nvSpPr>
          <p:spPr>
            <a:xfrm>
              <a:off x="3374988" y="1395307"/>
              <a:ext cx="606667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B8F74AE-6046-A74E-5AE4-80D73B23DBC3}"/>
                </a:ext>
              </a:extLst>
            </p:cNvPr>
            <p:cNvGrpSpPr/>
            <p:nvPr/>
          </p:nvGrpSpPr>
          <p:grpSpPr>
            <a:xfrm>
              <a:off x="3369733" y="1395307"/>
              <a:ext cx="985832" cy="4018280"/>
              <a:chOff x="1193800" y="1971040"/>
              <a:chExt cx="1816100" cy="4018280"/>
            </a:xfrm>
          </p:grpSpPr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5CC10BCB-6260-37B5-D5D4-D0F8EBD44C17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5A9B933-2862-BA0E-E6F4-12BA5C680EF9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9" cy="3151574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850413A9-3F48-1628-A6D2-FA7B6C8032CB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45DE606-2F1A-2C08-6FA9-23000E731DEE}"/>
              </a:ext>
            </a:extLst>
          </p:cNvPr>
          <p:cNvGrpSpPr/>
          <p:nvPr/>
        </p:nvGrpSpPr>
        <p:grpSpPr>
          <a:xfrm>
            <a:off x="3970185" y="1449486"/>
            <a:ext cx="972674" cy="1528095"/>
            <a:chOff x="8771025" y="2022186"/>
            <a:chExt cx="1365265" cy="3280223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1764F378-6559-550B-18C8-424E8768C1D1}"/>
                </a:ext>
              </a:extLst>
            </p:cNvPr>
            <p:cNvGrpSpPr/>
            <p:nvPr/>
          </p:nvGrpSpPr>
          <p:grpSpPr>
            <a:xfrm>
              <a:off x="8771025" y="2022186"/>
              <a:ext cx="765597" cy="3280223"/>
              <a:chOff x="3369733" y="1395110"/>
              <a:chExt cx="985832" cy="4018477"/>
            </a:xfrm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4F0C4300-8E07-0CE0-7EA8-8EDFCE52B545}"/>
                  </a:ext>
                </a:extLst>
              </p:cNvPr>
              <p:cNvSpPr/>
              <p:nvPr/>
            </p:nvSpPr>
            <p:spPr>
              <a:xfrm>
                <a:off x="3374988" y="1395308"/>
                <a:ext cx="606666" cy="4018279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1E92492D-D653-2A36-BC57-7E95ADFFB23B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50FAA1F6-672F-8E6E-9082-33DFFD8958D8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86" name="组合 85">
                  <a:extLst>
                    <a:ext uri="{FF2B5EF4-FFF2-40B4-BE49-F238E27FC236}">
                      <a16:creationId xmlns:a16="http://schemas.microsoft.com/office/drawing/2014/main" id="{B2408A88-5167-2A82-1772-36106D6D6A75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C6C0976C-7BF2-89BF-376E-60FE3CF436FE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96" name="直接连接符 95">
                    <a:extLst>
                      <a:ext uri="{FF2B5EF4-FFF2-40B4-BE49-F238E27FC236}">
                        <a16:creationId xmlns:a16="http://schemas.microsoft.com/office/drawing/2014/main" id="{B9DE29E0-385E-9430-2758-6B5450578C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8D8024BA-DC12-AD95-67B2-A300F821C5F9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80870333-D5F5-B96C-2515-BF8A94EA6C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6629" y="1395110"/>
                <a:ext cx="607202" cy="8611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5423325C-CF8A-15D6-40A0-AA1F51DE526B}"/>
                </a:ext>
              </a:extLst>
            </p:cNvPr>
            <p:cNvGrpSpPr/>
            <p:nvPr/>
          </p:nvGrpSpPr>
          <p:grpSpPr>
            <a:xfrm>
              <a:off x="9081384" y="2022186"/>
              <a:ext cx="1054906" cy="3280223"/>
              <a:chOff x="2997200" y="1395110"/>
              <a:chExt cx="1358365" cy="4018477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9D6C1406-0B58-236C-D276-AA0F583FF05E}"/>
                  </a:ext>
                </a:extLst>
              </p:cNvPr>
              <p:cNvGrpSpPr/>
              <p:nvPr/>
            </p:nvGrpSpPr>
            <p:grpSpPr>
              <a:xfrm>
                <a:off x="2997200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61F67EB1-4642-63C4-90C8-87B7EC6B8D16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69" name="组合 68">
                  <a:extLst>
                    <a:ext uri="{FF2B5EF4-FFF2-40B4-BE49-F238E27FC236}">
                      <a16:creationId xmlns:a16="http://schemas.microsoft.com/office/drawing/2014/main" id="{53C49D88-D4D5-9CD7-FD27-C2119252DCCD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72" name="矩形 71">
                    <a:extLst>
                      <a:ext uri="{FF2B5EF4-FFF2-40B4-BE49-F238E27FC236}">
                        <a16:creationId xmlns:a16="http://schemas.microsoft.com/office/drawing/2014/main" id="{26E6F33F-FDE5-C68F-76B7-94491372407E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75" name="直接连接符 74">
                    <a:extLst>
                      <a:ext uri="{FF2B5EF4-FFF2-40B4-BE49-F238E27FC236}">
                        <a16:creationId xmlns:a16="http://schemas.microsoft.com/office/drawing/2014/main" id="{8DA7BA3A-3974-AB11-B23E-B743B6FD92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B0D8CD20-2B91-603D-8142-2C84769F3F84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9150B6AF-D65C-7E8D-9F9A-26CD26C408F7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C7704C95-9DF9-C809-588A-A60A4C6ED930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6A3E267A-D5A0-1354-AFD8-14999D5BC7D6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66" name="矩形 65">
                    <a:extLst>
                      <a:ext uri="{FF2B5EF4-FFF2-40B4-BE49-F238E27FC236}">
                        <a16:creationId xmlns:a16="http://schemas.microsoft.com/office/drawing/2014/main" id="{665D1498-D3C9-4971-72DC-C22725C8BC35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67" name="直接连接符 66">
                    <a:extLst>
                      <a:ext uri="{FF2B5EF4-FFF2-40B4-BE49-F238E27FC236}">
                        <a16:creationId xmlns:a16="http://schemas.microsoft.com/office/drawing/2014/main" id="{388130F9-A21E-8C38-3676-A9111BA68B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0F069E8F-3EA6-9F0B-E2FB-1C99EEDDC8C8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5461B5F8-790D-C2F2-783C-CC653913D26A}"/>
              </a:ext>
            </a:extLst>
          </p:cNvPr>
          <p:cNvGrpSpPr/>
          <p:nvPr/>
        </p:nvGrpSpPr>
        <p:grpSpPr>
          <a:xfrm>
            <a:off x="5342354" y="1449486"/>
            <a:ext cx="972673" cy="1528095"/>
            <a:chOff x="8771026" y="2022186"/>
            <a:chExt cx="1365264" cy="3280223"/>
          </a:xfrm>
        </p:grpSpPr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24157239-393A-9CCF-B79B-DE2A7C3EC7F4}"/>
                </a:ext>
              </a:extLst>
            </p:cNvPr>
            <p:cNvGrpSpPr/>
            <p:nvPr/>
          </p:nvGrpSpPr>
          <p:grpSpPr>
            <a:xfrm>
              <a:off x="8771026" y="2022186"/>
              <a:ext cx="765597" cy="3280223"/>
              <a:chOff x="3369733" y="1395110"/>
              <a:chExt cx="985832" cy="4018477"/>
            </a:xfrm>
          </p:grpSpPr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B5E80905-8CB2-F5B1-8C44-0DA4066D664B}"/>
                  </a:ext>
                </a:extLst>
              </p:cNvPr>
              <p:cNvSpPr/>
              <p:nvPr/>
            </p:nvSpPr>
            <p:spPr>
              <a:xfrm>
                <a:off x="3374988" y="1395308"/>
                <a:ext cx="606665" cy="4018279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DED19BCF-5F7C-73AC-FA57-343C58AE96DE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DC14D396-FA7E-8929-2AB0-F799516B8716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B86B4DC5-0493-BE0F-6D5F-A4929AA8981C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36" name="矩形 135">
                    <a:extLst>
                      <a:ext uri="{FF2B5EF4-FFF2-40B4-BE49-F238E27FC236}">
                        <a16:creationId xmlns:a16="http://schemas.microsoft.com/office/drawing/2014/main" id="{521B0FC8-B00C-9236-7776-8034AA2078D5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37" name="直接连接符 136">
                    <a:extLst>
                      <a:ext uri="{FF2B5EF4-FFF2-40B4-BE49-F238E27FC236}">
                        <a16:creationId xmlns:a16="http://schemas.microsoft.com/office/drawing/2014/main" id="{457C5519-5AA4-1C7A-F548-897CC90B7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3" name="任意多边形: 形状 132">
                  <a:extLst>
                    <a:ext uri="{FF2B5EF4-FFF2-40B4-BE49-F238E27FC236}">
                      <a16:creationId xmlns:a16="http://schemas.microsoft.com/office/drawing/2014/main" id="{700AF80A-DD6E-056C-9907-8EE6A55A6193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CABC0757-46C5-B5E6-DB95-2005827724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6629" y="1395110"/>
                <a:ext cx="607202" cy="8611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1E3EBF58-F3BF-816F-4CE3-18C010A52F66}"/>
                </a:ext>
              </a:extLst>
            </p:cNvPr>
            <p:cNvGrpSpPr/>
            <p:nvPr/>
          </p:nvGrpSpPr>
          <p:grpSpPr>
            <a:xfrm>
              <a:off x="9081384" y="2022186"/>
              <a:ext cx="1054906" cy="3280223"/>
              <a:chOff x="2997200" y="1395110"/>
              <a:chExt cx="1358365" cy="4018477"/>
            </a:xfrm>
          </p:grpSpPr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D590F85B-A797-B304-0D3B-963C2DB0AFF2}"/>
                  </a:ext>
                </a:extLst>
              </p:cNvPr>
              <p:cNvGrpSpPr/>
              <p:nvPr/>
            </p:nvGrpSpPr>
            <p:grpSpPr>
              <a:xfrm>
                <a:off x="2997200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063B2EB7-B862-B9AF-D685-C7069A67AFF8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20" name="组合 119">
                  <a:extLst>
                    <a:ext uri="{FF2B5EF4-FFF2-40B4-BE49-F238E27FC236}">
                      <a16:creationId xmlns:a16="http://schemas.microsoft.com/office/drawing/2014/main" id="{67625CA6-1697-6A12-9083-A3F32FDF51DB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22" name="矩形 121">
                    <a:extLst>
                      <a:ext uri="{FF2B5EF4-FFF2-40B4-BE49-F238E27FC236}">
                        <a16:creationId xmlns:a16="http://schemas.microsoft.com/office/drawing/2014/main" id="{E2B7E4B8-2BEE-336F-35D6-7F046BB05B75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23" name="直接连接符 122">
                    <a:extLst>
                      <a:ext uri="{FF2B5EF4-FFF2-40B4-BE49-F238E27FC236}">
                        <a16:creationId xmlns:a16="http://schemas.microsoft.com/office/drawing/2014/main" id="{E6A2313D-9299-7C59-4FB5-AEA285BF94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1" name="任意多边形: 形状 120">
                  <a:extLst>
                    <a:ext uri="{FF2B5EF4-FFF2-40B4-BE49-F238E27FC236}">
                      <a16:creationId xmlns:a16="http://schemas.microsoft.com/office/drawing/2014/main" id="{FE11AB16-6AD7-E41B-2010-0A902126A038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102E30A4-7C90-A7C4-0BA1-BBB1AFDD3C6A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1264ADBF-E07A-CBA5-1A4B-B99A50892D41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B0AC5703-CDE4-FBE1-5E9D-C9BB2146E364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17" name="矩形 116">
                    <a:extLst>
                      <a:ext uri="{FF2B5EF4-FFF2-40B4-BE49-F238E27FC236}">
                        <a16:creationId xmlns:a16="http://schemas.microsoft.com/office/drawing/2014/main" id="{5F43F609-C0DE-2350-133C-BB1AA62DA788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18" name="直接连接符 117">
                    <a:extLst>
                      <a:ext uri="{FF2B5EF4-FFF2-40B4-BE49-F238E27FC236}">
                        <a16:creationId xmlns:a16="http://schemas.microsoft.com/office/drawing/2014/main" id="{E729B019-6880-7600-DBEE-754690B179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A3C75EF9-E544-6400-2946-793D58B26C0D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2FEC14C2-7334-C53C-BC57-1C8C7BBEE245}"/>
              </a:ext>
            </a:extLst>
          </p:cNvPr>
          <p:cNvGrpSpPr/>
          <p:nvPr/>
        </p:nvGrpSpPr>
        <p:grpSpPr>
          <a:xfrm>
            <a:off x="6832446" y="1449486"/>
            <a:ext cx="766558" cy="1528095"/>
            <a:chOff x="8771025" y="2022186"/>
            <a:chExt cx="1075956" cy="3280223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5D8AD6B1-8D1D-D5E9-E9A9-C1E1634D3950}"/>
                </a:ext>
              </a:extLst>
            </p:cNvPr>
            <p:cNvGrpSpPr/>
            <p:nvPr/>
          </p:nvGrpSpPr>
          <p:grpSpPr>
            <a:xfrm>
              <a:off x="8771025" y="2022186"/>
              <a:ext cx="765597" cy="3280223"/>
              <a:chOff x="3369733" y="1395110"/>
              <a:chExt cx="985832" cy="4018477"/>
            </a:xfrm>
          </p:grpSpPr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FEB9B111-80F3-D47F-16D0-6E1FF0ADFCEE}"/>
                  </a:ext>
                </a:extLst>
              </p:cNvPr>
              <p:cNvSpPr/>
              <p:nvPr/>
            </p:nvSpPr>
            <p:spPr>
              <a:xfrm>
                <a:off x="3374988" y="1395308"/>
                <a:ext cx="606666" cy="4018279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254A9A58-AE93-F81F-9288-CA42BBAD0420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161" name="任意多边形: 形状 160">
                  <a:extLst>
                    <a:ext uri="{FF2B5EF4-FFF2-40B4-BE49-F238E27FC236}">
                      <a16:creationId xmlns:a16="http://schemas.microsoft.com/office/drawing/2014/main" id="{FFAC2DBF-2C5B-BC7C-DE47-B4A3417AC92B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62" name="组合 161">
                  <a:extLst>
                    <a:ext uri="{FF2B5EF4-FFF2-40B4-BE49-F238E27FC236}">
                      <a16:creationId xmlns:a16="http://schemas.microsoft.com/office/drawing/2014/main" id="{CC0183F8-B147-A007-74B5-3FD209C3004F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164" name="矩形 163">
                    <a:extLst>
                      <a:ext uri="{FF2B5EF4-FFF2-40B4-BE49-F238E27FC236}">
                        <a16:creationId xmlns:a16="http://schemas.microsoft.com/office/drawing/2014/main" id="{38D1F440-9BD7-5F89-AC20-FFF5824DEB49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165" name="直接连接符 164">
                    <a:extLst>
                      <a:ext uri="{FF2B5EF4-FFF2-40B4-BE49-F238E27FC236}">
                        <a16:creationId xmlns:a16="http://schemas.microsoft.com/office/drawing/2014/main" id="{047E6BAF-CD81-B901-8EF4-5DCE66939F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3" name="任意多边形: 形状 162">
                  <a:extLst>
                    <a:ext uri="{FF2B5EF4-FFF2-40B4-BE49-F238E27FC236}">
                      <a16:creationId xmlns:a16="http://schemas.microsoft.com/office/drawing/2014/main" id="{082502FB-9742-A709-6B63-2856EA6C12EB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D625B584-BE3D-7028-E98B-715E4C820434}"/>
                </a:ext>
              </a:extLst>
            </p:cNvPr>
            <p:cNvGrpSpPr/>
            <p:nvPr/>
          </p:nvGrpSpPr>
          <p:grpSpPr>
            <a:xfrm>
              <a:off x="9081383" y="2022186"/>
              <a:ext cx="765598" cy="3280223"/>
              <a:chOff x="1193800" y="1970843"/>
              <a:chExt cx="1816100" cy="4018477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FBB408C4-14F6-19C0-194F-6F03827C22C0}"/>
                  </a:ext>
                </a:extLst>
              </p:cNvPr>
              <p:cNvSpPr/>
              <p:nvPr/>
            </p:nvSpPr>
            <p:spPr>
              <a:xfrm>
                <a:off x="1889760" y="1971040"/>
                <a:ext cx="1117600" cy="4018280"/>
              </a:xfrm>
              <a:custGeom>
                <a:avLst/>
                <a:gdLst>
                  <a:gd name="connsiteX0" fmla="*/ 0 w 1117600"/>
                  <a:gd name="connsiteY0" fmla="*/ 868680 h 4018280"/>
                  <a:gd name="connsiteX1" fmla="*/ 5080 w 1117600"/>
                  <a:gd name="connsiteY1" fmla="*/ 4018280 h 4018280"/>
                  <a:gd name="connsiteX2" fmla="*/ 1117600 w 1117600"/>
                  <a:gd name="connsiteY2" fmla="*/ 3149600 h 4018280"/>
                  <a:gd name="connsiteX3" fmla="*/ 1117600 w 1117600"/>
                  <a:gd name="connsiteY3" fmla="*/ 0 h 4018280"/>
                  <a:gd name="connsiteX4" fmla="*/ 0 w 1117600"/>
                  <a:gd name="connsiteY4" fmla="*/ 868680 h 401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600" h="4018280">
                    <a:moveTo>
                      <a:pt x="0" y="868680"/>
                    </a:moveTo>
                    <a:cubicBezTo>
                      <a:pt x="1693" y="1918547"/>
                      <a:pt x="3387" y="2968413"/>
                      <a:pt x="5080" y="4018280"/>
                    </a:cubicBezTo>
                    <a:lnTo>
                      <a:pt x="1117600" y="3149600"/>
                    </a:lnTo>
                    <a:lnTo>
                      <a:pt x="1117600" y="0"/>
                    </a:lnTo>
                    <a:lnTo>
                      <a:pt x="0" y="86868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D7751A3D-34FB-8CA2-118F-00B9CCE11081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12707"/>
                <a:chOff x="1198486" y="1970843"/>
                <a:chExt cx="1118587" cy="4012707"/>
              </a:xfrm>
            </p:grpSpPr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3DC397EA-3520-8716-BB21-3D93AA82F65C}"/>
                    </a:ext>
                  </a:extLst>
                </p:cNvPr>
                <p:cNvSpPr/>
                <p:nvPr/>
              </p:nvSpPr>
              <p:spPr>
                <a:xfrm>
                  <a:off x="1198486" y="2831977"/>
                  <a:ext cx="692458" cy="3151573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157" name="直接连接符 156">
                  <a:extLst>
                    <a:ext uri="{FF2B5EF4-FFF2-40B4-BE49-F238E27FC236}">
                      <a16:creationId xmlns:a16="http://schemas.microsoft.com/office/drawing/2014/main" id="{F4B2DA4C-B2D5-2460-6C98-16984B4605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7A5DCF8-1B3A-7CAC-1227-150C1830D581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26E311AE-9DE6-4443-03FF-D98D76AFF92D}"/>
              </a:ext>
            </a:extLst>
          </p:cNvPr>
          <p:cNvGrpSpPr/>
          <p:nvPr/>
        </p:nvGrpSpPr>
        <p:grpSpPr>
          <a:xfrm>
            <a:off x="2751833" y="4252731"/>
            <a:ext cx="545445" cy="1208300"/>
            <a:chOff x="1193800" y="1970843"/>
            <a:chExt cx="1816100" cy="4018477"/>
          </a:xfrm>
          <a:solidFill>
            <a:schemeClr val="bg2">
              <a:lumMod val="75000"/>
            </a:schemeClr>
          </a:solidFill>
        </p:grpSpPr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00669473-EF5E-77A6-C1E0-B71411DB3900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70301251-1678-0305-B770-F7487F85240C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96F325E0-2176-161C-BB98-35EA5826C209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93" name="直接连接符 192">
                <a:extLst>
                  <a:ext uri="{FF2B5EF4-FFF2-40B4-BE49-F238E27FC236}">
                    <a16:creationId xmlns:a16="http://schemas.microsoft.com/office/drawing/2014/main" id="{13C766A7-C778-FD5F-9150-92F0E8D12B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81F063E5-55FA-0F84-1326-A2E681AFD327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FC155025-3978-8D92-9951-B2375BA4A1D1}"/>
              </a:ext>
            </a:extLst>
          </p:cNvPr>
          <p:cNvGrpSpPr/>
          <p:nvPr/>
        </p:nvGrpSpPr>
        <p:grpSpPr>
          <a:xfrm>
            <a:off x="2970699" y="4056852"/>
            <a:ext cx="593802" cy="1457128"/>
            <a:chOff x="1193800" y="1970843"/>
            <a:chExt cx="1816100" cy="4018477"/>
          </a:xfrm>
          <a:solidFill>
            <a:schemeClr val="accent6"/>
          </a:solidFill>
        </p:grpSpPr>
        <p:sp>
          <p:nvSpPr>
            <p:cNvPr id="181" name="任意多边形: 形状 180">
              <a:extLst>
                <a:ext uri="{FF2B5EF4-FFF2-40B4-BE49-F238E27FC236}">
                  <a16:creationId xmlns:a16="http://schemas.microsoft.com/office/drawing/2014/main" id="{FB3EAF9C-F087-2830-FA00-A85DE016DDA3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071FE364-BF9B-4B5B-01BA-9B082E43B712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222113BD-7182-6912-59B8-7B350E8B30BA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67AEB47E-7C71-FAAD-9CD0-D52AFB13DD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79F4070D-8885-EF02-25A4-7436ADB63010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3BEF5AB9-7080-F81C-C0A6-E480F86285F2}"/>
              </a:ext>
            </a:extLst>
          </p:cNvPr>
          <p:cNvGrpSpPr/>
          <p:nvPr/>
        </p:nvGrpSpPr>
        <p:grpSpPr>
          <a:xfrm>
            <a:off x="3254859" y="4202016"/>
            <a:ext cx="545445" cy="1208300"/>
            <a:chOff x="1193800" y="1970843"/>
            <a:chExt cx="1816100" cy="4018477"/>
          </a:xfrm>
        </p:grpSpPr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05F02C4A-CB6E-D506-6C16-47A413FC4505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A6135411-89A3-07F8-66B8-088ABD570333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7FA602AE-A77D-5E49-9683-01815DB8060F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F5B1058B-2BF1-1760-C918-1A8940FCA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任意多边形: 形状 175">
              <a:extLst>
                <a:ext uri="{FF2B5EF4-FFF2-40B4-BE49-F238E27FC236}">
                  <a16:creationId xmlns:a16="http://schemas.microsoft.com/office/drawing/2014/main" id="{2ABD4E9B-D13D-661B-0B90-610F658114EA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C3945D5D-DF9D-F5C4-69FA-C3CC938F268D}"/>
              </a:ext>
            </a:extLst>
          </p:cNvPr>
          <p:cNvGrpSpPr/>
          <p:nvPr/>
        </p:nvGrpSpPr>
        <p:grpSpPr>
          <a:xfrm>
            <a:off x="7781429" y="1398886"/>
            <a:ext cx="545445" cy="1528095"/>
            <a:chOff x="1193800" y="1970843"/>
            <a:chExt cx="1816100" cy="4018477"/>
          </a:xfrm>
        </p:grpSpPr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4482869D-E750-D8F6-A25A-43D245584C55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D900B6B2-A9CC-18CD-037E-D20B30FB7019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E2ADEA67-D437-D374-81F8-59AD009DE5D3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13" name="直接连接符 212">
                <a:extLst>
                  <a:ext uri="{FF2B5EF4-FFF2-40B4-BE49-F238E27FC236}">
                    <a16:creationId xmlns:a16="http://schemas.microsoft.com/office/drawing/2014/main" id="{15E54793-23EA-B324-ECD3-756A622A8B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A47AA06C-08DF-8E97-1FD8-89CF565909CF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7AF70CAD-806A-BAEA-E535-59636E1B955F}"/>
              </a:ext>
            </a:extLst>
          </p:cNvPr>
          <p:cNvGrpSpPr/>
          <p:nvPr/>
        </p:nvGrpSpPr>
        <p:grpSpPr>
          <a:xfrm>
            <a:off x="7955762" y="1323486"/>
            <a:ext cx="659812" cy="1848496"/>
            <a:chOff x="1193800" y="1970843"/>
            <a:chExt cx="1816100" cy="4018477"/>
          </a:xfrm>
          <a:solidFill>
            <a:srgbClr val="00B050"/>
          </a:solidFill>
        </p:grpSpPr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6D3DD7ED-2515-804B-829D-0CE17133D863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BF6D9E40-A073-D42C-6852-EA5EB0BB9D64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9C7D9114-D616-E960-8994-B2A48DBC0E54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08" name="直接连接符 207">
                <a:extLst>
                  <a:ext uri="{FF2B5EF4-FFF2-40B4-BE49-F238E27FC236}">
                    <a16:creationId xmlns:a16="http://schemas.microsoft.com/office/drawing/2014/main" id="{3FCD697F-3A79-8ADC-B838-C10B725E30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6" name="任意多边形: 形状 205">
              <a:extLst>
                <a:ext uri="{FF2B5EF4-FFF2-40B4-BE49-F238E27FC236}">
                  <a16:creationId xmlns:a16="http://schemas.microsoft.com/office/drawing/2014/main" id="{32F43BBD-5E83-FD13-DA00-B9324166D2D4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1B637628-54D7-3771-6790-F176B920F319}"/>
              </a:ext>
            </a:extLst>
          </p:cNvPr>
          <p:cNvGrpSpPr/>
          <p:nvPr/>
        </p:nvGrpSpPr>
        <p:grpSpPr>
          <a:xfrm>
            <a:off x="8243383" y="1456761"/>
            <a:ext cx="545445" cy="1528095"/>
            <a:chOff x="1193800" y="1970843"/>
            <a:chExt cx="1816100" cy="4018477"/>
          </a:xfrm>
        </p:grpSpPr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E66F83DB-5512-5C0D-F2A3-168A0C6A32F2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B6292E3F-E567-9194-0306-796C52129622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BAF4860F-194B-6356-2827-563836BC1200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83918E46-037F-4C36-132B-B3B3F67A17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CF052628-D51F-4D8D-0100-91241A9AAACE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751AC4A0-0708-98F3-EF8F-2A86CE1A2B70}"/>
              </a:ext>
            </a:extLst>
          </p:cNvPr>
          <p:cNvGrpSpPr/>
          <p:nvPr/>
        </p:nvGrpSpPr>
        <p:grpSpPr>
          <a:xfrm>
            <a:off x="9323527" y="1227296"/>
            <a:ext cx="727654" cy="3117646"/>
            <a:chOff x="1193800" y="1970843"/>
            <a:chExt cx="1816100" cy="4018477"/>
          </a:xfrm>
          <a:solidFill>
            <a:srgbClr val="00B050"/>
          </a:solidFill>
        </p:grpSpPr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FB9CA47F-EAE7-0FAC-A97A-FC93C5064AFC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9B2CA9A4-95BA-F619-B39B-2912630AC8F1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91A63318-B7EF-AED4-90D8-825DD648D3F0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DD7B4F25-FD6B-B9A4-A555-C033C98F23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8418757D-B3BB-95C5-6F51-D788920A88CC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5462D2D1-ECF6-8441-8B43-8D0EEE88EF8B}"/>
              </a:ext>
            </a:extLst>
          </p:cNvPr>
          <p:cNvGrpSpPr/>
          <p:nvPr/>
        </p:nvGrpSpPr>
        <p:grpSpPr>
          <a:xfrm>
            <a:off x="9655029" y="1602214"/>
            <a:ext cx="545445" cy="2336973"/>
            <a:chOff x="1193800" y="1970843"/>
            <a:chExt cx="1816100" cy="4018477"/>
          </a:xfrm>
        </p:grpSpPr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F86BB8F6-6D95-C4EC-576A-875C7EA8383E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CF785D8B-7E99-E9C3-7159-A06BCD9E2443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5989B7D4-8959-280C-8C74-672CA06C76D4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82B28A7A-B9B1-9E2D-F74B-D3E299AC0C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13A4D28D-4AD5-24A1-CCB7-5C2012933CCD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40447DD2-F427-5317-3E0C-B8EB81B2D09F}"/>
              </a:ext>
            </a:extLst>
          </p:cNvPr>
          <p:cNvGrpSpPr/>
          <p:nvPr/>
        </p:nvGrpSpPr>
        <p:grpSpPr>
          <a:xfrm>
            <a:off x="9837902" y="1438375"/>
            <a:ext cx="621926" cy="2664652"/>
            <a:chOff x="1193800" y="1970843"/>
            <a:chExt cx="1816100" cy="4018477"/>
          </a:xfrm>
        </p:grpSpPr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EA80DE8C-BC58-0616-13C4-B673649D88FD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B88DE89E-4295-FA36-B377-07E9974F6433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</p:grpSpPr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E5561E86-0471-65C2-EC29-35C7EDAF921A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06B9D540-A341-55F9-01CF-D9B5EC81BC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64262A87-D041-AD56-9AA1-633D10EE524C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E308C0C2-7D78-DEF7-2736-D0DD01286FC6}"/>
              </a:ext>
            </a:extLst>
          </p:cNvPr>
          <p:cNvCxnSpPr>
            <a:cxnSpLocks/>
          </p:cNvCxnSpPr>
          <p:nvPr/>
        </p:nvCxnSpPr>
        <p:spPr>
          <a:xfrm>
            <a:off x="4924030" y="2204232"/>
            <a:ext cx="20799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EBF866F9-9913-93BC-A7AD-1DDE83CAB81C}"/>
              </a:ext>
            </a:extLst>
          </p:cNvPr>
          <p:cNvCxnSpPr>
            <a:cxnSpLocks/>
          </p:cNvCxnSpPr>
          <p:nvPr/>
        </p:nvCxnSpPr>
        <p:spPr>
          <a:xfrm>
            <a:off x="6304723" y="2204232"/>
            <a:ext cx="20799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E13998AB-097A-FD48-7FD3-A31EAA521FC0}"/>
              </a:ext>
            </a:extLst>
          </p:cNvPr>
          <p:cNvCxnSpPr>
            <a:cxnSpLocks/>
          </p:cNvCxnSpPr>
          <p:nvPr/>
        </p:nvCxnSpPr>
        <p:spPr>
          <a:xfrm>
            <a:off x="2495200" y="2204232"/>
            <a:ext cx="24013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1126B55-5C00-5DE3-B9E9-737F5DE9DA2E}"/>
              </a:ext>
            </a:extLst>
          </p:cNvPr>
          <p:cNvGrpSpPr/>
          <p:nvPr/>
        </p:nvGrpSpPr>
        <p:grpSpPr>
          <a:xfrm>
            <a:off x="7430947" y="4941427"/>
            <a:ext cx="4674627" cy="1726524"/>
            <a:chOff x="1935319" y="3780668"/>
            <a:chExt cx="4604127" cy="2048182"/>
          </a:xfrm>
        </p:grpSpPr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02C597A8-EFF5-761E-84F7-F8D608C0DB17}"/>
                </a:ext>
              </a:extLst>
            </p:cNvPr>
            <p:cNvSpPr txBox="1"/>
            <p:nvPr/>
          </p:nvSpPr>
          <p:spPr>
            <a:xfrm>
              <a:off x="2603104" y="3865948"/>
              <a:ext cx="994869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卷积层</a:t>
              </a: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5F952354-3E9A-929D-BABB-02F203248A50}"/>
                </a:ext>
              </a:extLst>
            </p:cNvPr>
            <p:cNvSpPr txBox="1"/>
            <p:nvPr/>
          </p:nvSpPr>
          <p:spPr>
            <a:xfrm>
              <a:off x="2589863" y="4354531"/>
              <a:ext cx="1113894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批归一化</a:t>
              </a:r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D482406F-C621-36B2-F824-98FFEE5B8FEA}"/>
                </a:ext>
              </a:extLst>
            </p:cNvPr>
            <p:cNvSpPr txBox="1"/>
            <p:nvPr/>
          </p:nvSpPr>
          <p:spPr>
            <a:xfrm>
              <a:off x="4883873" y="3780668"/>
              <a:ext cx="1583089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Leaky Relu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2" name="立方体 251">
              <a:extLst>
                <a:ext uri="{FF2B5EF4-FFF2-40B4-BE49-F238E27FC236}">
                  <a16:creationId xmlns:a16="http://schemas.microsoft.com/office/drawing/2014/main" id="{E4DB0823-CD20-3CBD-955F-EBAB5A8B0BAC}"/>
                </a:ext>
              </a:extLst>
            </p:cNvPr>
            <p:cNvSpPr/>
            <p:nvPr/>
          </p:nvSpPr>
          <p:spPr>
            <a:xfrm>
              <a:off x="1935319" y="3874171"/>
              <a:ext cx="467650" cy="369321"/>
            </a:xfrm>
            <a:prstGeom prst="cub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3" name="立方体 252">
              <a:extLst>
                <a:ext uri="{FF2B5EF4-FFF2-40B4-BE49-F238E27FC236}">
                  <a16:creationId xmlns:a16="http://schemas.microsoft.com/office/drawing/2014/main" id="{9576342E-6A63-47AE-5AED-5E71BEF985F3}"/>
                </a:ext>
              </a:extLst>
            </p:cNvPr>
            <p:cNvSpPr/>
            <p:nvPr/>
          </p:nvSpPr>
          <p:spPr>
            <a:xfrm>
              <a:off x="1935319" y="4383670"/>
              <a:ext cx="467650" cy="369321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4" name="立方体 253">
              <a:extLst>
                <a:ext uri="{FF2B5EF4-FFF2-40B4-BE49-F238E27FC236}">
                  <a16:creationId xmlns:a16="http://schemas.microsoft.com/office/drawing/2014/main" id="{993E3216-7436-6DFE-1E7C-E64E1C065402}"/>
                </a:ext>
              </a:extLst>
            </p:cNvPr>
            <p:cNvSpPr/>
            <p:nvPr/>
          </p:nvSpPr>
          <p:spPr>
            <a:xfrm>
              <a:off x="1935319" y="4905746"/>
              <a:ext cx="467650" cy="369321"/>
            </a:xfrm>
            <a:prstGeom prst="cub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5" name="立方体 254">
              <a:extLst>
                <a:ext uri="{FF2B5EF4-FFF2-40B4-BE49-F238E27FC236}">
                  <a16:creationId xmlns:a16="http://schemas.microsoft.com/office/drawing/2014/main" id="{0E73F8CB-73D8-41EF-8CB4-B495BBF5DAB2}"/>
                </a:ext>
              </a:extLst>
            </p:cNvPr>
            <p:cNvSpPr/>
            <p:nvPr/>
          </p:nvSpPr>
          <p:spPr>
            <a:xfrm>
              <a:off x="4231986" y="3879653"/>
              <a:ext cx="467650" cy="369321"/>
            </a:xfrm>
            <a:prstGeom prst="cub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6" name="立方体 255">
              <a:extLst>
                <a:ext uri="{FF2B5EF4-FFF2-40B4-BE49-F238E27FC236}">
                  <a16:creationId xmlns:a16="http://schemas.microsoft.com/office/drawing/2014/main" id="{BA22BAFC-9BAD-EA91-5029-7AFB10BCF76A}"/>
                </a:ext>
              </a:extLst>
            </p:cNvPr>
            <p:cNvSpPr/>
            <p:nvPr/>
          </p:nvSpPr>
          <p:spPr>
            <a:xfrm>
              <a:off x="4231986" y="4389152"/>
              <a:ext cx="467650" cy="369321"/>
            </a:xfrm>
            <a:prstGeom prst="cub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7" name="立方体 256">
              <a:extLst>
                <a:ext uri="{FF2B5EF4-FFF2-40B4-BE49-F238E27FC236}">
                  <a16:creationId xmlns:a16="http://schemas.microsoft.com/office/drawing/2014/main" id="{F9955331-B914-9EF1-DCA6-2D001A747188}"/>
                </a:ext>
              </a:extLst>
            </p:cNvPr>
            <p:cNvSpPr/>
            <p:nvPr/>
          </p:nvSpPr>
          <p:spPr>
            <a:xfrm>
              <a:off x="4231986" y="4882672"/>
              <a:ext cx="467650" cy="369321"/>
            </a:xfrm>
            <a:prstGeom prst="cub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DC276926-6366-93CE-E418-BCAF54DE5AE1}"/>
                </a:ext>
              </a:extLst>
            </p:cNvPr>
            <p:cNvSpPr txBox="1"/>
            <p:nvPr/>
          </p:nvSpPr>
          <p:spPr>
            <a:xfrm>
              <a:off x="2589863" y="4843370"/>
              <a:ext cx="1655573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Flatten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层</a:t>
              </a:r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7BE46005-215C-0DDB-DA97-ACA366A6BF74}"/>
                </a:ext>
              </a:extLst>
            </p:cNvPr>
            <p:cNvSpPr txBox="1"/>
            <p:nvPr/>
          </p:nvSpPr>
          <p:spPr>
            <a:xfrm>
              <a:off x="4883873" y="4352139"/>
              <a:ext cx="1190579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Dropout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85C16858-3B21-4437-D6D9-B3B92D3B10FE}"/>
                </a:ext>
              </a:extLst>
            </p:cNvPr>
            <p:cNvSpPr txBox="1"/>
            <p:nvPr/>
          </p:nvSpPr>
          <p:spPr>
            <a:xfrm>
              <a:off x="4883874" y="4879110"/>
              <a:ext cx="1144792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全连接层</a:t>
              </a:r>
            </a:p>
          </p:txBody>
        </p:sp>
        <p:sp>
          <p:nvSpPr>
            <p:cNvPr id="263" name="立方体 262">
              <a:extLst>
                <a:ext uri="{FF2B5EF4-FFF2-40B4-BE49-F238E27FC236}">
                  <a16:creationId xmlns:a16="http://schemas.microsoft.com/office/drawing/2014/main" id="{22CDB2EF-AC1F-1CB9-531C-D0690130A835}"/>
                </a:ext>
              </a:extLst>
            </p:cNvPr>
            <p:cNvSpPr/>
            <p:nvPr/>
          </p:nvSpPr>
          <p:spPr>
            <a:xfrm>
              <a:off x="4229329" y="5429804"/>
              <a:ext cx="467650" cy="369321"/>
            </a:xfrm>
            <a:prstGeom prst="cub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64" name="文本框 263">
              <a:extLst>
                <a:ext uri="{FF2B5EF4-FFF2-40B4-BE49-F238E27FC236}">
                  <a16:creationId xmlns:a16="http://schemas.microsoft.com/office/drawing/2014/main" id="{53A895C8-70A9-E87D-B55B-B4C8ABF278AD}"/>
                </a:ext>
              </a:extLst>
            </p:cNvPr>
            <p:cNvSpPr txBox="1"/>
            <p:nvPr/>
          </p:nvSpPr>
          <p:spPr>
            <a:xfrm>
              <a:off x="4883873" y="5367427"/>
              <a:ext cx="1655573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嵌入层</a:t>
              </a:r>
            </a:p>
          </p:txBody>
        </p:sp>
        <p:sp>
          <p:nvSpPr>
            <p:cNvPr id="76" name="立方体 75">
              <a:extLst>
                <a:ext uri="{FF2B5EF4-FFF2-40B4-BE49-F238E27FC236}">
                  <a16:creationId xmlns:a16="http://schemas.microsoft.com/office/drawing/2014/main" id="{D0F08CF5-0ABF-DFB2-17FC-45B19E6E6D99}"/>
                </a:ext>
              </a:extLst>
            </p:cNvPr>
            <p:cNvSpPr/>
            <p:nvPr/>
          </p:nvSpPr>
          <p:spPr>
            <a:xfrm>
              <a:off x="1935319" y="5453086"/>
              <a:ext cx="467650" cy="369321"/>
            </a:xfrm>
            <a:prstGeom prst="cub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3F7A696-8856-D749-2D0A-0E03476B975E}"/>
                </a:ext>
              </a:extLst>
            </p:cNvPr>
            <p:cNvSpPr txBox="1"/>
            <p:nvPr/>
          </p:nvSpPr>
          <p:spPr>
            <a:xfrm>
              <a:off x="2589863" y="5390710"/>
              <a:ext cx="1655573" cy="438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线性层</a:t>
              </a:r>
            </a:p>
          </p:txBody>
        </p:sp>
      </p:grp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37439E16-EE15-F000-46DA-ED4B0FAF0F64}"/>
              </a:ext>
            </a:extLst>
          </p:cNvPr>
          <p:cNvGrpSpPr/>
          <p:nvPr/>
        </p:nvGrpSpPr>
        <p:grpSpPr>
          <a:xfrm>
            <a:off x="10705387" y="1742888"/>
            <a:ext cx="325328" cy="2027865"/>
            <a:chOff x="6416409" y="366232"/>
            <a:chExt cx="325328" cy="2027865"/>
          </a:xfrm>
        </p:grpSpPr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26703064-2A06-DC43-3D88-D9A1B86C6EF8}"/>
                </a:ext>
              </a:extLst>
            </p:cNvPr>
            <p:cNvGrpSpPr/>
            <p:nvPr/>
          </p:nvGrpSpPr>
          <p:grpSpPr>
            <a:xfrm>
              <a:off x="6416409" y="366232"/>
              <a:ext cx="325328" cy="2027865"/>
              <a:chOff x="1898469" y="2907497"/>
              <a:chExt cx="606666" cy="3781536"/>
            </a:xfrm>
          </p:grpSpPr>
          <p:sp>
            <p:nvSpPr>
              <p:cNvPr id="273" name="矩形 272">
                <a:extLst>
                  <a:ext uri="{FF2B5EF4-FFF2-40B4-BE49-F238E27FC236}">
                    <a16:creationId xmlns:a16="http://schemas.microsoft.com/office/drawing/2014/main" id="{818C89C8-4AAD-891C-90F2-7266A86DE941}"/>
                  </a:ext>
                </a:extLst>
              </p:cNvPr>
              <p:cNvSpPr/>
              <p:nvPr/>
            </p:nvSpPr>
            <p:spPr>
              <a:xfrm>
                <a:off x="1898469" y="2907497"/>
                <a:ext cx="606666" cy="3781536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7E1F0ED7-6034-EA27-353B-97530079069F}"/>
                  </a:ext>
                </a:extLst>
              </p:cNvPr>
              <p:cNvSpPr txBox="1"/>
              <p:nvPr/>
            </p:nvSpPr>
            <p:spPr>
              <a:xfrm flipH="1">
                <a:off x="2002563" y="4545854"/>
                <a:ext cx="448732" cy="1607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1"/>
                    </a:solidFill>
                    <a:latin typeface="+mj-lt"/>
                    <a:ea typeface="黑体" panose="02010609060101010101" pitchFamily="49" charset="-122"/>
                  </a:rPr>
                  <a:t>.</a:t>
                </a:r>
              </a:p>
              <a:p>
                <a:r>
                  <a:rPr lang="en-US" altLang="zh-CN" sz="1000" b="1" dirty="0">
                    <a:solidFill>
                      <a:schemeClr val="accent1"/>
                    </a:solidFill>
                    <a:latin typeface="+mj-lt"/>
                    <a:ea typeface="黑体" panose="02010609060101010101" pitchFamily="49" charset="-122"/>
                  </a:rPr>
                  <a:t>.</a:t>
                </a:r>
              </a:p>
              <a:p>
                <a:r>
                  <a:rPr lang="en-US" altLang="zh-CN" sz="1000" b="1" dirty="0">
                    <a:solidFill>
                      <a:schemeClr val="accent1"/>
                    </a:solidFill>
                    <a:latin typeface="+mj-lt"/>
                    <a:ea typeface="黑体" panose="02010609060101010101" pitchFamily="49" charset="-122"/>
                  </a:rPr>
                  <a:t>.</a:t>
                </a:r>
              </a:p>
              <a:p>
                <a:r>
                  <a:rPr lang="en-US" altLang="zh-CN" sz="1000" b="1" dirty="0">
                    <a:solidFill>
                      <a:schemeClr val="accent1"/>
                    </a:solidFill>
                    <a:latin typeface="+mj-lt"/>
                    <a:ea typeface="黑体" panose="02010609060101010101" pitchFamily="49" charset="-122"/>
                  </a:rPr>
                  <a:t>.</a:t>
                </a:r>
              </a:p>
              <a:p>
                <a:r>
                  <a:rPr lang="en-US" altLang="zh-CN" sz="1000" b="1" dirty="0">
                    <a:solidFill>
                      <a:schemeClr val="accent1"/>
                    </a:solidFill>
                    <a:latin typeface="+mj-lt"/>
                    <a:ea typeface="黑体" panose="02010609060101010101" pitchFamily="49" charset="-122"/>
                  </a:rPr>
                  <a:t>.</a:t>
                </a:r>
                <a:endParaRPr lang="en-US" altLang="zh-CN" sz="2000" b="1" dirty="0">
                  <a:solidFill>
                    <a:schemeClr val="accent1"/>
                  </a:solidFill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69" name="星形: 四角 268">
              <a:extLst>
                <a:ext uri="{FF2B5EF4-FFF2-40B4-BE49-F238E27FC236}">
                  <a16:creationId xmlns:a16="http://schemas.microsoft.com/office/drawing/2014/main" id="{8987F845-120A-999B-9212-A675EC020A75}"/>
                </a:ext>
              </a:extLst>
            </p:cNvPr>
            <p:cNvSpPr/>
            <p:nvPr/>
          </p:nvSpPr>
          <p:spPr>
            <a:xfrm>
              <a:off x="6456895" y="394523"/>
              <a:ext cx="260546" cy="328233"/>
            </a:xfrm>
            <a:prstGeom prst="star4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0" name="星形: 四角 269">
              <a:extLst>
                <a:ext uri="{FF2B5EF4-FFF2-40B4-BE49-F238E27FC236}">
                  <a16:creationId xmlns:a16="http://schemas.microsoft.com/office/drawing/2014/main" id="{1B06CB2E-42FD-B5A3-2C2E-75879D6F396C}"/>
                </a:ext>
              </a:extLst>
            </p:cNvPr>
            <p:cNvSpPr/>
            <p:nvPr/>
          </p:nvSpPr>
          <p:spPr>
            <a:xfrm>
              <a:off x="6456895" y="766415"/>
              <a:ext cx="260546" cy="328233"/>
            </a:xfrm>
            <a:prstGeom prst="star4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1" name="星形: 四角 270">
              <a:extLst>
                <a:ext uri="{FF2B5EF4-FFF2-40B4-BE49-F238E27FC236}">
                  <a16:creationId xmlns:a16="http://schemas.microsoft.com/office/drawing/2014/main" id="{A52703BE-6EEC-F24C-62AB-05AD918CA1F9}"/>
                </a:ext>
              </a:extLst>
            </p:cNvPr>
            <p:cNvSpPr/>
            <p:nvPr/>
          </p:nvSpPr>
          <p:spPr>
            <a:xfrm>
              <a:off x="6456895" y="1138307"/>
              <a:ext cx="260546" cy="328233"/>
            </a:xfrm>
            <a:prstGeom prst="star4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2" name="星形: 四角 271">
              <a:extLst>
                <a:ext uri="{FF2B5EF4-FFF2-40B4-BE49-F238E27FC236}">
                  <a16:creationId xmlns:a16="http://schemas.microsoft.com/office/drawing/2014/main" id="{C8D8667F-3778-A216-3377-34D0BA3DC4D5}"/>
                </a:ext>
              </a:extLst>
            </p:cNvPr>
            <p:cNvSpPr/>
            <p:nvPr/>
          </p:nvSpPr>
          <p:spPr>
            <a:xfrm>
              <a:off x="6456895" y="2044138"/>
              <a:ext cx="260546" cy="328233"/>
            </a:xfrm>
            <a:prstGeom prst="star4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62A7897F-C9B0-3AF9-3C63-97EE38711B47}"/>
              </a:ext>
            </a:extLst>
          </p:cNvPr>
          <p:cNvCxnSpPr>
            <a:cxnSpLocks/>
          </p:cNvCxnSpPr>
          <p:nvPr/>
        </p:nvCxnSpPr>
        <p:spPr>
          <a:xfrm>
            <a:off x="11117499" y="2674981"/>
            <a:ext cx="22490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文本框 285">
            <a:extLst>
              <a:ext uri="{FF2B5EF4-FFF2-40B4-BE49-F238E27FC236}">
                <a16:creationId xmlns:a16="http://schemas.microsoft.com/office/drawing/2014/main" id="{1643B1B4-EEBF-CED7-2F68-492511FAC652}"/>
              </a:ext>
            </a:extLst>
          </p:cNvPr>
          <p:cNvSpPr txBox="1"/>
          <p:nvPr/>
        </p:nvSpPr>
        <p:spPr>
          <a:xfrm>
            <a:off x="10327790" y="4139905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sigmoid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1DA321-BDA9-56AC-2D13-383D53F4B7F5}"/>
              </a:ext>
            </a:extLst>
          </p:cNvPr>
          <p:cNvSpPr txBox="1"/>
          <p:nvPr/>
        </p:nvSpPr>
        <p:spPr>
          <a:xfrm>
            <a:off x="1159024" y="3033016"/>
            <a:ext cx="94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图像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056EA7-A0CC-37D1-9DA5-8B0BFD416102}"/>
              </a:ext>
            </a:extLst>
          </p:cNvPr>
          <p:cNvSpPr txBox="1"/>
          <p:nvPr/>
        </p:nvSpPr>
        <p:spPr>
          <a:xfrm>
            <a:off x="2855521" y="5558726"/>
            <a:ext cx="54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512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FE8DAD-23BA-D4AD-2CCC-0C6778645285}"/>
              </a:ext>
            </a:extLst>
          </p:cNvPr>
          <p:cNvSpPr txBox="1"/>
          <p:nvPr/>
        </p:nvSpPr>
        <p:spPr>
          <a:xfrm>
            <a:off x="2902603" y="2975136"/>
            <a:ext cx="56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0.2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2AB557-A426-8EC8-9FC2-D52FF3B2EE1E}"/>
              </a:ext>
            </a:extLst>
          </p:cNvPr>
          <p:cNvSpPr txBox="1"/>
          <p:nvPr/>
        </p:nvSpPr>
        <p:spPr>
          <a:xfrm>
            <a:off x="4354750" y="2984912"/>
            <a:ext cx="66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0.25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107D50-34B8-C279-D307-EFFE5CB01319}"/>
              </a:ext>
            </a:extLst>
          </p:cNvPr>
          <p:cNvSpPr txBox="1"/>
          <p:nvPr/>
        </p:nvSpPr>
        <p:spPr>
          <a:xfrm>
            <a:off x="5720272" y="2975136"/>
            <a:ext cx="71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0.25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E23B1A-D6FF-F12D-1D65-A493FC828D43}"/>
              </a:ext>
            </a:extLst>
          </p:cNvPr>
          <p:cNvSpPr txBox="1"/>
          <p:nvPr/>
        </p:nvSpPr>
        <p:spPr>
          <a:xfrm>
            <a:off x="9803511" y="4153729"/>
            <a:ext cx="54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512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A149A1-32A3-18CE-3267-20FB71CF7897}"/>
              </a:ext>
            </a:extLst>
          </p:cNvPr>
          <p:cNvSpPr txBox="1"/>
          <p:nvPr/>
        </p:nvSpPr>
        <p:spPr>
          <a:xfrm>
            <a:off x="9186949" y="4344942"/>
            <a:ext cx="67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1536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141B74-2B8E-6CED-1184-9B3E0F7AEF63}"/>
              </a:ext>
            </a:extLst>
          </p:cNvPr>
          <p:cNvSpPr txBox="1"/>
          <p:nvPr/>
        </p:nvSpPr>
        <p:spPr>
          <a:xfrm>
            <a:off x="7872237" y="3208210"/>
            <a:ext cx="54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j-lt"/>
                <a:ea typeface="黑体" panose="02010609060101010101" pitchFamily="49" charset="-122"/>
              </a:rPr>
              <a:t>512</a:t>
            </a:r>
            <a:endParaRPr lang="zh-CN" altLang="en-US" b="1" dirty="0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E1A905-B693-428A-05A9-4FABF7CB3A89}"/>
              </a:ext>
            </a:extLst>
          </p:cNvPr>
          <p:cNvGrpSpPr/>
          <p:nvPr/>
        </p:nvGrpSpPr>
        <p:grpSpPr>
          <a:xfrm>
            <a:off x="0" y="-39518"/>
            <a:ext cx="12192000" cy="597706"/>
            <a:chOff x="0" y="-69459"/>
            <a:chExt cx="12192000" cy="59770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A04565C-53BA-0927-62E7-47E119007946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8" name="jwc_logo">
              <a:extLst>
                <a:ext uri="{FF2B5EF4-FFF2-40B4-BE49-F238E27FC236}">
                  <a16:creationId xmlns:a16="http://schemas.microsoft.com/office/drawing/2014/main" id="{6925017D-B40B-80F1-5DF8-F12B8D858C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26" name="Freeform 34">
                <a:extLst>
                  <a:ext uri="{FF2B5EF4-FFF2-40B4-BE49-F238E27FC236}">
                    <a16:creationId xmlns:a16="http://schemas.microsoft.com/office/drawing/2014/main" id="{2F4D45D2-36FB-DE4B-3035-2006B3FD076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35">
                <a:extLst>
                  <a:ext uri="{FF2B5EF4-FFF2-40B4-BE49-F238E27FC236}">
                    <a16:creationId xmlns:a16="http://schemas.microsoft.com/office/drawing/2014/main" id="{35DA9E5B-380D-38DF-C557-DF447580896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BED86347-8CBB-EB07-5A10-425A6F97C9C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Freeform 37">
                <a:extLst>
                  <a:ext uri="{FF2B5EF4-FFF2-40B4-BE49-F238E27FC236}">
                    <a16:creationId xmlns:a16="http://schemas.microsoft.com/office/drawing/2014/main" id="{6C26CD98-EB95-B31F-9039-96B2CBCE60D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38">
                <a:extLst>
                  <a:ext uri="{FF2B5EF4-FFF2-40B4-BE49-F238E27FC236}">
                    <a16:creationId xmlns:a16="http://schemas.microsoft.com/office/drawing/2014/main" id="{59DB821D-9F52-72AF-8956-68BC1EA4AC9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39">
                <a:extLst>
                  <a:ext uri="{FF2B5EF4-FFF2-40B4-BE49-F238E27FC236}">
                    <a16:creationId xmlns:a16="http://schemas.microsoft.com/office/drawing/2014/main" id="{79E13530-FCE6-1279-EA57-17587A39460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0">
                <a:extLst>
                  <a:ext uri="{FF2B5EF4-FFF2-40B4-BE49-F238E27FC236}">
                    <a16:creationId xmlns:a16="http://schemas.microsoft.com/office/drawing/2014/main" id="{4C31B3E4-9B29-0083-6EF3-CCF0E4C6B2A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C9E1EB68-9E6B-2C37-1162-91A76AF46054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77" name="Freeform 42">
                <a:extLst>
                  <a:ext uri="{FF2B5EF4-FFF2-40B4-BE49-F238E27FC236}">
                    <a16:creationId xmlns:a16="http://schemas.microsoft.com/office/drawing/2014/main" id="{9FA9B826-68C4-9267-C70B-B7232085382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0" name="Freeform 43">
                <a:extLst>
                  <a:ext uri="{FF2B5EF4-FFF2-40B4-BE49-F238E27FC236}">
                    <a16:creationId xmlns:a16="http://schemas.microsoft.com/office/drawing/2014/main" id="{AD3A8298-6FA8-4077-8662-0FD026459A9C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1" name="Freeform 44">
                <a:extLst>
                  <a:ext uri="{FF2B5EF4-FFF2-40B4-BE49-F238E27FC236}">
                    <a16:creationId xmlns:a16="http://schemas.microsoft.com/office/drawing/2014/main" id="{82CCABC1-CA06-4976-8AC7-FD3AEEE4F1E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2" name="Freeform 45">
                <a:extLst>
                  <a:ext uri="{FF2B5EF4-FFF2-40B4-BE49-F238E27FC236}">
                    <a16:creationId xmlns:a16="http://schemas.microsoft.com/office/drawing/2014/main" id="{0817BFD3-DF17-2F7F-EA19-29F78EE06CD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Freeform 46">
                <a:extLst>
                  <a:ext uri="{FF2B5EF4-FFF2-40B4-BE49-F238E27FC236}">
                    <a16:creationId xmlns:a16="http://schemas.microsoft.com/office/drawing/2014/main" id="{419CA0DA-9D9F-BE9B-F73D-57A9C0D5222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9" name="Freeform 47">
                <a:extLst>
                  <a:ext uri="{FF2B5EF4-FFF2-40B4-BE49-F238E27FC236}">
                    <a16:creationId xmlns:a16="http://schemas.microsoft.com/office/drawing/2014/main" id="{95649C2A-AD18-0495-B9EF-B45C1BCF5B9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0" name="Freeform 48">
                <a:extLst>
                  <a:ext uri="{FF2B5EF4-FFF2-40B4-BE49-F238E27FC236}">
                    <a16:creationId xmlns:a16="http://schemas.microsoft.com/office/drawing/2014/main" id="{2D6B1B8B-DF07-D3DC-5BA5-ADA810601B3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1" name="Freeform 49">
                <a:extLst>
                  <a:ext uri="{FF2B5EF4-FFF2-40B4-BE49-F238E27FC236}">
                    <a16:creationId xmlns:a16="http://schemas.microsoft.com/office/drawing/2014/main" id="{A22ED679-D969-88DC-7D74-D414C50C3CF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5" name="Freeform 50">
                <a:extLst>
                  <a:ext uri="{FF2B5EF4-FFF2-40B4-BE49-F238E27FC236}">
                    <a16:creationId xmlns:a16="http://schemas.microsoft.com/office/drawing/2014/main" id="{C3E3806A-4E97-7139-6F5F-895BDBA0756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8" name="Freeform 51">
                <a:extLst>
                  <a:ext uri="{FF2B5EF4-FFF2-40B4-BE49-F238E27FC236}">
                    <a16:creationId xmlns:a16="http://schemas.microsoft.com/office/drawing/2014/main" id="{812DC6EC-99A8-A506-71EA-38FEA56A4C8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3" name="Freeform 52">
                <a:extLst>
                  <a:ext uri="{FF2B5EF4-FFF2-40B4-BE49-F238E27FC236}">
                    <a16:creationId xmlns:a16="http://schemas.microsoft.com/office/drawing/2014/main" id="{6B552532-5146-6129-A419-2886CF5546E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7EAAAE9-B8C6-CB73-BA5D-B7946D8C3EED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DC-CGAN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判别器</a:t>
              </a:r>
            </a:p>
          </p:txBody>
        </p:sp>
      </p:grp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8F925FB-A1A7-B8AE-46EE-87D436AB32AE}"/>
              </a:ext>
            </a:extLst>
          </p:cNvPr>
          <p:cNvCxnSpPr>
            <a:cxnSpLocks/>
          </p:cNvCxnSpPr>
          <p:nvPr/>
        </p:nvCxnSpPr>
        <p:spPr>
          <a:xfrm flipV="1">
            <a:off x="3949844" y="4124031"/>
            <a:ext cx="5188294" cy="677552"/>
          </a:xfrm>
          <a:prstGeom prst="bentConnector3">
            <a:avLst>
              <a:gd name="adj1" fmla="val 50000"/>
            </a:avLst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0CD43D58-99BF-3D78-D851-42935901545C}"/>
              </a:ext>
            </a:extLst>
          </p:cNvPr>
          <p:cNvCxnSpPr>
            <a:cxnSpLocks/>
          </p:cNvCxnSpPr>
          <p:nvPr/>
        </p:nvCxnSpPr>
        <p:spPr>
          <a:xfrm>
            <a:off x="2306720" y="4960936"/>
            <a:ext cx="240138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5F3360CD-CCA9-C880-692A-F1E71892A04F}"/>
              </a:ext>
            </a:extLst>
          </p:cNvPr>
          <p:cNvSpPr txBox="1"/>
          <p:nvPr/>
        </p:nvSpPr>
        <p:spPr>
          <a:xfrm>
            <a:off x="7956928" y="945378"/>
            <a:ext cx="106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展平</a:t>
            </a:r>
          </a:p>
        </p:txBody>
      </p:sp>
    </p:spTree>
    <p:extLst>
      <p:ext uri="{BB962C8B-B14F-4D97-AF65-F5344CB8AC3E}">
        <p14:creationId xmlns:p14="http://schemas.microsoft.com/office/powerpoint/2010/main" val="3816838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8EAC-080C-4EE2-EB0E-34A8E48A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7554B98D-3AA8-B5A2-B317-78B7781DA2D4}"/>
              </a:ext>
            </a:extLst>
          </p:cNvPr>
          <p:cNvGrpSpPr/>
          <p:nvPr/>
        </p:nvGrpSpPr>
        <p:grpSpPr>
          <a:xfrm>
            <a:off x="111178" y="1378595"/>
            <a:ext cx="11944766" cy="2841621"/>
            <a:chOff x="142350" y="3358997"/>
            <a:chExt cx="11944766" cy="284162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F6CB1A8-EE0B-4F6E-AC14-7991AB460D02}"/>
                </a:ext>
              </a:extLst>
            </p:cNvPr>
            <p:cNvGrpSpPr/>
            <p:nvPr/>
          </p:nvGrpSpPr>
          <p:grpSpPr>
            <a:xfrm>
              <a:off x="142350" y="3358997"/>
              <a:ext cx="2160000" cy="2837571"/>
              <a:chOff x="358890" y="3358997"/>
              <a:chExt cx="2160000" cy="2837571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C89FF4-E276-457F-D574-9854E1457A1B}"/>
                  </a:ext>
                </a:extLst>
              </p:cNvPr>
              <p:cNvSpPr txBox="1"/>
              <p:nvPr/>
            </p:nvSpPr>
            <p:spPr>
              <a:xfrm>
                <a:off x="884892" y="5550237"/>
                <a:ext cx="11079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10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endParaRPr lang="en-US" altLang="zh-CN" b="1" dirty="0">
                  <a:latin typeface="+mj-lt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显示语义</a:t>
                </a:r>
              </a:p>
            </p:txBody>
          </p:sp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320BE225-A485-B73B-7665-B2D0EDDC59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890" y="3358997"/>
                <a:ext cx="2160000" cy="2160000"/>
              </a:xfrm>
              <a:prstGeom prst="rect">
                <a:avLst/>
              </a:prstGeom>
            </p:spPr>
          </p:pic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AF0DA7B-DDD9-8141-475B-8A8ED114B0FC}"/>
                </a:ext>
              </a:extLst>
            </p:cNvPr>
            <p:cNvGrpSpPr/>
            <p:nvPr/>
          </p:nvGrpSpPr>
          <p:grpSpPr>
            <a:xfrm>
              <a:off x="3237786" y="3358997"/>
              <a:ext cx="2160000" cy="2837571"/>
              <a:chOff x="3150004" y="3358997"/>
              <a:chExt cx="2160000" cy="2837571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30EE316-0114-3693-9E6A-5349E6E2966B}"/>
                  </a:ext>
                </a:extLst>
              </p:cNvPr>
              <p:cNvSpPr txBox="1"/>
              <p:nvPr/>
            </p:nvSpPr>
            <p:spPr>
              <a:xfrm>
                <a:off x="3729627" y="5550237"/>
                <a:ext cx="11079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50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endParaRPr lang="en-US" altLang="zh-CN" b="1" dirty="0">
                  <a:latin typeface="+mj-lt"/>
                  <a:ea typeface="黑体" panose="02010609060101010101" pitchFamily="49" charset="-122"/>
                </a:endParaRPr>
              </a:p>
              <a:p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模仿纹理</a:t>
                </a:r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BCEEBD1E-8379-B0BB-DFA2-D4AB57A53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0004" y="3358997"/>
                <a:ext cx="2160000" cy="2160000"/>
              </a:xfrm>
              <a:prstGeom prst="rect">
                <a:avLst/>
              </a:prstGeom>
            </p:spPr>
          </p:pic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CCD25AE-7800-961A-235B-86AD27CF48EA}"/>
                </a:ext>
              </a:extLst>
            </p:cNvPr>
            <p:cNvGrpSpPr/>
            <p:nvPr/>
          </p:nvGrpSpPr>
          <p:grpSpPr>
            <a:xfrm>
              <a:off x="6501967" y="3358997"/>
              <a:ext cx="2160000" cy="2841621"/>
              <a:chOff x="6202044" y="3358997"/>
              <a:chExt cx="2160000" cy="2841621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A6941C2-C5D0-9DB1-B494-877FEAE6C42B}"/>
                  </a:ext>
                </a:extLst>
              </p:cNvPr>
              <p:cNvSpPr txBox="1"/>
              <p:nvPr/>
            </p:nvSpPr>
            <p:spPr>
              <a:xfrm>
                <a:off x="6612630" y="5554287"/>
                <a:ext cx="13388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100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endParaRPr lang="en-US" altLang="zh-CN" b="1" dirty="0">
                  <a:latin typeface="+mj-lt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产生多样性</a:t>
                </a:r>
              </a:p>
            </p:txBody>
          </p:sp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B199056B-6168-C9B5-241E-9B6E6C71E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2044" y="3358997"/>
                <a:ext cx="2160000" cy="2160000"/>
              </a:xfrm>
              <a:prstGeom prst="rect">
                <a:avLst/>
              </a:prstGeom>
            </p:spPr>
          </p:pic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5F39796-7316-C5CC-0E34-F280F526E784}"/>
                </a:ext>
              </a:extLst>
            </p:cNvPr>
            <p:cNvGrpSpPr/>
            <p:nvPr/>
          </p:nvGrpSpPr>
          <p:grpSpPr>
            <a:xfrm>
              <a:off x="9927116" y="3358997"/>
              <a:ext cx="2160000" cy="2837571"/>
              <a:chOff x="9349206" y="3358997"/>
              <a:chExt cx="2160000" cy="283757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DDABD754-5A80-572B-41D9-BDB21FCCA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49206" y="3358997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FBE4771-8288-D795-5B76-7EF048185D04}"/>
                  </a:ext>
                </a:extLst>
              </p:cNvPr>
              <p:cNvSpPr txBox="1"/>
              <p:nvPr/>
            </p:nvSpPr>
            <p:spPr>
              <a:xfrm>
                <a:off x="10048332" y="5550237"/>
                <a:ext cx="7617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200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endParaRPr lang="en-US" altLang="zh-CN" b="1" dirty="0">
                  <a:latin typeface="+mj-lt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收敛</a:t>
                </a:r>
              </a:p>
            </p:txBody>
          </p:sp>
        </p:grpSp>
        <p:sp>
          <p:nvSpPr>
            <p:cNvPr id="15" name="箭头: 右 14">
              <a:extLst>
                <a:ext uri="{FF2B5EF4-FFF2-40B4-BE49-F238E27FC236}">
                  <a16:creationId xmlns:a16="http://schemas.microsoft.com/office/drawing/2014/main" id="{692A72B2-9543-7536-7D6D-612A00E91AA2}"/>
                </a:ext>
              </a:extLst>
            </p:cNvPr>
            <p:cNvSpPr/>
            <p:nvPr/>
          </p:nvSpPr>
          <p:spPr>
            <a:xfrm>
              <a:off x="2444541" y="4226856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61C72A04-067F-75AF-B230-3675E01A89A8}"/>
                </a:ext>
              </a:extLst>
            </p:cNvPr>
            <p:cNvSpPr/>
            <p:nvPr/>
          </p:nvSpPr>
          <p:spPr>
            <a:xfrm>
              <a:off x="5624350" y="4226856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C9A9E0EF-C42F-B2E3-0B4E-F76BCD36EF11}"/>
                </a:ext>
              </a:extLst>
            </p:cNvPr>
            <p:cNvSpPr/>
            <p:nvPr/>
          </p:nvSpPr>
          <p:spPr>
            <a:xfrm>
              <a:off x="8978949" y="4226856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DC8A773-509E-37F1-570E-B12A8637BB88}"/>
              </a:ext>
            </a:extLst>
          </p:cNvPr>
          <p:cNvSpPr txBox="1"/>
          <p:nvPr/>
        </p:nvSpPr>
        <p:spPr>
          <a:xfrm>
            <a:off x="87433" y="542831"/>
            <a:ext cx="6156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使用了一种</a:t>
            </a:r>
            <a:r>
              <a:rPr lang="en-US" altLang="zh-CN" sz="2400" b="1" dirty="0">
                <a:latin typeface="+mj-lt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批次不同策略的训练方式</a:t>
            </a:r>
            <a:endParaRPr lang="en-US" altLang="zh-CN" sz="2400" b="1" dirty="0">
              <a:latin typeface="+mj-lt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+mj-lt"/>
                <a:ea typeface="黑体" panose="02010609060101010101" pitchFamily="49" charset="-122"/>
              </a:rPr>
              <a:t>200</a:t>
            </a:r>
            <a:r>
              <a:rPr lang="zh-CN" altLang="en-US" sz="2000" b="1" dirty="0">
                <a:latin typeface="+mj-lt"/>
                <a:ea typeface="黑体" panose="02010609060101010101" pitchFamily="49" charset="-122"/>
              </a:rPr>
              <a:t>轮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48F89BC-BA88-8CEC-DB22-DA4B290A2550}"/>
              </a:ext>
            </a:extLst>
          </p:cNvPr>
          <p:cNvGrpSpPr/>
          <p:nvPr/>
        </p:nvGrpSpPr>
        <p:grpSpPr>
          <a:xfrm>
            <a:off x="116166" y="4392799"/>
            <a:ext cx="1092636" cy="646901"/>
            <a:chOff x="2148659" y="152307"/>
            <a:chExt cx="1092636" cy="64690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234284E-D9AE-BAFD-1E97-1C11B95E7E0C}"/>
                </a:ext>
              </a:extLst>
            </p:cNvPr>
            <p:cNvSpPr/>
            <p:nvPr/>
          </p:nvSpPr>
          <p:spPr>
            <a:xfrm>
              <a:off x="2148659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77BA092-E724-AF28-534C-8DC8EDB8CD60}"/>
                </a:ext>
              </a:extLst>
            </p:cNvPr>
            <p:cNvSpPr txBox="1"/>
            <p:nvPr/>
          </p:nvSpPr>
          <p:spPr>
            <a:xfrm>
              <a:off x="2148659" y="152877"/>
              <a:ext cx="10926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lr_g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=2e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-4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lr_d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=1e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-4</a:t>
              </a:r>
              <a:endParaRPr lang="zh-CN" altLang="en-US" b="1" baseline="3000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0616405-B134-EEE8-0273-937C14EE8E1E}"/>
              </a:ext>
            </a:extLst>
          </p:cNvPr>
          <p:cNvGrpSpPr/>
          <p:nvPr/>
        </p:nvGrpSpPr>
        <p:grpSpPr>
          <a:xfrm>
            <a:off x="84450" y="5248424"/>
            <a:ext cx="1198710" cy="646331"/>
            <a:chOff x="3210845" y="152306"/>
            <a:chExt cx="1198710" cy="646331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5FE43C0-C29E-E90E-A57A-9D0A7B1389FA}"/>
                </a:ext>
              </a:extLst>
            </p:cNvPr>
            <p:cNvSpPr/>
            <p:nvPr/>
          </p:nvSpPr>
          <p:spPr>
            <a:xfrm>
              <a:off x="3253045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69421E7-6309-DD44-4123-4D0A95B7186C}"/>
                </a:ext>
              </a:extLst>
            </p:cNvPr>
            <p:cNvSpPr txBox="1"/>
            <p:nvPr/>
          </p:nvSpPr>
          <p:spPr>
            <a:xfrm>
              <a:off x="3210845" y="152306"/>
              <a:ext cx="11987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label=0.6 noise=0.4 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89B2802-5BD5-2B37-3FAD-DCDE4D730F9E}"/>
              </a:ext>
            </a:extLst>
          </p:cNvPr>
          <p:cNvGrpSpPr/>
          <p:nvPr/>
        </p:nvGrpSpPr>
        <p:grpSpPr>
          <a:xfrm>
            <a:off x="84450" y="6115459"/>
            <a:ext cx="1372868" cy="646331"/>
            <a:chOff x="4370130" y="128248"/>
            <a:chExt cx="1372868" cy="646331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76D81B3-6141-3B3B-2CE2-02D885DB008F}"/>
                </a:ext>
              </a:extLst>
            </p:cNvPr>
            <p:cNvSpPr/>
            <p:nvPr/>
          </p:nvSpPr>
          <p:spPr>
            <a:xfrm>
              <a:off x="4429530" y="152307"/>
              <a:ext cx="1198710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9434176-9317-031D-49C0-A1E41C568F86}"/>
                </a:ext>
              </a:extLst>
            </p:cNvPr>
            <p:cNvSpPr txBox="1"/>
            <p:nvPr/>
          </p:nvSpPr>
          <p:spPr>
            <a:xfrm>
              <a:off x="4370130" y="128248"/>
              <a:ext cx="13728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g_loss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1.0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d_loss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0.5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27F9C00-230F-3EDD-D1C3-5D1A1B711B2B}"/>
              </a:ext>
            </a:extLst>
          </p:cNvPr>
          <p:cNvGrpSpPr/>
          <p:nvPr/>
        </p:nvGrpSpPr>
        <p:grpSpPr>
          <a:xfrm>
            <a:off x="1958391" y="4293763"/>
            <a:ext cx="9024807" cy="2486678"/>
            <a:chOff x="52135" y="4355175"/>
            <a:chExt cx="9024807" cy="2486678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A2DC7E0-31A3-6203-1EDB-CE15096A00BB}"/>
                </a:ext>
              </a:extLst>
            </p:cNvPr>
            <p:cNvGrpSpPr/>
            <p:nvPr/>
          </p:nvGrpSpPr>
          <p:grpSpPr>
            <a:xfrm>
              <a:off x="52135" y="4355175"/>
              <a:ext cx="9024807" cy="2486678"/>
              <a:chOff x="-129901" y="4241167"/>
              <a:chExt cx="10371372" cy="2857710"/>
            </a:xfrm>
          </p:grpSpPr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05346636-65A2-3EC2-147E-EE4A1C01D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2280" y="4241167"/>
                <a:ext cx="9799191" cy="2400403"/>
              </a:xfrm>
              <a:prstGeom prst="rect">
                <a:avLst/>
              </a:prstGeom>
            </p:spPr>
          </p:pic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0060E1C-5F09-8A1D-09A4-226B1E351DA5}"/>
                  </a:ext>
                </a:extLst>
              </p:cNvPr>
              <p:cNvSpPr txBox="1"/>
              <p:nvPr/>
            </p:nvSpPr>
            <p:spPr>
              <a:xfrm>
                <a:off x="-129901" y="4756661"/>
                <a:ext cx="916755" cy="424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LOSS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E045AA8-0CD5-0B84-B5FD-97EC1AC961FC}"/>
                  </a:ext>
                </a:extLst>
              </p:cNvPr>
              <p:cNvSpPr txBox="1"/>
              <p:nvPr/>
            </p:nvSpPr>
            <p:spPr>
              <a:xfrm>
                <a:off x="5222815" y="6674438"/>
                <a:ext cx="1019952" cy="424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Epoch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523D1F1-67B4-E408-DF65-AF76454A3434}"/>
                </a:ext>
              </a:extLst>
            </p:cNvPr>
            <p:cNvSpPr/>
            <p:nvPr/>
          </p:nvSpPr>
          <p:spPr>
            <a:xfrm>
              <a:off x="723419" y="5519113"/>
              <a:ext cx="334768" cy="22777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2FEFF611-AADE-A58A-62F1-9411EA0B9C15}"/>
                </a:ext>
              </a:extLst>
            </p:cNvPr>
            <p:cNvSpPr/>
            <p:nvPr/>
          </p:nvSpPr>
          <p:spPr>
            <a:xfrm>
              <a:off x="723419" y="5753738"/>
              <a:ext cx="334768" cy="21924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3706CFC-AC2D-71AF-3E26-CC75AC5F02B6}"/>
              </a:ext>
            </a:extLst>
          </p:cNvPr>
          <p:cNvGrpSpPr/>
          <p:nvPr/>
        </p:nvGrpSpPr>
        <p:grpSpPr>
          <a:xfrm>
            <a:off x="6762678" y="633335"/>
            <a:ext cx="4370197" cy="673442"/>
            <a:chOff x="6387127" y="37336"/>
            <a:chExt cx="5140822" cy="792194"/>
          </a:xfrm>
        </p:grpSpPr>
        <p:sp>
          <p:nvSpPr>
            <p:cNvPr id="21" name="流程图: 数据 20">
              <a:extLst>
                <a:ext uri="{FF2B5EF4-FFF2-40B4-BE49-F238E27FC236}">
                  <a16:creationId xmlns:a16="http://schemas.microsoft.com/office/drawing/2014/main" id="{68B7C232-54E5-A075-3C44-B8E853A6D98A}"/>
                </a:ext>
              </a:extLst>
            </p:cNvPr>
            <p:cNvSpPr/>
            <p:nvPr/>
          </p:nvSpPr>
          <p:spPr>
            <a:xfrm>
              <a:off x="6387127" y="51320"/>
              <a:ext cx="5140822" cy="778210"/>
            </a:xfrm>
            <a:prstGeom prst="flowChartInputOutput">
              <a:avLst/>
            </a:prstGeom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554688C-4175-0DB6-57B1-2647F9E97996}"/>
                </a:ext>
              </a:extLst>
            </p:cNvPr>
            <p:cNvSpPr txBox="1"/>
            <p:nvPr/>
          </p:nvSpPr>
          <p:spPr>
            <a:xfrm>
              <a:off x="6887832" y="37336"/>
              <a:ext cx="3896858" cy="677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生成器 与 判别器 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竞争模式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42CDFE3-BDF8-76CD-5FAD-483A0B4A4EE8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5B94B7C-9C7F-EB03-065F-F4C3DDD33D1C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0" name="jwc_logo">
              <a:extLst>
                <a:ext uri="{FF2B5EF4-FFF2-40B4-BE49-F238E27FC236}">
                  <a16:creationId xmlns:a16="http://schemas.microsoft.com/office/drawing/2014/main" id="{39573C2C-F4E2-1BCE-69EA-A474042A76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42" name="Freeform 34">
                <a:extLst>
                  <a:ext uri="{FF2B5EF4-FFF2-40B4-BE49-F238E27FC236}">
                    <a16:creationId xmlns:a16="http://schemas.microsoft.com/office/drawing/2014/main" id="{71194339-834F-98FC-5A57-1228D07C860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Freeform 35">
                <a:extLst>
                  <a:ext uri="{FF2B5EF4-FFF2-40B4-BE49-F238E27FC236}">
                    <a16:creationId xmlns:a16="http://schemas.microsoft.com/office/drawing/2014/main" id="{20171EB4-71A5-3B87-B30E-ACF8B2C8E0D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36">
                <a:extLst>
                  <a:ext uri="{FF2B5EF4-FFF2-40B4-BE49-F238E27FC236}">
                    <a16:creationId xmlns:a16="http://schemas.microsoft.com/office/drawing/2014/main" id="{467AECE6-FB15-B9DA-348B-2BC7103C7C3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9653505F-2474-EE67-DE46-B016F9A8A67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9DAFE1CE-71E1-D10C-16EF-42DF5C1C24D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39">
                <a:extLst>
                  <a:ext uri="{FF2B5EF4-FFF2-40B4-BE49-F238E27FC236}">
                    <a16:creationId xmlns:a16="http://schemas.microsoft.com/office/drawing/2014/main" id="{93DAA4DE-E42E-53E3-9490-21E37F6007B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0">
                <a:extLst>
                  <a:ext uri="{FF2B5EF4-FFF2-40B4-BE49-F238E27FC236}">
                    <a16:creationId xmlns:a16="http://schemas.microsoft.com/office/drawing/2014/main" id="{ECF1AE4D-2CEF-2BF3-562A-D577D000987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1">
                <a:extLst>
                  <a:ext uri="{FF2B5EF4-FFF2-40B4-BE49-F238E27FC236}">
                    <a16:creationId xmlns:a16="http://schemas.microsoft.com/office/drawing/2014/main" id="{84203709-D974-47F9-C238-906D4C5E329B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2">
                <a:extLst>
                  <a:ext uri="{FF2B5EF4-FFF2-40B4-BE49-F238E27FC236}">
                    <a16:creationId xmlns:a16="http://schemas.microsoft.com/office/drawing/2014/main" id="{1DD50F20-1EEB-0CB4-73F4-16E8B1FF85AC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43">
                <a:extLst>
                  <a:ext uri="{FF2B5EF4-FFF2-40B4-BE49-F238E27FC236}">
                    <a16:creationId xmlns:a16="http://schemas.microsoft.com/office/drawing/2014/main" id="{4D1ACC90-0465-20F1-6B80-65C5FDD55398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44">
                <a:extLst>
                  <a:ext uri="{FF2B5EF4-FFF2-40B4-BE49-F238E27FC236}">
                    <a16:creationId xmlns:a16="http://schemas.microsoft.com/office/drawing/2014/main" id="{513AAA56-1C8E-3E73-5A73-252605160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5">
                <a:extLst>
                  <a:ext uri="{FF2B5EF4-FFF2-40B4-BE49-F238E27FC236}">
                    <a16:creationId xmlns:a16="http://schemas.microsoft.com/office/drawing/2014/main" id="{418F5E00-43AC-5EC1-2AD2-5676DE459DF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6">
                <a:extLst>
                  <a:ext uri="{FF2B5EF4-FFF2-40B4-BE49-F238E27FC236}">
                    <a16:creationId xmlns:a16="http://schemas.microsoft.com/office/drawing/2014/main" id="{D3D3B0A6-55CB-4CB5-A149-D17C1F3E25B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47">
                <a:extLst>
                  <a:ext uri="{FF2B5EF4-FFF2-40B4-BE49-F238E27FC236}">
                    <a16:creationId xmlns:a16="http://schemas.microsoft.com/office/drawing/2014/main" id="{47A03D72-1241-4960-6FC8-09719400F9E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48">
                <a:extLst>
                  <a:ext uri="{FF2B5EF4-FFF2-40B4-BE49-F238E27FC236}">
                    <a16:creationId xmlns:a16="http://schemas.microsoft.com/office/drawing/2014/main" id="{B10A20CC-C50C-B90F-1F58-732EA200BB9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Freeform 49">
                <a:extLst>
                  <a:ext uri="{FF2B5EF4-FFF2-40B4-BE49-F238E27FC236}">
                    <a16:creationId xmlns:a16="http://schemas.microsoft.com/office/drawing/2014/main" id="{60D6D8B2-27F1-54EB-8516-8A50979CE7C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0" name="Freeform 50">
                <a:extLst>
                  <a:ext uri="{FF2B5EF4-FFF2-40B4-BE49-F238E27FC236}">
                    <a16:creationId xmlns:a16="http://schemas.microsoft.com/office/drawing/2014/main" id="{5F0B0BBA-353D-6781-1501-3D446609B5E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1" name="Freeform 51">
                <a:extLst>
                  <a:ext uri="{FF2B5EF4-FFF2-40B4-BE49-F238E27FC236}">
                    <a16:creationId xmlns:a16="http://schemas.microsoft.com/office/drawing/2014/main" id="{5634C565-C1D4-0F19-0809-391BC2F7FB3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Freeform 52">
                <a:extLst>
                  <a:ext uri="{FF2B5EF4-FFF2-40B4-BE49-F238E27FC236}">
                    <a16:creationId xmlns:a16="http://schemas.microsoft.com/office/drawing/2014/main" id="{171891E2-966D-8144-2D28-C33D9267063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4BBCD12-F3DA-A9B5-BCEA-223B505987E2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模型训练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29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FBB3-F981-506B-ED81-C58497CD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9153897-5F87-0C31-7D28-E9629F87B5CA}"/>
              </a:ext>
            </a:extLst>
          </p:cNvPr>
          <p:cNvSpPr txBox="1"/>
          <p:nvPr/>
        </p:nvSpPr>
        <p:spPr>
          <a:xfrm>
            <a:off x="8013598" y="4568545"/>
            <a:ext cx="4099934" cy="170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降低了学习率，平衡了生成器条件特征与噪声特征的混合率，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并且摒弃了竞争模式，采用轮流训练，旨在使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loss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收敛到较小的范围内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9EC16DA-208A-A417-3EDE-559084FC816E}"/>
              </a:ext>
            </a:extLst>
          </p:cNvPr>
          <p:cNvGrpSpPr/>
          <p:nvPr/>
        </p:nvGrpSpPr>
        <p:grpSpPr>
          <a:xfrm>
            <a:off x="144300" y="1763318"/>
            <a:ext cx="12047700" cy="2600332"/>
            <a:chOff x="63832" y="3129110"/>
            <a:chExt cx="12047700" cy="260033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AC5CD1F-F039-E613-024F-96CCE5942715}"/>
                </a:ext>
              </a:extLst>
            </p:cNvPr>
            <p:cNvGrpSpPr/>
            <p:nvPr/>
          </p:nvGrpSpPr>
          <p:grpSpPr>
            <a:xfrm>
              <a:off x="63832" y="3129110"/>
              <a:ext cx="2160000" cy="2600332"/>
              <a:chOff x="63832" y="3129110"/>
              <a:chExt cx="2160000" cy="2600332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95D23AE1-FD2B-5FBA-ECED-892363837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832" y="3129110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F40203-36DE-F153-315B-0695C2FD0AC2}"/>
                  </a:ext>
                </a:extLst>
              </p:cNvPr>
              <p:cNvSpPr txBox="1"/>
              <p:nvPr/>
            </p:nvSpPr>
            <p:spPr>
              <a:xfrm>
                <a:off x="500066" y="5360110"/>
                <a:ext cx="1503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20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/100</a:t>
                </a:r>
                <a:r>
                  <a:rPr lang="en-US" altLang="zh-CN" b="1" baseline="-25000" dirty="0">
                    <a:latin typeface="+mj-lt"/>
                    <a:ea typeface="黑体" panose="02010609060101010101" pitchFamily="49" charset="-122"/>
                  </a:rPr>
                  <a:t>1th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16E001E-258C-C081-ECD2-1050947AFF1A}"/>
                </a:ext>
              </a:extLst>
            </p:cNvPr>
            <p:cNvGrpSpPr/>
            <p:nvPr/>
          </p:nvGrpSpPr>
          <p:grpSpPr>
            <a:xfrm>
              <a:off x="3239998" y="3129110"/>
              <a:ext cx="2160000" cy="2600332"/>
              <a:chOff x="3239998" y="3129110"/>
              <a:chExt cx="2160000" cy="2600332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832D45DD-F028-178B-E5C0-3266BD37F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9998" y="3129110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C46C90-F444-2456-7E4B-1D4B176217C3}"/>
                  </a:ext>
                </a:extLst>
              </p:cNvPr>
              <p:cNvSpPr txBox="1"/>
              <p:nvPr/>
            </p:nvSpPr>
            <p:spPr>
              <a:xfrm>
                <a:off x="3676232" y="5360110"/>
                <a:ext cx="1503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40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/100</a:t>
                </a:r>
                <a:r>
                  <a:rPr lang="en-US" altLang="zh-CN" b="1" baseline="-25000" dirty="0">
                    <a:latin typeface="+mj-lt"/>
                    <a:ea typeface="黑体" panose="02010609060101010101" pitchFamily="49" charset="-122"/>
                  </a:rPr>
                  <a:t>1th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F554A29-2DD2-FC15-B606-07FD00771A20}"/>
                </a:ext>
              </a:extLst>
            </p:cNvPr>
            <p:cNvGrpSpPr/>
            <p:nvPr/>
          </p:nvGrpSpPr>
          <p:grpSpPr>
            <a:xfrm>
              <a:off x="6635999" y="3129110"/>
              <a:ext cx="2160000" cy="2600332"/>
              <a:chOff x="6635999" y="3129110"/>
              <a:chExt cx="2160000" cy="2600332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0E36D5D4-2F7A-CE2E-AFFC-21B645A7A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35999" y="3129110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0B715BE-5025-8B6F-4430-583DFE7B3716}"/>
                  </a:ext>
                </a:extLst>
              </p:cNvPr>
              <p:cNvSpPr txBox="1"/>
              <p:nvPr/>
            </p:nvSpPr>
            <p:spPr>
              <a:xfrm>
                <a:off x="7072233" y="5360110"/>
                <a:ext cx="1503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60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/100</a:t>
                </a:r>
                <a:r>
                  <a:rPr lang="en-US" altLang="zh-CN" b="1" baseline="-25000" dirty="0">
                    <a:latin typeface="+mj-lt"/>
                    <a:ea typeface="黑体" panose="02010609060101010101" pitchFamily="49" charset="-122"/>
                  </a:rPr>
                  <a:t>1th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700EE7B-9917-FD32-D690-3AD124CC97A5}"/>
                </a:ext>
              </a:extLst>
            </p:cNvPr>
            <p:cNvGrpSpPr/>
            <p:nvPr/>
          </p:nvGrpSpPr>
          <p:grpSpPr>
            <a:xfrm>
              <a:off x="9951532" y="3129110"/>
              <a:ext cx="2160000" cy="2600332"/>
              <a:chOff x="9951532" y="3129110"/>
              <a:chExt cx="2160000" cy="2600332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11A7A55B-A615-4FA5-E93F-E4CAEEF18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51532" y="3129110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7342ECF-2867-C153-5165-78C436C26BB1}"/>
                  </a:ext>
                </a:extLst>
              </p:cNvPr>
              <p:cNvSpPr txBox="1"/>
              <p:nvPr/>
            </p:nvSpPr>
            <p:spPr>
              <a:xfrm>
                <a:off x="10382667" y="5360110"/>
                <a:ext cx="1503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73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/100</a:t>
                </a:r>
                <a:r>
                  <a:rPr lang="en-US" altLang="zh-CN" b="1" baseline="-25000" dirty="0">
                    <a:latin typeface="+mj-lt"/>
                    <a:ea typeface="黑体" panose="02010609060101010101" pitchFamily="49" charset="-122"/>
                  </a:rPr>
                  <a:t>1th</a:t>
                </a:r>
                <a:r>
                  <a:rPr lang="zh-CN" altLang="en-US" b="1" dirty="0">
                    <a:latin typeface="+mj-lt"/>
                    <a:ea typeface="黑体" panose="02010609060101010101" pitchFamily="49" charset="-122"/>
                  </a:rPr>
                  <a:t>轮</a:t>
                </a:r>
              </a:p>
            </p:txBody>
          </p:sp>
        </p:grp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EC9DAE4B-0CA6-544A-AB33-4A63E6C8FA7F}"/>
                </a:ext>
              </a:extLst>
            </p:cNvPr>
            <p:cNvSpPr/>
            <p:nvPr/>
          </p:nvSpPr>
          <p:spPr>
            <a:xfrm>
              <a:off x="2417600" y="4000091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817DC650-6837-B458-59F6-46CE6C294E62}"/>
                </a:ext>
              </a:extLst>
            </p:cNvPr>
            <p:cNvSpPr/>
            <p:nvPr/>
          </p:nvSpPr>
          <p:spPr>
            <a:xfrm>
              <a:off x="5641299" y="4000091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478F58A0-BBE0-F265-8541-C37C233A061D}"/>
                </a:ext>
              </a:extLst>
            </p:cNvPr>
            <p:cNvSpPr/>
            <p:nvPr/>
          </p:nvSpPr>
          <p:spPr>
            <a:xfrm>
              <a:off x="9017843" y="4000091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5D18F5A-348D-8D88-B64C-29B8F3442B41}"/>
              </a:ext>
            </a:extLst>
          </p:cNvPr>
          <p:cNvGrpSpPr/>
          <p:nvPr/>
        </p:nvGrpSpPr>
        <p:grpSpPr>
          <a:xfrm>
            <a:off x="1138801" y="4517857"/>
            <a:ext cx="6854602" cy="2175918"/>
            <a:chOff x="1344692" y="4616853"/>
            <a:chExt cx="6854602" cy="21759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C03061C-D653-A0FC-0559-518F31584431}"/>
                </a:ext>
              </a:extLst>
            </p:cNvPr>
            <p:cNvGrpSpPr/>
            <p:nvPr/>
          </p:nvGrpSpPr>
          <p:grpSpPr>
            <a:xfrm>
              <a:off x="1953984" y="4616853"/>
              <a:ext cx="6245310" cy="1806586"/>
              <a:chOff x="2477336" y="986795"/>
              <a:chExt cx="6245310" cy="180658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87447B80-68D4-E9F8-0ABC-B6DFB6F7A3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7336" y="986795"/>
                <a:ext cx="6245310" cy="1806586"/>
              </a:xfrm>
              <a:prstGeom prst="rect">
                <a:avLst/>
              </a:prstGeom>
            </p:spPr>
          </p:pic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4DF3474E-743D-30E8-D964-5D350DE31222}"/>
                  </a:ext>
                </a:extLst>
              </p:cNvPr>
              <p:cNvSpPr/>
              <p:nvPr/>
            </p:nvSpPr>
            <p:spPr>
              <a:xfrm>
                <a:off x="2533377" y="2111357"/>
                <a:ext cx="326724" cy="22230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B281679-43BF-F333-61C1-57309775D001}"/>
                </a:ext>
              </a:extLst>
            </p:cNvPr>
            <p:cNvSpPr txBox="1"/>
            <p:nvPr/>
          </p:nvSpPr>
          <p:spPr>
            <a:xfrm>
              <a:off x="1344692" y="5105621"/>
              <a:ext cx="77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LOSS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24ED127-C3E2-F488-C645-539CD18C87A5}"/>
                </a:ext>
              </a:extLst>
            </p:cNvPr>
            <p:cNvSpPr txBox="1"/>
            <p:nvPr/>
          </p:nvSpPr>
          <p:spPr>
            <a:xfrm>
              <a:off x="4712957" y="6423439"/>
              <a:ext cx="880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Epoch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E87DCEB3-A21B-12F4-4DE6-6C429B747461}"/>
              </a:ext>
            </a:extLst>
          </p:cNvPr>
          <p:cNvSpPr txBox="1"/>
          <p:nvPr/>
        </p:nvSpPr>
        <p:spPr>
          <a:xfrm>
            <a:off x="33739" y="783925"/>
            <a:ext cx="171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lt"/>
                <a:ea typeface="黑体" panose="02010609060101010101" pitchFamily="49" charset="-122"/>
              </a:rPr>
              <a:t>100</a:t>
            </a:r>
            <a:r>
              <a:rPr lang="en-US" altLang="zh-CN" sz="2400" b="1" baseline="-25000" dirty="0">
                <a:latin typeface="+mj-lt"/>
                <a:ea typeface="黑体" panose="02010609060101010101" pitchFamily="49" charset="-122"/>
              </a:rPr>
              <a:t>1th</a:t>
            </a:r>
            <a:r>
              <a:rPr lang="zh-CN" altLang="en-US" sz="2000" b="1" dirty="0">
                <a:latin typeface="+mj-lt"/>
                <a:ea typeface="黑体" panose="02010609060101010101" pitchFamily="49" charset="-122"/>
              </a:rPr>
              <a:t>轮训练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1E1718A-623E-083F-05F8-30C8A2D57D36}"/>
              </a:ext>
            </a:extLst>
          </p:cNvPr>
          <p:cNvGrpSpPr/>
          <p:nvPr/>
        </p:nvGrpSpPr>
        <p:grpSpPr>
          <a:xfrm>
            <a:off x="59561" y="4517857"/>
            <a:ext cx="1147609" cy="646901"/>
            <a:chOff x="2148658" y="152307"/>
            <a:chExt cx="1147609" cy="64690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7336395-212A-4288-79C8-B4527D7332E4}"/>
                </a:ext>
              </a:extLst>
            </p:cNvPr>
            <p:cNvSpPr/>
            <p:nvPr/>
          </p:nvSpPr>
          <p:spPr>
            <a:xfrm>
              <a:off x="2148659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AF3DB67-5D95-C7B5-7A68-5205C5A49C16}"/>
                </a:ext>
              </a:extLst>
            </p:cNvPr>
            <p:cNvSpPr txBox="1"/>
            <p:nvPr/>
          </p:nvSpPr>
          <p:spPr>
            <a:xfrm>
              <a:off x="2148658" y="152877"/>
              <a:ext cx="11476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lr_g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=1e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-4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lr_d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=5e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-5</a:t>
              </a:r>
              <a:endParaRPr lang="zh-CN" altLang="en-US" b="1" baseline="3000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389456C-76CC-6F66-A9C6-FD2654B4585F}"/>
              </a:ext>
            </a:extLst>
          </p:cNvPr>
          <p:cNvGrpSpPr/>
          <p:nvPr/>
        </p:nvGrpSpPr>
        <p:grpSpPr>
          <a:xfrm>
            <a:off x="8461" y="5315039"/>
            <a:ext cx="1198710" cy="646331"/>
            <a:chOff x="3210845" y="152306"/>
            <a:chExt cx="1198710" cy="646331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6325BC8-C942-2A6F-0EFE-9A292FCFFD22}"/>
                </a:ext>
              </a:extLst>
            </p:cNvPr>
            <p:cNvSpPr/>
            <p:nvPr/>
          </p:nvSpPr>
          <p:spPr>
            <a:xfrm>
              <a:off x="3253045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6DCC626-3749-AA67-7073-53D1FF029620}"/>
                </a:ext>
              </a:extLst>
            </p:cNvPr>
            <p:cNvSpPr txBox="1"/>
            <p:nvPr/>
          </p:nvSpPr>
          <p:spPr>
            <a:xfrm>
              <a:off x="3210845" y="152306"/>
              <a:ext cx="11987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label=0.5 noise=0.5 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2A45DEB-2D18-DD09-0020-4662E943D93C}"/>
              </a:ext>
            </a:extLst>
          </p:cNvPr>
          <p:cNvGrpSpPr/>
          <p:nvPr/>
        </p:nvGrpSpPr>
        <p:grpSpPr>
          <a:xfrm>
            <a:off x="8461" y="6112673"/>
            <a:ext cx="1697432" cy="646331"/>
            <a:chOff x="4370130" y="128248"/>
            <a:chExt cx="1372868" cy="646331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ECDC974-7F70-731D-496D-5F43AA727CBC}"/>
                </a:ext>
              </a:extLst>
            </p:cNvPr>
            <p:cNvSpPr/>
            <p:nvPr/>
          </p:nvSpPr>
          <p:spPr>
            <a:xfrm>
              <a:off x="4429530" y="152307"/>
              <a:ext cx="1198710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504EB4C-C549-A960-9058-A8A738BEB39E}"/>
                </a:ext>
              </a:extLst>
            </p:cNvPr>
            <p:cNvSpPr txBox="1"/>
            <p:nvPr/>
          </p:nvSpPr>
          <p:spPr>
            <a:xfrm>
              <a:off x="4370130" y="128248"/>
              <a:ext cx="13728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mean_std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1.2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std_mean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1.5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E62593B-6591-303C-5C18-99EFA0CB55BB}"/>
              </a:ext>
            </a:extLst>
          </p:cNvPr>
          <p:cNvGrpSpPr/>
          <p:nvPr/>
        </p:nvGrpSpPr>
        <p:grpSpPr>
          <a:xfrm>
            <a:off x="6505662" y="767187"/>
            <a:ext cx="4487333" cy="792194"/>
            <a:chOff x="6387128" y="37336"/>
            <a:chExt cx="4487333" cy="792194"/>
          </a:xfrm>
        </p:grpSpPr>
        <p:sp>
          <p:nvSpPr>
            <p:cNvPr id="36" name="流程图: 数据 35">
              <a:extLst>
                <a:ext uri="{FF2B5EF4-FFF2-40B4-BE49-F238E27FC236}">
                  <a16:creationId xmlns:a16="http://schemas.microsoft.com/office/drawing/2014/main" id="{42AB7EA5-77EE-0090-57D7-FBF1AB0E07D8}"/>
                </a:ext>
              </a:extLst>
            </p:cNvPr>
            <p:cNvSpPr/>
            <p:nvPr/>
          </p:nvSpPr>
          <p:spPr>
            <a:xfrm>
              <a:off x="6387128" y="51320"/>
              <a:ext cx="4487333" cy="778210"/>
            </a:xfrm>
            <a:prstGeom prst="flowChartInputOutput">
              <a:avLst/>
            </a:prstGeom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EE70685-FCF4-838C-0955-214A8FDD791E}"/>
                </a:ext>
              </a:extLst>
            </p:cNvPr>
            <p:cNvSpPr txBox="1"/>
            <p:nvPr/>
          </p:nvSpPr>
          <p:spPr>
            <a:xfrm>
              <a:off x="6887834" y="37336"/>
              <a:ext cx="3201872" cy="576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生成器 与 判别器 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轮流训练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EDEBB6E-4D7A-AAAA-8AF6-685EFED78D47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048B918-ED56-066C-D94C-3364B267E9AF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0" name="jwc_logo">
              <a:extLst>
                <a:ext uri="{FF2B5EF4-FFF2-40B4-BE49-F238E27FC236}">
                  <a16:creationId xmlns:a16="http://schemas.microsoft.com/office/drawing/2014/main" id="{AE29AC1C-7AF0-3CB7-4B48-803884136D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42" name="Freeform 34">
                <a:extLst>
                  <a:ext uri="{FF2B5EF4-FFF2-40B4-BE49-F238E27FC236}">
                    <a16:creationId xmlns:a16="http://schemas.microsoft.com/office/drawing/2014/main" id="{AE6CCDA0-A0D3-27ED-BB02-3C396D6F2FE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3" name="Freeform 35">
                <a:extLst>
                  <a:ext uri="{FF2B5EF4-FFF2-40B4-BE49-F238E27FC236}">
                    <a16:creationId xmlns:a16="http://schemas.microsoft.com/office/drawing/2014/main" id="{E2D03C36-CE41-C608-5A08-47814C1DD27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4" name="Freeform 36">
                <a:extLst>
                  <a:ext uri="{FF2B5EF4-FFF2-40B4-BE49-F238E27FC236}">
                    <a16:creationId xmlns:a16="http://schemas.microsoft.com/office/drawing/2014/main" id="{D0C3B2F8-582E-3791-6FB3-F02D25C152F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Freeform 37">
                <a:extLst>
                  <a:ext uri="{FF2B5EF4-FFF2-40B4-BE49-F238E27FC236}">
                    <a16:creationId xmlns:a16="http://schemas.microsoft.com/office/drawing/2014/main" id="{BFFA1563-0B6B-ABB1-6E63-A3FAB4167DC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38">
                <a:extLst>
                  <a:ext uri="{FF2B5EF4-FFF2-40B4-BE49-F238E27FC236}">
                    <a16:creationId xmlns:a16="http://schemas.microsoft.com/office/drawing/2014/main" id="{C1802C89-7797-839C-8A60-03D245DA64C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39">
                <a:extLst>
                  <a:ext uri="{FF2B5EF4-FFF2-40B4-BE49-F238E27FC236}">
                    <a16:creationId xmlns:a16="http://schemas.microsoft.com/office/drawing/2014/main" id="{BB052E37-A879-89FF-CB04-D65B684C6CE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40">
                <a:extLst>
                  <a:ext uri="{FF2B5EF4-FFF2-40B4-BE49-F238E27FC236}">
                    <a16:creationId xmlns:a16="http://schemas.microsoft.com/office/drawing/2014/main" id="{A4868F5B-FBB6-03F7-AFA2-B8FC025E8E0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1">
                <a:extLst>
                  <a:ext uri="{FF2B5EF4-FFF2-40B4-BE49-F238E27FC236}">
                    <a16:creationId xmlns:a16="http://schemas.microsoft.com/office/drawing/2014/main" id="{7AAB1FE7-43EE-3C83-4BDE-B7FF750CCE76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2">
                <a:extLst>
                  <a:ext uri="{FF2B5EF4-FFF2-40B4-BE49-F238E27FC236}">
                    <a16:creationId xmlns:a16="http://schemas.microsoft.com/office/drawing/2014/main" id="{D033A7DD-C2AA-0E1A-6217-0AFD270D568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3">
                <a:extLst>
                  <a:ext uri="{FF2B5EF4-FFF2-40B4-BE49-F238E27FC236}">
                    <a16:creationId xmlns:a16="http://schemas.microsoft.com/office/drawing/2014/main" id="{45058FEE-B28A-A290-BBCC-8D6D0D4605EC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4">
                <a:extLst>
                  <a:ext uri="{FF2B5EF4-FFF2-40B4-BE49-F238E27FC236}">
                    <a16:creationId xmlns:a16="http://schemas.microsoft.com/office/drawing/2014/main" id="{4CCC0179-0B07-DCFC-AB74-D678B7CCF35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45">
                <a:extLst>
                  <a:ext uri="{FF2B5EF4-FFF2-40B4-BE49-F238E27FC236}">
                    <a16:creationId xmlns:a16="http://schemas.microsoft.com/office/drawing/2014/main" id="{39D4A906-2B1C-DD43-7762-3F17125C59E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06E59B10-9B12-1919-EA57-588F8B2646C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54C58A09-1EEF-E064-CFBC-5AD2F4191AD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3ABD88C0-CE72-841E-9746-362BF5E093F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4F361DF0-F050-4C94-7421-91B3D093594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4A054D24-29CD-88D2-8D78-535C86E9DC5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FB47B633-9EDE-0E05-0C17-25D5EAEDE3B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4D95BF0B-5CA9-6D37-B10A-C121C95EC76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CB1EFED-6D30-2DA3-7D7B-45D2721648F6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模型训练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092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682D-03D4-E8AA-2398-EA95A8954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B6BC9AC-A82C-5AC0-2D0B-06B01DB22A95}"/>
              </a:ext>
            </a:extLst>
          </p:cNvPr>
          <p:cNvSpPr txBox="1"/>
          <p:nvPr/>
        </p:nvSpPr>
        <p:spPr>
          <a:xfrm>
            <a:off x="8171920" y="4520994"/>
            <a:ext cx="3930615" cy="2120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进一步降低学习率，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略微提升了生成器噪声特征的混合率，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摒弃竞争模式，采用轮流训练，改变早停条件，旨在将生成器和鉴别器推进到纳什均衡点（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loss=0.693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）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0CA9C1A-DDF2-1235-CFAD-17545BEFC4C3}"/>
              </a:ext>
            </a:extLst>
          </p:cNvPr>
          <p:cNvGrpSpPr/>
          <p:nvPr/>
        </p:nvGrpSpPr>
        <p:grpSpPr>
          <a:xfrm>
            <a:off x="89465" y="1630666"/>
            <a:ext cx="12013070" cy="2676727"/>
            <a:chOff x="89465" y="1246658"/>
            <a:chExt cx="12013070" cy="267672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C8C3797-B0B8-22CF-E2AD-AF34A0C83F61}"/>
                </a:ext>
              </a:extLst>
            </p:cNvPr>
            <p:cNvGrpSpPr/>
            <p:nvPr/>
          </p:nvGrpSpPr>
          <p:grpSpPr>
            <a:xfrm>
              <a:off x="89465" y="1246658"/>
              <a:ext cx="12013070" cy="2160000"/>
              <a:chOff x="89465" y="3014036"/>
              <a:chExt cx="12013070" cy="2160000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D6AADA8F-78A4-7491-EB23-5FB132EFDD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465" y="3014036"/>
                <a:ext cx="2160000" cy="2160000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F7902AE4-15EB-8382-677B-B7541C895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7588" y="3014036"/>
                <a:ext cx="2160000" cy="21600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5E44FC09-D149-71C8-BC12-3927F6393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2535" y="3014036"/>
                <a:ext cx="2160000" cy="2160000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14456D97-CAC7-919B-3395-6A453A19C6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5712" y="3014036"/>
                <a:ext cx="2160000" cy="2160000"/>
              </a:xfrm>
              <a:prstGeom prst="rect">
                <a:avLst/>
              </a:prstGeom>
            </p:spPr>
          </p:pic>
          <p:sp>
            <p:nvSpPr>
              <p:cNvPr id="16" name="箭头: 右 15">
                <a:extLst>
                  <a:ext uri="{FF2B5EF4-FFF2-40B4-BE49-F238E27FC236}">
                    <a16:creationId xmlns:a16="http://schemas.microsoft.com/office/drawing/2014/main" id="{1ACC5FB3-5CC2-EF18-8C49-CC899E4EBB3E}"/>
                  </a:ext>
                </a:extLst>
              </p:cNvPr>
              <p:cNvSpPr/>
              <p:nvPr/>
            </p:nvSpPr>
            <p:spPr>
              <a:xfrm>
                <a:off x="2490752" y="3868330"/>
                <a:ext cx="651053" cy="424282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箭头: 右 16">
                <a:extLst>
                  <a:ext uri="{FF2B5EF4-FFF2-40B4-BE49-F238E27FC236}">
                    <a16:creationId xmlns:a16="http://schemas.microsoft.com/office/drawing/2014/main" id="{6371E1CD-A58C-65CF-32C7-C7C657457D8F}"/>
                  </a:ext>
                </a:extLst>
              </p:cNvPr>
              <p:cNvSpPr/>
              <p:nvPr/>
            </p:nvSpPr>
            <p:spPr>
              <a:xfrm>
                <a:off x="5714451" y="3868330"/>
                <a:ext cx="651053" cy="424282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箭头: 右 17">
                <a:extLst>
                  <a:ext uri="{FF2B5EF4-FFF2-40B4-BE49-F238E27FC236}">
                    <a16:creationId xmlns:a16="http://schemas.microsoft.com/office/drawing/2014/main" id="{87759D54-B65F-2212-E396-1E7D555CA87F}"/>
                  </a:ext>
                </a:extLst>
              </p:cNvPr>
              <p:cNvSpPr/>
              <p:nvPr/>
            </p:nvSpPr>
            <p:spPr>
              <a:xfrm>
                <a:off x="9090995" y="3868330"/>
                <a:ext cx="651053" cy="424282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7F1E95F-1C6A-240A-E83A-CF8BE04EC1CE}"/>
                </a:ext>
              </a:extLst>
            </p:cNvPr>
            <p:cNvSpPr txBox="1"/>
            <p:nvPr/>
          </p:nvSpPr>
          <p:spPr>
            <a:xfrm>
              <a:off x="10448504" y="3554053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62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/100</a:t>
              </a:r>
              <a:r>
                <a:rPr lang="en-US" altLang="zh-CN" b="1" baseline="-25000" dirty="0">
                  <a:latin typeface="+mj-lt"/>
                  <a:ea typeface="黑体" panose="02010609060101010101" pitchFamily="49" charset="-122"/>
                </a:rPr>
                <a:t>2th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E9A4E2-DFAF-A18C-2732-111B4CD9180F}"/>
                </a:ext>
              </a:extLst>
            </p:cNvPr>
            <p:cNvSpPr txBox="1"/>
            <p:nvPr/>
          </p:nvSpPr>
          <p:spPr>
            <a:xfrm>
              <a:off x="7130381" y="3554053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50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/100</a:t>
              </a:r>
              <a:r>
                <a:rPr lang="en-US" altLang="zh-CN" b="1" baseline="-25000" dirty="0">
                  <a:latin typeface="+mj-lt"/>
                  <a:ea typeface="黑体" panose="02010609060101010101" pitchFamily="49" charset="-122"/>
                </a:rPr>
                <a:t>2th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51F17A1-3C44-883E-D0CA-08371745B6B9}"/>
                </a:ext>
              </a:extLst>
            </p:cNvPr>
            <p:cNvSpPr txBox="1"/>
            <p:nvPr/>
          </p:nvSpPr>
          <p:spPr>
            <a:xfrm>
              <a:off x="3805350" y="3554053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30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/100</a:t>
              </a:r>
              <a:r>
                <a:rPr lang="en-US" altLang="zh-CN" b="1" baseline="-25000" dirty="0">
                  <a:latin typeface="+mj-lt"/>
                  <a:ea typeface="黑体" panose="02010609060101010101" pitchFamily="49" charset="-122"/>
                </a:rPr>
                <a:t>2th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C378884-52F7-C7AB-F346-924C6E8EAE5C}"/>
                </a:ext>
              </a:extLst>
            </p:cNvPr>
            <p:cNvSpPr txBox="1"/>
            <p:nvPr/>
          </p:nvSpPr>
          <p:spPr>
            <a:xfrm>
              <a:off x="449172" y="3554053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10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/100</a:t>
              </a:r>
              <a:r>
                <a:rPr lang="en-US" altLang="zh-CN" b="1" baseline="-25000" dirty="0">
                  <a:latin typeface="+mj-lt"/>
                  <a:ea typeface="黑体" panose="02010609060101010101" pitchFamily="49" charset="-122"/>
                </a:rPr>
                <a:t>2th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4E41348-75C2-CC50-5A8C-0A34D91DE055}"/>
              </a:ext>
            </a:extLst>
          </p:cNvPr>
          <p:cNvSpPr txBox="1"/>
          <p:nvPr/>
        </p:nvSpPr>
        <p:spPr>
          <a:xfrm>
            <a:off x="67609" y="582426"/>
            <a:ext cx="1714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lt"/>
                <a:ea typeface="黑体" panose="02010609060101010101" pitchFamily="49" charset="-122"/>
              </a:rPr>
              <a:t>100</a:t>
            </a:r>
            <a:r>
              <a:rPr lang="en-US" altLang="zh-CN" sz="2400" b="1" baseline="-25000" dirty="0">
                <a:latin typeface="+mj-lt"/>
                <a:ea typeface="黑体" panose="02010609060101010101" pitchFamily="49" charset="-122"/>
              </a:rPr>
              <a:t>2th</a:t>
            </a:r>
            <a:r>
              <a:rPr lang="zh-CN" altLang="en-US" sz="2000" b="1" dirty="0">
                <a:latin typeface="+mj-lt"/>
                <a:ea typeface="黑体" panose="02010609060101010101" pitchFamily="49" charset="-122"/>
              </a:rPr>
              <a:t>轮训练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C707107-4E39-EC76-037D-596854F66386}"/>
              </a:ext>
            </a:extLst>
          </p:cNvPr>
          <p:cNvGrpSpPr/>
          <p:nvPr/>
        </p:nvGrpSpPr>
        <p:grpSpPr>
          <a:xfrm>
            <a:off x="1250814" y="4613341"/>
            <a:ext cx="6896861" cy="2064830"/>
            <a:chOff x="1131410" y="4759494"/>
            <a:chExt cx="6896861" cy="206483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16679A1-83A6-8D03-E167-A1DC1C3C44C7}"/>
                </a:ext>
              </a:extLst>
            </p:cNvPr>
            <p:cNvGrpSpPr/>
            <p:nvPr/>
          </p:nvGrpSpPr>
          <p:grpSpPr>
            <a:xfrm>
              <a:off x="1131410" y="4759494"/>
              <a:ext cx="6896861" cy="2064830"/>
              <a:chOff x="1131410" y="4759494"/>
              <a:chExt cx="6896861" cy="2064830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F762514E-396B-CB06-0C7B-9A3B53F42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2433" y="4759494"/>
                <a:ext cx="6405838" cy="1695498"/>
              </a:xfrm>
              <a:prstGeom prst="rect">
                <a:avLst/>
              </a:prstGeom>
            </p:spPr>
          </p:pic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EC92AF-D0A7-D0AC-6F27-AEE6579D0419}"/>
                  </a:ext>
                </a:extLst>
              </p:cNvPr>
              <p:cNvSpPr txBox="1"/>
              <p:nvPr/>
            </p:nvSpPr>
            <p:spPr>
              <a:xfrm>
                <a:off x="1131410" y="5422577"/>
                <a:ext cx="776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LOSS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3355577-6E5D-4E55-EC66-28B1B0B18564}"/>
                  </a:ext>
                </a:extLst>
              </p:cNvPr>
              <p:cNvSpPr txBox="1"/>
              <p:nvPr/>
            </p:nvSpPr>
            <p:spPr>
              <a:xfrm>
                <a:off x="3788170" y="6454992"/>
                <a:ext cx="88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+mj-lt"/>
                    <a:ea typeface="黑体" panose="02010609060101010101" pitchFamily="49" charset="-122"/>
                  </a:rPr>
                  <a:t>Epoch</a:t>
                </a:r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4E5F925-BB46-601C-9A9E-72E51AFA0B95}"/>
                </a:ext>
              </a:extLst>
            </p:cNvPr>
            <p:cNvSpPr/>
            <p:nvPr/>
          </p:nvSpPr>
          <p:spPr>
            <a:xfrm>
              <a:off x="1598187" y="5868724"/>
              <a:ext cx="419293" cy="2081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BEC6288-480B-05CA-5D35-C4951963C2FE}"/>
                </a:ext>
              </a:extLst>
            </p:cNvPr>
            <p:cNvSpPr/>
            <p:nvPr/>
          </p:nvSpPr>
          <p:spPr>
            <a:xfrm>
              <a:off x="1598188" y="5040121"/>
              <a:ext cx="419293" cy="2081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DE3284F-5BAF-273F-4F37-8D075A0A71E0}"/>
              </a:ext>
            </a:extLst>
          </p:cNvPr>
          <p:cNvGrpSpPr/>
          <p:nvPr/>
        </p:nvGrpSpPr>
        <p:grpSpPr>
          <a:xfrm>
            <a:off x="89465" y="4520994"/>
            <a:ext cx="1159336" cy="646901"/>
            <a:chOff x="2148659" y="152307"/>
            <a:chExt cx="1159336" cy="64690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9E1A7D3-5922-4214-D02B-D9D32D970E15}"/>
                </a:ext>
              </a:extLst>
            </p:cNvPr>
            <p:cNvSpPr/>
            <p:nvPr/>
          </p:nvSpPr>
          <p:spPr>
            <a:xfrm>
              <a:off x="2148659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72AFFE-3D7D-85BF-969C-E0124A0DC1D7}"/>
                </a:ext>
              </a:extLst>
            </p:cNvPr>
            <p:cNvSpPr txBox="1"/>
            <p:nvPr/>
          </p:nvSpPr>
          <p:spPr>
            <a:xfrm>
              <a:off x="2148659" y="152877"/>
              <a:ext cx="11593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lr_g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=5e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-5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lr_d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=2e</a:t>
              </a:r>
              <a:r>
                <a:rPr lang="en-US" altLang="zh-CN" b="1" baseline="3000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-5</a:t>
              </a:r>
              <a:endParaRPr lang="zh-CN" altLang="en-US" b="1" baseline="3000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77E4500-B427-2130-8207-4799C1F93483}"/>
              </a:ext>
            </a:extLst>
          </p:cNvPr>
          <p:cNvGrpSpPr/>
          <p:nvPr/>
        </p:nvGrpSpPr>
        <p:grpSpPr>
          <a:xfrm>
            <a:off x="37683" y="5321635"/>
            <a:ext cx="1372867" cy="646331"/>
            <a:chOff x="3210845" y="152306"/>
            <a:chExt cx="1198710" cy="64633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A4CDA17-967D-8D84-DD58-4BA922B201D8}"/>
                </a:ext>
              </a:extLst>
            </p:cNvPr>
            <p:cNvSpPr/>
            <p:nvPr/>
          </p:nvSpPr>
          <p:spPr>
            <a:xfrm>
              <a:off x="3253045" y="152307"/>
              <a:ext cx="994111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DB0FE99-2A58-D4F7-D0DA-2BB8EDC246FB}"/>
                </a:ext>
              </a:extLst>
            </p:cNvPr>
            <p:cNvSpPr txBox="1"/>
            <p:nvPr/>
          </p:nvSpPr>
          <p:spPr>
            <a:xfrm>
              <a:off x="3210845" y="152306"/>
              <a:ext cx="11987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label=0.45 noise=0.55 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5D40E6B-1FA2-1C01-C778-549984079B44}"/>
              </a:ext>
            </a:extLst>
          </p:cNvPr>
          <p:cNvGrpSpPr/>
          <p:nvPr/>
        </p:nvGrpSpPr>
        <p:grpSpPr>
          <a:xfrm>
            <a:off x="0" y="6146834"/>
            <a:ext cx="1562600" cy="646331"/>
            <a:chOff x="4370130" y="128248"/>
            <a:chExt cx="1372868" cy="646331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A4628D8-C62E-05BF-B3F7-C2D8AE364DC3}"/>
                </a:ext>
              </a:extLst>
            </p:cNvPr>
            <p:cNvSpPr/>
            <p:nvPr/>
          </p:nvSpPr>
          <p:spPr>
            <a:xfrm>
              <a:off x="4429530" y="152307"/>
              <a:ext cx="1198710" cy="6222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A145033-D227-4800-7BE1-9BDE183F14BC}"/>
                </a:ext>
              </a:extLst>
            </p:cNvPr>
            <p:cNvSpPr txBox="1"/>
            <p:nvPr/>
          </p:nvSpPr>
          <p:spPr>
            <a:xfrm>
              <a:off x="4370130" y="128248"/>
              <a:ext cx="13728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g_loss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0.693 </a:t>
              </a:r>
              <a:r>
                <a:rPr lang="en-US" altLang="zh-CN" b="1" dirty="0" err="1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d_loss</a:t>
              </a: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→</a:t>
              </a:r>
              <a:r>
                <a:rPr lang="en-US" altLang="zh-CN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0.693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30F3C90-A0E2-7C77-CF1C-AEBC73899314}"/>
              </a:ext>
            </a:extLst>
          </p:cNvPr>
          <p:cNvGrpSpPr/>
          <p:nvPr/>
        </p:nvGrpSpPr>
        <p:grpSpPr>
          <a:xfrm>
            <a:off x="6387446" y="764775"/>
            <a:ext cx="4487333" cy="792194"/>
            <a:chOff x="6387128" y="37336"/>
            <a:chExt cx="4487333" cy="792194"/>
          </a:xfrm>
        </p:grpSpPr>
        <p:sp>
          <p:nvSpPr>
            <p:cNvPr id="34" name="流程图: 数据 33">
              <a:extLst>
                <a:ext uri="{FF2B5EF4-FFF2-40B4-BE49-F238E27FC236}">
                  <a16:creationId xmlns:a16="http://schemas.microsoft.com/office/drawing/2014/main" id="{69E555FF-F464-7948-C3C6-8026A16C8705}"/>
                </a:ext>
              </a:extLst>
            </p:cNvPr>
            <p:cNvSpPr/>
            <p:nvPr/>
          </p:nvSpPr>
          <p:spPr>
            <a:xfrm>
              <a:off x="6387128" y="51320"/>
              <a:ext cx="4487333" cy="778210"/>
            </a:xfrm>
            <a:prstGeom prst="flowChartInputOutput">
              <a:avLst/>
            </a:prstGeom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1698988-CED7-A977-2A8C-386F56AFEF6F}"/>
                </a:ext>
              </a:extLst>
            </p:cNvPr>
            <p:cNvSpPr txBox="1"/>
            <p:nvPr/>
          </p:nvSpPr>
          <p:spPr>
            <a:xfrm>
              <a:off x="6887834" y="37336"/>
              <a:ext cx="3201872" cy="576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生成器 与 判别器 </a:t>
              </a: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轮流训练</a:t>
              </a:r>
              <a:endPara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63E2CE5-1717-AB8B-D082-C651BA630214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95933B5-0B46-0A3B-4366-90D7BFEDDAA9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39" name="jwc_logo">
              <a:extLst>
                <a:ext uri="{FF2B5EF4-FFF2-40B4-BE49-F238E27FC236}">
                  <a16:creationId xmlns:a16="http://schemas.microsoft.com/office/drawing/2014/main" id="{D4A58ADD-A1E8-1AFA-2070-E46CDC9544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41" name="Freeform 34">
                <a:extLst>
                  <a:ext uri="{FF2B5EF4-FFF2-40B4-BE49-F238E27FC236}">
                    <a16:creationId xmlns:a16="http://schemas.microsoft.com/office/drawing/2014/main" id="{466D5FC3-B00B-96FF-F231-8D771E89523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Freeform 35">
                <a:extLst>
                  <a:ext uri="{FF2B5EF4-FFF2-40B4-BE49-F238E27FC236}">
                    <a16:creationId xmlns:a16="http://schemas.microsoft.com/office/drawing/2014/main" id="{75B7F079-97DF-A07B-81A8-EBC051258AA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3" name="Freeform 36">
                <a:extLst>
                  <a:ext uri="{FF2B5EF4-FFF2-40B4-BE49-F238E27FC236}">
                    <a16:creationId xmlns:a16="http://schemas.microsoft.com/office/drawing/2014/main" id="{2DD1A992-ECA3-FD32-A286-0880E13830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4" name="Freeform 37">
                <a:extLst>
                  <a:ext uri="{FF2B5EF4-FFF2-40B4-BE49-F238E27FC236}">
                    <a16:creationId xmlns:a16="http://schemas.microsoft.com/office/drawing/2014/main" id="{EF81E780-2EFF-7E3C-1A54-47823777F3D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Freeform 38">
                <a:extLst>
                  <a:ext uri="{FF2B5EF4-FFF2-40B4-BE49-F238E27FC236}">
                    <a16:creationId xmlns:a16="http://schemas.microsoft.com/office/drawing/2014/main" id="{1F24C693-D63E-60C1-7426-27A5A643EB9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Freeform 39">
                <a:extLst>
                  <a:ext uri="{FF2B5EF4-FFF2-40B4-BE49-F238E27FC236}">
                    <a16:creationId xmlns:a16="http://schemas.microsoft.com/office/drawing/2014/main" id="{CC46D04F-917D-3939-847C-FF31632BF49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40">
                <a:extLst>
                  <a:ext uri="{FF2B5EF4-FFF2-40B4-BE49-F238E27FC236}">
                    <a16:creationId xmlns:a16="http://schemas.microsoft.com/office/drawing/2014/main" id="{76F76572-4B05-86FF-5812-E637D471B92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41">
                <a:extLst>
                  <a:ext uri="{FF2B5EF4-FFF2-40B4-BE49-F238E27FC236}">
                    <a16:creationId xmlns:a16="http://schemas.microsoft.com/office/drawing/2014/main" id="{4838AB65-089D-EBFC-1C73-FD8D3B90DD85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2">
                <a:extLst>
                  <a:ext uri="{FF2B5EF4-FFF2-40B4-BE49-F238E27FC236}">
                    <a16:creationId xmlns:a16="http://schemas.microsoft.com/office/drawing/2014/main" id="{23A7E142-B9B5-C324-CB00-2E330CCB4FB5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3">
                <a:extLst>
                  <a:ext uri="{FF2B5EF4-FFF2-40B4-BE49-F238E27FC236}">
                    <a16:creationId xmlns:a16="http://schemas.microsoft.com/office/drawing/2014/main" id="{E89E8040-3F97-7FAA-5C75-17383D763AB5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4">
                <a:extLst>
                  <a:ext uri="{FF2B5EF4-FFF2-40B4-BE49-F238E27FC236}">
                    <a16:creationId xmlns:a16="http://schemas.microsoft.com/office/drawing/2014/main" id="{DD6021D5-AD0B-A9CB-4F4A-9DD69B2D181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2" name="Freeform 45">
                <a:extLst>
                  <a:ext uri="{FF2B5EF4-FFF2-40B4-BE49-F238E27FC236}">
                    <a16:creationId xmlns:a16="http://schemas.microsoft.com/office/drawing/2014/main" id="{8402E39D-710A-457D-0571-8156F1E985C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Freeform 46">
                <a:extLst>
                  <a:ext uri="{FF2B5EF4-FFF2-40B4-BE49-F238E27FC236}">
                    <a16:creationId xmlns:a16="http://schemas.microsoft.com/office/drawing/2014/main" id="{2A2355E5-5682-ED85-B61B-83C6B14E1BB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Freeform 47">
                <a:extLst>
                  <a:ext uri="{FF2B5EF4-FFF2-40B4-BE49-F238E27FC236}">
                    <a16:creationId xmlns:a16="http://schemas.microsoft.com/office/drawing/2014/main" id="{4C35B1AD-0A0C-FEC8-C16A-695896C65F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Freeform 48">
                <a:extLst>
                  <a:ext uri="{FF2B5EF4-FFF2-40B4-BE49-F238E27FC236}">
                    <a16:creationId xmlns:a16="http://schemas.microsoft.com/office/drawing/2014/main" id="{263C69E4-3D81-46DF-8F5F-5F9291BB7AB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6" name="Freeform 49">
                <a:extLst>
                  <a:ext uri="{FF2B5EF4-FFF2-40B4-BE49-F238E27FC236}">
                    <a16:creationId xmlns:a16="http://schemas.microsoft.com/office/drawing/2014/main" id="{FC07E714-49EB-EBC0-2370-3FC06F120E4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Freeform 50">
                <a:extLst>
                  <a:ext uri="{FF2B5EF4-FFF2-40B4-BE49-F238E27FC236}">
                    <a16:creationId xmlns:a16="http://schemas.microsoft.com/office/drawing/2014/main" id="{186796D2-0613-7B08-2D04-6FE6D4F9EAC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Freeform 51">
                <a:extLst>
                  <a:ext uri="{FF2B5EF4-FFF2-40B4-BE49-F238E27FC236}">
                    <a16:creationId xmlns:a16="http://schemas.microsoft.com/office/drawing/2014/main" id="{5D83B302-D3DD-674B-0A72-C8123848990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Freeform 52">
                <a:extLst>
                  <a:ext uri="{FF2B5EF4-FFF2-40B4-BE49-F238E27FC236}">
                    <a16:creationId xmlns:a16="http://schemas.microsoft.com/office/drawing/2014/main" id="{4C88FC0D-026C-4DED-2ED3-092F4071D07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0606906-EB50-9EF0-99CD-11C9A4C0CD25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模型训练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89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4A95-13CC-E180-3FFE-F742DAF1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2FBD05-AEC4-EFE0-2365-D2136B539B38}"/>
              </a:ext>
            </a:extLst>
          </p:cNvPr>
          <p:cNvSpPr txBox="1"/>
          <p:nvPr/>
        </p:nvSpPr>
        <p:spPr>
          <a:xfrm>
            <a:off x="3041723" y="6307891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ea typeface="黑体" panose="02010609060101010101" pitchFamily="49" charset="-122"/>
              </a:rPr>
              <a:t>两次优化的结果相差不大，网络本身达到可能已达到极限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BC4D235-B2A2-B394-0D46-1914D877E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316713"/>
              </p:ext>
            </p:extLst>
          </p:nvPr>
        </p:nvGraphicFramePr>
        <p:xfrm>
          <a:off x="-1" y="542831"/>
          <a:ext cx="12184092" cy="5590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682">
                  <a:extLst>
                    <a:ext uri="{9D8B030D-6E8A-4147-A177-3AD203B41FA5}">
                      <a16:colId xmlns:a16="http://schemas.microsoft.com/office/drawing/2014/main" val="1762170476"/>
                    </a:ext>
                  </a:extLst>
                </a:gridCol>
                <a:gridCol w="2030682">
                  <a:extLst>
                    <a:ext uri="{9D8B030D-6E8A-4147-A177-3AD203B41FA5}">
                      <a16:colId xmlns:a16="http://schemas.microsoft.com/office/drawing/2014/main" val="1395278825"/>
                    </a:ext>
                  </a:extLst>
                </a:gridCol>
                <a:gridCol w="2030682">
                  <a:extLst>
                    <a:ext uri="{9D8B030D-6E8A-4147-A177-3AD203B41FA5}">
                      <a16:colId xmlns:a16="http://schemas.microsoft.com/office/drawing/2014/main" val="3797895514"/>
                    </a:ext>
                  </a:extLst>
                </a:gridCol>
                <a:gridCol w="2030682">
                  <a:extLst>
                    <a:ext uri="{9D8B030D-6E8A-4147-A177-3AD203B41FA5}">
                      <a16:colId xmlns:a16="http://schemas.microsoft.com/office/drawing/2014/main" val="3290246700"/>
                    </a:ext>
                  </a:extLst>
                </a:gridCol>
                <a:gridCol w="2030682">
                  <a:extLst>
                    <a:ext uri="{9D8B030D-6E8A-4147-A177-3AD203B41FA5}">
                      <a16:colId xmlns:a16="http://schemas.microsoft.com/office/drawing/2014/main" val="1923873992"/>
                    </a:ext>
                  </a:extLst>
                </a:gridCol>
                <a:gridCol w="2030682">
                  <a:extLst>
                    <a:ext uri="{9D8B030D-6E8A-4147-A177-3AD203B41FA5}">
                      <a16:colId xmlns:a16="http://schemas.microsoft.com/office/drawing/2014/main" val="3316884716"/>
                    </a:ext>
                  </a:extLst>
                </a:gridCol>
              </a:tblGrid>
              <a:tr h="3763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kern="12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模型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特征维度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样本数量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参数量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FID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ysClr val="windowText" lastClr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IS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284068"/>
                  </a:ext>
                </a:extLst>
              </a:tr>
              <a:tr h="651789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DC-CGAN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9317" marR="69317" marT="34659" marB="3465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黑体" panose="02010609060101010101" pitchFamily="49" charset="-122"/>
                        </a:rPr>
                        <a:t>5K</a:t>
                      </a:r>
                      <a:endParaRPr lang="zh-CN" altLang="en-US"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黑体" panose="02010609060101010101" pitchFamily="49" charset="-122"/>
                        </a:rPr>
                        <a:t>~4.9M</a:t>
                      </a:r>
                      <a:endParaRPr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黑体" panose="02010609060101010101" pitchFamily="49" charset="-122"/>
                        </a:rPr>
                        <a:t>68.38</a:t>
                      </a:r>
                      <a:endParaRPr lang="zh-CN" altLang="en-US"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黑体" panose="02010609060101010101" pitchFamily="49" charset="-122"/>
                        </a:rPr>
                        <a:t>4.96 ± 0.16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478340"/>
                  </a:ext>
                </a:extLst>
              </a:tr>
              <a:tr h="651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9828" marR="49828" marT="24914" marB="24914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黑体" panose="02010609060101010101" pitchFamily="49" charset="-122"/>
                        </a:rPr>
                        <a:t>63.56</a:t>
                      </a:r>
                      <a:endParaRPr lang="zh-CN" altLang="en-US" sz="2000" b="1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黑体" panose="02010609060101010101" pitchFamily="49" charset="-122"/>
                        </a:rPr>
                        <a:t>5.02 ± 0.08</a:t>
                      </a:r>
                    </a:p>
                  </a:txBody>
                  <a:tcPr marL="49828" marR="49828" marT="24914" marB="2491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69809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DCGAN</a:t>
                      </a: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~1-2M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~40-50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~6.5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219620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CGAN</a:t>
                      </a: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~2-3M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~35-45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~7.0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48930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ACGAN</a:t>
                      </a: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~6M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~20-40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~8.0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3291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SAGAN</a:t>
                      </a: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~5-10M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~18-25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~8.5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988954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>
                          <a:latin typeface="+mn-lt"/>
                          <a:ea typeface="黑体" panose="02010609060101010101" pitchFamily="49" charset="-122"/>
                        </a:rPr>
                        <a:t>ProGAN</a:t>
                      </a:r>
                      <a:endParaRPr lang="en-US" altLang="zh-CN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~10-20M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~15-20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-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80256"/>
                  </a:ext>
                </a:extLst>
              </a:tr>
              <a:tr h="651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err="1">
                          <a:latin typeface="+mn-lt"/>
                          <a:ea typeface="黑体" panose="02010609060101010101" pitchFamily="49" charset="-122"/>
                        </a:rPr>
                        <a:t>BigGAN</a:t>
                      </a:r>
                      <a:endParaRPr lang="en-US" altLang="zh-CN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2048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63264" marR="63264" marT="31632" marB="31632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10K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~50-100M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~9-14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黑体" panose="02010609060101010101" pitchFamily="49" charset="-122"/>
                        </a:rPr>
                        <a:t>~9.5</a:t>
                      </a:r>
                      <a:endParaRPr lang="zh-CN" altLang="en-US" sz="2000" b="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49828" marR="49828" marT="24914" marB="24914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047005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F8D7BBAE-AC6F-5C8D-5676-740805DD390F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101FEB3-68A3-6B46-652F-9A5620DC8B29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ea typeface="黑体" panose="02010609060101010101" pitchFamily="49" charset="-122"/>
              </a:endParaRPr>
            </a:p>
          </p:txBody>
        </p:sp>
        <p:grpSp>
          <p:nvGrpSpPr>
            <p:cNvPr id="5" name="jwc_logo">
              <a:extLst>
                <a:ext uri="{FF2B5EF4-FFF2-40B4-BE49-F238E27FC236}">
                  <a16:creationId xmlns:a16="http://schemas.microsoft.com/office/drawing/2014/main" id="{FA785FDC-75FB-9004-3188-D95B104856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7" name="Freeform 34">
                <a:extLst>
                  <a:ext uri="{FF2B5EF4-FFF2-40B4-BE49-F238E27FC236}">
                    <a16:creationId xmlns:a16="http://schemas.microsoft.com/office/drawing/2014/main" id="{3797A741-5E0E-F04F-39D3-167EA48A9DF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8" name="Freeform 35">
                <a:extLst>
                  <a:ext uri="{FF2B5EF4-FFF2-40B4-BE49-F238E27FC236}">
                    <a16:creationId xmlns:a16="http://schemas.microsoft.com/office/drawing/2014/main" id="{F3F54934-7A74-9D97-389C-DBAB5DFCE9A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Freeform 36">
                <a:extLst>
                  <a:ext uri="{FF2B5EF4-FFF2-40B4-BE49-F238E27FC236}">
                    <a16:creationId xmlns:a16="http://schemas.microsoft.com/office/drawing/2014/main" id="{3ADD8269-35E4-8069-C616-8FBA9C292A3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Freeform 37">
                <a:extLst>
                  <a:ext uri="{FF2B5EF4-FFF2-40B4-BE49-F238E27FC236}">
                    <a16:creationId xmlns:a16="http://schemas.microsoft.com/office/drawing/2014/main" id="{7D75B899-BFD2-3ACC-F4CC-9420B61161C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8">
                <a:extLst>
                  <a:ext uri="{FF2B5EF4-FFF2-40B4-BE49-F238E27FC236}">
                    <a16:creationId xmlns:a16="http://schemas.microsoft.com/office/drawing/2014/main" id="{748149A0-C779-5EA5-C118-51AC25D8C59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39">
                <a:extLst>
                  <a:ext uri="{FF2B5EF4-FFF2-40B4-BE49-F238E27FC236}">
                    <a16:creationId xmlns:a16="http://schemas.microsoft.com/office/drawing/2014/main" id="{2B94E0C3-70E4-FF9A-36B8-A3E0F5A553A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40">
                <a:extLst>
                  <a:ext uri="{FF2B5EF4-FFF2-40B4-BE49-F238E27FC236}">
                    <a16:creationId xmlns:a16="http://schemas.microsoft.com/office/drawing/2014/main" id="{CC3506D9-F2DD-7C62-ABE8-11B32D5DA18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41">
                <a:extLst>
                  <a:ext uri="{FF2B5EF4-FFF2-40B4-BE49-F238E27FC236}">
                    <a16:creationId xmlns:a16="http://schemas.microsoft.com/office/drawing/2014/main" id="{1456C8D0-3164-F65A-D292-868619322CD8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42">
                <a:extLst>
                  <a:ext uri="{FF2B5EF4-FFF2-40B4-BE49-F238E27FC236}">
                    <a16:creationId xmlns:a16="http://schemas.microsoft.com/office/drawing/2014/main" id="{169615DD-1D8A-944A-CBB1-DDE1986FA1F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43">
                <a:extLst>
                  <a:ext uri="{FF2B5EF4-FFF2-40B4-BE49-F238E27FC236}">
                    <a16:creationId xmlns:a16="http://schemas.microsoft.com/office/drawing/2014/main" id="{20372BA7-D599-673D-FD10-8CAB75AE4A93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44">
                <a:extLst>
                  <a:ext uri="{FF2B5EF4-FFF2-40B4-BE49-F238E27FC236}">
                    <a16:creationId xmlns:a16="http://schemas.microsoft.com/office/drawing/2014/main" id="{EB3FBAF9-A25F-41FF-01FE-478D396A7A9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5">
                <a:extLst>
                  <a:ext uri="{FF2B5EF4-FFF2-40B4-BE49-F238E27FC236}">
                    <a16:creationId xmlns:a16="http://schemas.microsoft.com/office/drawing/2014/main" id="{66AE741F-506C-6359-BFB9-FA0F14161A4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6">
                <a:extLst>
                  <a:ext uri="{FF2B5EF4-FFF2-40B4-BE49-F238E27FC236}">
                    <a16:creationId xmlns:a16="http://schemas.microsoft.com/office/drawing/2014/main" id="{464A5CD1-6B2C-1C64-9AF6-457CAD783A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7">
                <a:extLst>
                  <a:ext uri="{FF2B5EF4-FFF2-40B4-BE49-F238E27FC236}">
                    <a16:creationId xmlns:a16="http://schemas.microsoft.com/office/drawing/2014/main" id="{F3EA4F1C-B05E-C3B3-D10E-16D496347C6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8">
                <a:extLst>
                  <a:ext uri="{FF2B5EF4-FFF2-40B4-BE49-F238E27FC236}">
                    <a16:creationId xmlns:a16="http://schemas.microsoft.com/office/drawing/2014/main" id="{57DADAC0-F9BB-8AC4-0AE7-4E7C9E1CEED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9">
                <a:extLst>
                  <a:ext uri="{FF2B5EF4-FFF2-40B4-BE49-F238E27FC236}">
                    <a16:creationId xmlns:a16="http://schemas.microsoft.com/office/drawing/2014/main" id="{B315F9AE-B85F-9AD7-4E2A-9C4AF735BDD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50">
                <a:extLst>
                  <a:ext uri="{FF2B5EF4-FFF2-40B4-BE49-F238E27FC236}">
                    <a16:creationId xmlns:a16="http://schemas.microsoft.com/office/drawing/2014/main" id="{E36741DC-9B88-13F8-20F1-A336C3525B0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51">
                <a:extLst>
                  <a:ext uri="{FF2B5EF4-FFF2-40B4-BE49-F238E27FC236}">
                    <a16:creationId xmlns:a16="http://schemas.microsoft.com/office/drawing/2014/main" id="{B53AA922-8486-D264-D2C2-B2EE73C3653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52">
                <a:extLst>
                  <a:ext uri="{FF2B5EF4-FFF2-40B4-BE49-F238E27FC236}">
                    <a16:creationId xmlns:a16="http://schemas.microsoft.com/office/drawing/2014/main" id="{A76A83ED-6861-6D39-EEC9-839A6AB8C0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85C5E6B-F0AD-5803-96F6-A79E5E94E0B9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ea typeface="黑体" panose="02010609060101010101" pitchFamily="49" charset="-122"/>
                </a:rPr>
                <a:t>训练结果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4574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0526-E24C-5B5C-2D1D-696BB3A3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47CD5F4-8A1D-9033-40FB-544F03026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20" y="1162013"/>
            <a:ext cx="4439728" cy="391156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78811DA-595E-2DA8-1BA2-70419EF63CE9}"/>
              </a:ext>
            </a:extLst>
          </p:cNvPr>
          <p:cNvSpPr txBox="1"/>
          <p:nvPr/>
        </p:nvSpPr>
        <p:spPr>
          <a:xfrm>
            <a:off x="2038708" y="5531182"/>
            <a:ext cx="1479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j-lt"/>
                <a:ea typeface="黑体" panose="02010609060101010101" pitchFamily="49" charset="-122"/>
              </a:rPr>
              <a:t>照片修复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8A59A7-0E6E-AA33-9460-241983C01CC3}"/>
              </a:ext>
            </a:extLst>
          </p:cNvPr>
          <p:cNvSpPr txBox="1"/>
          <p:nvPr/>
        </p:nvSpPr>
        <p:spPr>
          <a:xfrm>
            <a:off x="7822331" y="5531182"/>
            <a:ext cx="1479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j-lt"/>
                <a:ea typeface="黑体" panose="02010609060101010101" pitchFamily="49" charset="-122"/>
              </a:rPr>
              <a:t>作品修复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0AE97B-3809-85C1-AD29-149CB1E8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69"/>
          <a:stretch>
            <a:fillRect/>
          </a:stretch>
        </p:blipFill>
        <p:spPr>
          <a:xfrm>
            <a:off x="5141868" y="1162013"/>
            <a:ext cx="2105319" cy="3911562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A718CA37-FE9C-4B78-A053-596A39499073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4C26CCC-1451-164C-A1D4-E0EACA36BB36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6" name="jwc_logo">
              <a:extLst>
                <a:ext uri="{FF2B5EF4-FFF2-40B4-BE49-F238E27FC236}">
                  <a16:creationId xmlns:a16="http://schemas.microsoft.com/office/drawing/2014/main" id="{7A921465-4267-C64D-DDE3-B8B7AD676B5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9" name="Freeform 34">
                <a:extLst>
                  <a:ext uri="{FF2B5EF4-FFF2-40B4-BE49-F238E27FC236}">
                    <a16:creationId xmlns:a16="http://schemas.microsoft.com/office/drawing/2014/main" id="{8861D98E-7D19-DB52-0892-A242ED67B8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Freeform 35">
                <a:extLst>
                  <a:ext uri="{FF2B5EF4-FFF2-40B4-BE49-F238E27FC236}">
                    <a16:creationId xmlns:a16="http://schemas.microsoft.com/office/drawing/2014/main" id="{CC43CF2F-B9AE-C2E8-D09A-0D96FAB20A1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Freeform 36">
                <a:extLst>
                  <a:ext uri="{FF2B5EF4-FFF2-40B4-BE49-F238E27FC236}">
                    <a16:creationId xmlns:a16="http://schemas.microsoft.com/office/drawing/2014/main" id="{632A25DB-5262-D976-D658-50B36F2176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1BC45603-504B-8A36-1706-54E39DBFABB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A751E42F-BBD8-9FD4-A2CD-62D61DD5CC6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CDE1D82-BBAA-6FDB-A2E1-29A1EB280BE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39A0D3FF-F1AB-EDE4-923B-19CC9C376BA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1">
                <a:extLst>
                  <a:ext uri="{FF2B5EF4-FFF2-40B4-BE49-F238E27FC236}">
                    <a16:creationId xmlns:a16="http://schemas.microsoft.com/office/drawing/2014/main" id="{904B33C8-98B7-C70B-EC2F-C7CAAD31917C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2">
                <a:extLst>
                  <a:ext uri="{FF2B5EF4-FFF2-40B4-BE49-F238E27FC236}">
                    <a16:creationId xmlns:a16="http://schemas.microsoft.com/office/drawing/2014/main" id="{60EA32B4-3815-2B66-C58A-7DF17C1B00ED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3">
                <a:extLst>
                  <a:ext uri="{FF2B5EF4-FFF2-40B4-BE49-F238E27FC236}">
                    <a16:creationId xmlns:a16="http://schemas.microsoft.com/office/drawing/2014/main" id="{EDFB4E2F-E1D8-9614-ECA7-D15ED286D863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4">
                <a:extLst>
                  <a:ext uri="{FF2B5EF4-FFF2-40B4-BE49-F238E27FC236}">
                    <a16:creationId xmlns:a16="http://schemas.microsoft.com/office/drawing/2014/main" id="{0CF10FD9-519D-DB68-6527-E0A5862D78C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5">
                <a:extLst>
                  <a:ext uri="{FF2B5EF4-FFF2-40B4-BE49-F238E27FC236}">
                    <a16:creationId xmlns:a16="http://schemas.microsoft.com/office/drawing/2014/main" id="{F28814EF-AB62-A3B4-D083-D1AF6186CEE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46">
                <a:extLst>
                  <a:ext uri="{FF2B5EF4-FFF2-40B4-BE49-F238E27FC236}">
                    <a16:creationId xmlns:a16="http://schemas.microsoft.com/office/drawing/2014/main" id="{ADA1C3A4-6C57-0A80-E5D2-2881CCE2906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47">
                <a:extLst>
                  <a:ext uri="{FF2B5EF4-FFF2-40B4-BE49-F238E27FC236}">
                    <a16:creationId xmlns:a16="http://schemas.microsoft.com/office/drawing/2014/main" id="{C716D874-78D4-6FDA-9969-0F84A382983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48">
                <a:extLst>
                  <a:ext uri="{FF2B5EF4-FFF2-40B4-BE49-F238E27FC236}">
                    <a16:creationId xmlns:a16="http://schemas.microsoft.com/office/drawing/2014/main" id="{32959E64-645A-4D4D-B5A6-3C3EB3FEF04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49">
                <a:extLst>
                  <a:ext uri="{FF2B5EF4-FFF2-40B4-BE49-F238E27FC236}">
                    <a16:creationId xmlns:a16="http://schemas.microsoft.com/office/drawing/2014/main" id="{E89DE7C9-5A84-571F-3DB3-43727DBA584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Freeform 50">
                <a:extLst>
                  <a:ext uri="{FF2B5EF4-FFF2-40B4-BE49-F238E27FC236}">
                    <a16:creationId xmlns:a16="http://schemas.microsoft.com/office/drawing/2014/main" id="{DCA003B0-2708-6781-C28C-5BDC0CDE23D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51">
                <a:extLst>
                  <a:ext uri="{FF2B5EF4-FFF2-40B4-BE49-F238E27FC236}">
                    <a16:creationId xmlns:a16="http://schemas.microsoft.com/office/drawing/2014/main" id="{0252E09E-6B46-19C0-64AD-D443EBE488D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52">
                <a:extLst>
                  <a:ext uri="{FF2B5EF4-FFF2-40B4-BE49-F238E27FC236}">
                    <a16:creationId xmlns:a16="http://schemas.microsoft.com/office/drawing/2014/main" id="{B38EA51E-F22A-C2C9-B887-9D6091A1283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97B45CA-FDAA-0DBB-55F8-0027BE24E8C8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课题背景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C0F046-E4FD-9B87-E0EC-4D4C11C8D0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20"/>
          <a:stretch>
            <a:fillRect/>
          </a:stretch>
        </p:blipFill>
        <p:spPr bwMode="auto">
          <a:xfrm>
            <a:off x="294252" y="1389488"/>
            <a:ext cx="4762500" cy="345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033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CAC1-E891-8A08-3226-DE17355D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B217F7-2281-9C83-B743-F382CF5E4939}"/>
              </a:ext>
            </a:extLst>
          </p:cNvPr>
          <p:cNvSpPr txBox="1"/>
          <p:nvPr/>
        </p:nvSpPr>
        <p:spPr>
          <a:xfrm>
            <a:off x="23209" y="599558"/>
            <a:ext cx="57036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  <a:ea typeface="黑体" panose="02010609060101010101" pitchFamily="49" charset="-122"/>
              </a:rPr>
              <a:t>Carlini Wagner (CW) Generate</a:t>
            </a:r>
          </a:p>
          <a:p>
            <a:r>
              <a:rPr lang="zh-CN" altLang="en-US" sz="2400" b="1" dirty="0">
                <a:latin typeface="+mj-lt"/>
                <a:ea typeface="黑体" panose="02010609060101010101" pitchFamily="49" charset="-122"/>
              </a:rPr>
              <a:t>一种基于松弛方法的像素剥离生成方案</a:t>
            </a:r>
            <a:endParaRPr lang="zh-CN" altLang="en-US" sz="2000" b="1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E85690-0E63-7104-64DA-7473F3C47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335" y="2552085"/>
            <a:ext cx="2880000" cy="288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BFFF75-415A-8ED8-2948-5AFD377993E0}"/>
              </a:ext>
            </a:extLst>
          </p:cNvPr>
          <p:cNvSpPr txBox="1"/>
          <p:nvPr/>
        </p:nvSpPr>
        <p:spPr>
          <a:xfrm>
            <a:off x="2168772" y="5432085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Label = cat</a:t>
            </a:r>
            <a:endParaRPr lang="zh-CN" altLang="en-US" sz="2000" b="1" dirty="0"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61139F4-433C-837B-829B-E5C9C233C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081520"/>
              </p:ext>
            </p:extLst>
          </p:nvPr>
        </p:nvGraphicFramePr>
        <p:xfrm>
          <a:off x="6096000" y="734491"/>
          <a:ext cx="4779412" cy="7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342720" progId="Equation.DSMT4">
                  <p:embed/>
                </p:oleObj>
              </mc:Choice>
              <mc:Fallback>
                <p:oleObj name="Equation" r:id="rId4" imgW="2298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0" y="734491"/>
                        <a:ext cx="4779412" cy="712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804D354E-BD44-9BBB-D0AE-814B38887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1529399"/>
              </p:ext>
            </p:extLst>
          </p:nvPr>
        </p:nvGraphicFramePr>
        <p:xfrm>
          <a:off x="5726903" y="1780656"/>
          <a:ext cx="5633351" cy="3463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3744D2A9-2FAC-82C6-D18C-6BE2793C3DAC}"/>
              </a:ext>
            </a:extLst>
          </p:cNvPr>
          <p:cNvSpPr/>
          <p:nvPr/>
        </p:nvSpPr>
        <p:spPr>
          <a:xfrm rot="16200000">
            <a:off x="7072132" y="2445152"/>
            <a:ext cx="1284790" cy="2662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6B7037D-CE0D-82DD-33A7-AF9BC4E3A08E}"/>
              </a:ext>
            </a:extLst>
          </p:cNvPr>
          <p:cNvSpPr/>
          <p:nvPr/>
        </p:nvSpPr>
        <p:spPr>
          <a:xfrm rot="5400000">
            <a:off x="6033535" y="3882259"/>
            <a:ext cx="1284790" cy="2662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4F73A30B-E8C1-6E6F-94F4-4A3F5343AE21}"/>
              </a:ext>
            </a:extLst>
          </p:cNvPr>
          <p:cNvSpPr/>
          <p:nvPr/>
        </p:nvSpPr>
        <p:spPr>
          <a:xfrm rot="5400000">
            <a:off x="8975434" y="3882259"/>
            <a:ext cx="1284790" cy="2662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8192FE-13E5-22F2-AE5B-0CD9043AA972}"/>
              </a:ext>
            </a:extLst>
          </p:cNvPr>
          <p:cNvSpPr txBox="1"/>
          <p:nvPr/>
        </p:nvSpPr>
        <p:spPr>
          <a:xfrm>
            <a:off x="5307592" y="5702244"/>
            <a:ext cx="6460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使用掩码剥离图片像素，使其只保留前景特征，舍弃背景内容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CAE74B1-670F-A4A0-3BFE-51AB2087A11D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8DD56BD-EF30-72C1-640B-43760D47B53F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9" name="jwc_logo">
              <a:extLst>
                <a:ext uri="{FF2B5EF4-FFF2-40B4-BE49-F238E27FC236}">
                  <a16:creationId xmlns:a16="http://schemas.microsoft.com/office/drawing/2014/main" id="{ECFC3AEF-E03A-6139-4AB9-2DD6D1178D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31" name="Freeform 34">
                <a:extLst>
                  <a:ext uri="{FF2B5EF4-FFF2-40B4-BE49-F238E27FC236}">
                    <a16:creationId xmlns:a16="http://schemas.microsoft.com/office/drawing/2014/main" id="{74C4A132-971A-B865-230D-E226435B185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8FA0A2B-BB7E-52EF-B644-8D284CA881B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B506663-05BD-5AA1-AB5F-F20AD08B7EF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Freeform 37">
                <a:extLst>
                  <a:ext uri="{FF2B5EF4-FFF2-40B4-BE49-F238E27FC236}">
                    <a16:creationId xmlns:a16="http://schemas.microsoft.com/office/drawing/2014/main" id="{FF997B5C-A9DD-D0C7-061A-7BF31B158F9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38">
                <a:extLst>
                  <a:ext uri="{FF2B5EF4-FFF2-40B4-BE49-F238E27FC236}">
                    <a16:creationId xmlns:a16="http://schemas.microsoft.com/office/drawing/2014/main" id="{86D6E109-D02B-81F9-E33C-757D8EAAFB9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AE82D9CB-6798-939B-12E4-3BFA1E421DB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40">
                <a:extLst>
                  <a:ext uri="{FF2B5EF4-FFF2-40B4-BE49-F238E27FC236}">
                    <a16:creationId xmlns:a16="http://schemas.microsoft.com/office/drawing/2014/main" id="{CBD27DA9-FE13-3838-4F27-73F68D87BEF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0" name="Freeform 41">
                <a:extLst>
                  <a:ext uri="{FF2B5EF4-FFF2-40B4-BE49-F238E27FC236}">
                    <a16:creationId xmlns:a16="http://schemas.microsoft.com/office/drawing/2014/main" id="{41995E0C-F4B8-545A-EDB4-2A8BD0BDF9DC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Freeform 42">
                <a:extLst>
                  <a:ext uri="{FF2B5EF4-FFF2-40B4-BE49-F238E27FC236}">
                    <a16:creationId xmlns:a16="http://schemas.microsoft.com/office/drawing/2014/main" id="{599E17E3-48CA-7C58-C8F7-17B0BE770A1A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Freeform 43">
                <a:extLst>
                  <a:ext uri="{FF2B5EF4-FFF2-40B4-BE49-F238E27FC236}">
                    <a16:creationId xmlns:a16="http://schemas.microsoft.com/office/drawing/2014/main" id="{467DCC15-4D3A-CC1D-1833-FB48812ECA71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63" name="Freeform 44">
                <a:extLst>
                  <a:ext uri="{FF2B5EF4-FFF2-40B4-BE49-F238E27FC236}">
                    <a16:creationId xmlns:a16="http://schemas.microsoft.com/office/drawing/2014/main" id="{AE15F03D-ACC9-58E0-A458-8AD38740CBF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24" name="Freeform 45">
                <a:extLst>
                  <a:ext uri="{FF2B5EF4-FFF2-40B4-BE49-F238E27FC236}">
                    <a16:creationId xmlns:a16="http://schemas.microsoft.com/office/drawing/2014/main" id="{47D8BD69-327C-10E6-F745-9906CB46FCD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25" name="Freeform 46">
                <a:extLst>
                  <a:ext uri="{FF2B5EF4-FFF2-40B4-BE49-F238E27FC236}">
                    <a16:creationId xmlns:a16="http://schemas.microsoft.com/office/drawing/2014/main" id="{C15169D9-CE6F-81E5-FCBE-D4085335CCE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27" name="Freeform 47">
                <a:extLst>
                  <a:ext uri="{FF2B5EF4-FFF2-40B4-BE49-F238E27FC236}">
                    <a16:creationId xmlns:a16="http://schemas.microsoft.com/office/drawing/2014/main" id="{EAC847D5-85B9-7BCF-A7FD-ACF40C6D8B5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28" name="Freeform 48">
                <a:extLst>
                  <a:ext uri="{FF2B5EF4-FFF2-40B4-BE49-F238E27FC236}">
                    <a16:creationId xmlns:a16="http://schemas.microsoft.com/office/drawing/2014/main" id="{D661FE40-6D53-311B-FD17-0D336FD3A0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29" name="Freeform 49">
                <a:extLst>
                  <a:ext uri="{FF2B5EF4-FFF2-40B4-BE49-F238E27FC236}">
                    <a16:creationId xmlns:a16="http://schemas.microsoft.com/office/drawing/2014/main" id="{ED8454D8-FBC6-4FC4-C406-FBBDCAB61AA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30" name="Freeform 50">
                <a:extLst>
                  <a:ext uri="{FF2B5EF4-FFF2-40B4-BE49-F238E27FC236}">
                    <a16:creationId xmlns:a16="http://schemas.microsoft.com/office/drawing/2014/main" id="{A3E37F45-93AC-8B33-499F-E141EE5E6EA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31" name="Freeform 51">
                <a:extLst>
                  <a:ext uri="{FF2B5EF4-FFF2-40B4-BE49-F238E27FC236}">
                    <a16:creationId xmlns:a16="http://schemas.microsoft.com/office/drawing/2014/main" id="{1F7C1D3B-4DFB-C351-A4A8-9416DE2EA94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32" name="Freeform 52">
                <a:extLst>
                  <a:ext uri="{FF2B5EF4-FFF2-40B4-BE49-F238E27FC236}">
                    <a16:creationId xmlns:a16="http://schemas.microsoft.com/office/drawing/2014/main" id="{DBFEED03-DDBA-D1D7-C2C1-04A27B37206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A7A440D-0329-B405-9B7E-639E19DA0960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松弛策略的探索</a:t>
              </a:r>
            </a:p>
          </p:txBody>
        </p:sp>
      </p:grpSp>
      <p:sp>
        <p:nvSpPr>
          <p:cNvPr id="1033" name="文本框 1032">
            <a:extLst>
              <a:ext uri="{FF2B5EF4-FFF2-40B4-BE49-F238E27FC236}">
                <a16:creationId xmlns:a16="http://schemas.microsoft.com/office/drawing/2014/main" id="{26267278-6323-22B2-6A5A-DD379CD779FD}"/>
              </a:ext>
            </a:extLst>
          </p:cNvPr>
          <p:cNvSpPr txBox="1"/>
          <p:nvPr/>
        </p:nvSpPr>
        <p:spPr>
          <a:xfrm>
            <a:off x="2327827" y="2046281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  <a:ea typeface="黑体" panose="02010609060101010101" pitchFamily="49" charset="-122"/>
              </a:rPr>
              <a:t>image</a:t>
            </a:r>
            <a:endParaRPr lang="zh-CN" altLang="en-US" sz="2000" b="1" dirty="0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796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86069C-B202-CFC3-8F1B-421110F4D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476" y="631880"/>
            <a:ext cx="2880000" cy="288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0D47AA-292A-95C1-A614-9F9517631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476" y="3757621"/>
            <a:ext cx="2880000" cy="288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1D8DD5B-D26F-0749-0177-C1145D202B1E}"/>
              </a:ext>
            </a:extLst>
          </p:cNvPr>
          <p:cNvSpPr txBox="1"/>
          <p:nvPr/>
        </p:nvSpPr>
        <p:spPr>
          <a:xfrm>
            <a:off x="181533" y="20149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抛弃率从低到高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9C35AF-41D4-F127-84ED-2514A2A4AF8F}"/>
              </a:ext>
            </a:extLst>
          </p:cNvPr>
          <p:cNvSpPr txBox="1"/>
          <p:nvPr/>
        </p:nvSpPr>
        <p:spPr>
          <a:xfrm>
            <a:off x="181533" y="465841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抛弃率从高到低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334F1FF-3EE1-6E2A-991C-9F961C430876}"/>
              </a:ext>
            </a:extLst>
          </p:cNvPr>
          <p:cNvGrpSpPr/>
          <p:nvPr/>
        </p:nvGrpSpPr>
        <p:grpSpPr>
          <a:xfrm>
            <a:off x="5639074" y="682422"/>
            <a:ext cx="6068509" cy="3064665"/>
            <a:chOff x="5623601" y="377072"/>
            <a:chExt cx="6068509" cy="306466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EA64FDB-384A-F7D5-D18B-4F713E3B4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110" y="377072"/>
              <a:ext cx="5760000" cy="288000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EE0B5D1-9B90-1973-092C-113DC8B867F1}"/>
                </a:ext>
              </a:extLst>
            </p:cNvPr>
            <p:cNvSpPr txBox="1"/>
            <p:nvPr/>
          </p:nvSpPr>
          <p:spPr>
            <a:xfrm>
              <a:off x="8233254" y="3072405"/>
              <a:ext cx="880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Epoch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2B5ABCE-8AD4-39C8-121D-61D174673072}"/>
                </a:ext>
              </a:extLst>
            </p:cNvPr>
            <p:cNvSpPr txBox="1"/>
            <p:nvPr/>
          </p:nvSpPr>
          <p:spPr>
            <a:xfrm rot="16200000">
              <a:off x="5124294" y="1447362"/>
              <a:ext cx="1367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probability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765F12F-E047-0D77-645F-90F5C8AA59F0}"/>
              </a:ext>
            </a:extLst>
          </p:cNvPr>
          <p:cNvGrpSpPr/>
          <p:nvPr/>
        </p:nvGrpSpPr>
        <p:grpSpPr>
          <a:xfrm>
            <a:off x="5639074" y="3757621"/>
            <a:ext cx="6068509" cy="3064665"/>
            <a:chOff x="5623601" y="3600929"/>
            <a:chExt cx="6068509" cy="306466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32E80B1-A993-1D22-044C-215AA99A1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110" y="3600929"/>
              <a:ext cx="5760000" cy="288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4F8E65C-651C-4E7F-D05A-349136E37C0B}"/>
                </a:ext>
              </a:extLst>
            </p:cNvPr>
            <p:cNvSpPr txBox="1"/>
            <p:nvPr/>
          </p:nvSpPr>
          <p:spPr>
            <a:xfrm>
              <a:off x="8233254" y="6296262"/>
              <a:ext cx="880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Epoch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874BDA5-4B8A-811A-14EC-5E93F399DD88}"/>
                </a:ext>
              </a:extLst>
            </p:cNvPr>
            <p:cNvSpPr txBox="1"/>
            <p:nvPr/>
          </p:nvSpPr>
          <p:spPr>
            <a:xfrm rot="16200000">
              <a:off x="5124294" y="4772453"/>
              <a:ext cx="1367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probability</a:t>
              </a:r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EA83EAE-D612-28EB-D207-6024598EA5DD}"/>
              </a:ext>
            </a:extLst>
          </p:cNvPr>
          <p:cNvSpPr txBox="1"/>
          <p:nvPr/>
        </p:nvSpPr>
        <p:spPr>
          <a:xfrm>
            <a:off x="181533" y="415153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+mj-lt"/>
                <a:ea typeface="黑体" panose="02010609060101010101" pitchFamily="49" charset="-122"/>
              </a:rPr>
              <a:t>方案</a:t>
            </a:r>
            <a:r>
              <a:rPr lang="en-US" altLang="zh-CN" b="1" dirty="0">
                <a:solidFill>
                  <a:prstClr val="black"/>
                </a:solidFill>
                <a:latin typeface="+mj-lt"/>
                <a:ea typeface="黑体" panose="02010609060101010101" pitchFamily="49" charset="-122"/>
              </a:rPr>
              <a:t>2</a:t>
            </a:r>
            <a:endParaRPr kumimoji="0" lang="zh-CN" altLang="en-US" sz="18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214994-8636-22D9-E4C2-B56D8AE24AE4}"/>
              </a:ext>
            </a:extLst>
          </p:cNvPr>
          <p:cNvSpPr txBox="1"/>
          <p:nvPr/>
        </p:nvSpPr>
        <p:spPr>
          <a:xfrm>
            <a:off x="181533" y="148200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+mj-lt"/>
                <a:ea typeface="黑体" panose="02010609060101010101" pitchFamily="49" charset="-122"/>
              </a:rPr>
              <a:t>方案</a:t>
            </a:r>
            <a:r>
              <a:rPr lang="en-US" altLang="zh-CN" b="1" dirty="0">
                <a:solidFill>
                  <a:prstClr val="black"/>
                </a:solidFill>
                <a:latin typeface="+mj-lt"/>
                <a:ea typeface="黑体" panose="02010609060101010101" pitchFamily="49" charset="-122"/>
              </a:rPr>
              <a:t>1</a:t>
            </a:r>
            <a:endParaRPr kumimoji="0" lang="zh-CN" altLang="en-US" sz="18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B99B4B7-8131-866A-5941-4434439AD48E}"/>
              </a:ext>
            </a:extLst>
          </p:cNvPr>
          <p:cNvGrpSpPr/>
          <p:nvPr/>
        </p:nvGrpSpPr>
        <p:grpSpPr>
          <a:xfrm>
            <a:off x="1226789" y="5329071"/>
            <a:ext cx="1294654" cy="1207936"/>
            <a:chOff x="5213049" y="5561512"/>
            <a:chExt cx="1078834" cy="1207936"/>
          </a:xfrm>
        </p:grpSpPr>
        <p:sp>
          <p:nvSpPr>
            <p:cNvPr id="17" name="星形: 七角 16">
              <a:extLst>
                <a:ext uri="{FF2B5EF4-FFF2-40B4-BE49-F238E27FC236}">
                  <a16:creationId xmlns:a16="http://schemas.microsoft.com/office/drawing/2014/main" id="{7952A86D-59BB-4B70-308C-D2C3997800BC}"/>
                </a:ext>
              </a:extLst>
            </p:cNvPr>
            <p:cNvSpPr/>
            <p:nvPr/>
          </p:nvSpPr>
          <p:spPr>
            <a:xfrm>
              <a:off x="5213049" y="5561512"/>
              <a:ext cx="1078834" cy="1207936"/>
            </a:xfrm>
            <a:prstGeom prst="star7">
              <a:avLst>
                <a:gd name="adj" fmla="val 25493"/>
                <a:gd name="hf" fmla="val 102572"/>
                <a:gd name="vf" fmla="val 105210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804759A-4E0A-C436-0CB8-39472FBA37B2}"/>
                </a:ext>
              </a:extLst>
            </p:cNvPr>
            <p:cNvSpPr txBox="1"/>
            <p:nvPr/>
          </p:nvSpPr>
          <p:spPr>
            <a:xfrm>
              <a:off x="5419714" y="6019264"/>
              <a:ext cx="730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更优！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B62EF0-FED6-B7BB-3FBE-E7721A94EB0B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834C02B-C690-BB0C-1A8E-DDD048E6FBAB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21" name="jwc_logo">
              <a:extLst>
                <a:ext uri="{FF2B5EF4-FFF2-40B4-BE49-F238E27FC236}">
                  <a16:creationId xmlns:a16="http://schemas.microsoft.com/office/drawing/2014/main" id="{D6D67EE8-3B19-D638-2CA2-77FE5BC9798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23" name="Freeform 34">
                <a:extLst>
                  <a:ext uri="{FF2B5EF4-FFF2-40B4-BE49-F238E27FC236}">
                    <a16:creationId xmlns:a16="http://schemas.microsoft.com/office/drawing/2014/main" id="{063A59BF-7B46-C76E-AC3E-234F6EB447E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35">
                <a:extLst>
                  <a:ext uri="{FF2B5EF4-FFF2-40B4-BE49-F238E27FC236}">
                    <a16:creationId xmlns:a16="http://schemas.microsoft.com/office/drawing/2014/main" id="{9CD82AB0-E9BB-5638-68C9-95C5222A0A9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2FE321CA-33E5-F136-904A-D6B3C8FD889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37">
                <a:extLst>
                  <a:ext uri="{FF2B5EF4-FFF2-40B4-BE49-F238E27FC236}">
                    <a16:creationId xmlns:a16="http://schemas.microsoft.com/office/drawing/2014/main" id="{730FBAF6-93E5-06B1-B860-13AC1883BA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8BD85AE3-A64C-180F-B0B1-7BCB3261D21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39">
                <a:extLst>
                  <a:ext uri="{FF2B5EF4-FFF2-40B4-BE49-F238E27FC236}">
                    <a16:creationId xmlns:a16="http://schemas.microsoft.com/office/drawing/2014/main" id="{D0C60B68-14C0-8547-77F0-8885D23F595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40">
                <a:extLst>
                  <a:ext uri="{FF2B5EF4-FFF2-40B4-BE49-F238E27FC236}">
                    <a16:creationId xmlns:a16="http://schemas.microsoft.com/office/drawing/2014/main" id="{561DB039-A623-6D48-9878-77EA464089C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41">
                <a:extLst>
                  <a:ext uri="{FF2B5EF4-FFF2-40B4-BE49-F238E27FC236}">
                    <a16:creationId xmlns:a16="http://schemas.microsoft.com/office/drawing/2014/main" id="{4EB84E44-2817-6610-6BFB-2825BF95E9B7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42">
                <a:extLst>
                  <a:ext uri="{FF2B5EF4-FFF2-40B4-BE49-F238E27FC236}">
                    <a16:creationId xmlns:a16="http://schemas.microsoft.com/office/drawing/2014/main" id="{8586A83F-84C3-1477-6C15-BE94FE81953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Freeform 43">
                <a:extLst>
                  <a:ext uri="{FF2B5EF4-FFF2-40B4-BE49-F238E27FC236}">
                    <a16:creationId xmlns:a16="http://schemas.microsoft.com/office/drawing/2014/main" id="{FC53AD9D-D131-7280-796D-F026161049E2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44">
                <a:extLst>
                  <a:ext uri="{FF2B5EF4-FFF2-40B4-BE49-F238E27FC236}">
                    <a16:creationId xmlns:a16="http://schemas.microsoft.com/office/drawing/2014/main" id="{E626E3D2-4615-A44D-7607-3C5B779F0CC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3F623F99-BB33-61CB-35B6-C9E8A8171A3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7FD6C704-8746-F7C7-38B0-F55C7092147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4E70F7DF-3898-5F0B-9E3E-A3E98FEF0D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6693EAE7-A7A0-995C-6638-BD5A7A156F3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7E8BAF0B-9C88-3E2A-68A6-150C36147EC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Freeform 50">
                <a:extLst>
                  <a:ext uri="{FF2B5EF4-FFF2-40B4-BE49-F238E27FC236}">
                    <a16:creationId xmlns:a16="http://schemas.microsoft.com/office/drawing/2014/main" id="{10CBDCEE-B506-C8B6-371E-A8C5F22C339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A231D2C4-77F1-8AFC-425D-A2CF429B357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Freeform 52">
                <a:extLst>
                  <a:ext uri="{FF2B5EF4-FFF2-40B4-BE49-F238E27FC236}">
                    <a16:creationId xmlns:a16="http://schemas.microsoft.com/office/drawing/2014/main" id="{045A8485-7195-3797-13CF-AB152227063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F91E949-1D8C-E861-888E-0F78ED8F5C9C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松弛策略的探索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4389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6FBE86-B915-3ADA-D6F7-73D85FDB7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15" y="3618000"/>
            <a:ext cx="2880000" cy="288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96CACB-42A0-5989-63DC-7D9140AF7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12" y="1239397"/>
            <a:ext cx="7200000" cy="36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7381810-E1F5-E524-7384-4059B4F60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15" y="609846"/>
            <a:ext cx="2880000" cy="288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C892D10-7380-65E9-34F8-92A0C02A9D3E}"/>
              </a:ext>
            </a:extLst>
          </p:cNvPr>
          <p:cNvSpPr txBox="1"/>
          <p:nvPr/>
        </p:nvSpPr>
        <p:spPr>
          <a:xfrm>
            <a:off x="1009089" y="5233585"/>
            <a:ext cx="4608954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50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轮左右就已经取得了较好的提取效果，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抛弃率可以达到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60%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左右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B8400E-C17C-B7CA-4881-4C76EDAE4FE9}"/>
              </a:ext>
            </a:extLst>
          </p:cNvPr>
          <p:cNvSpPr txBox="1"/>
          <p:nvPr/>
        </p:nvSpPr>
        <p:spPr>
          <a:xfrm>
            <a:off x="368658" y="66054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抛弃率从高到低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06A9C62-E0C1-D2D0-26B7-800A0665C6F9}"/>
              </a:ext>
            </a:extLst>
          </p:cNvPr>
          <p:cNvSpPr/>
          <p:nvPr/>
        </p:nvSpPr>
        <p:spPr>
          <a:xfrm>
            <a:off x="860821" y="5233584"/>
            <a:ext cx="4608954" cy="934459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764889D-BB78-2A19-B523-A15AF9F21C79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D33738B-D39B-F6DB-87D8-7D7BC2B2CADB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8" name="jwc_logo">
              <a:extLst>
                <a:ext uri="{FF2B5EF4-FFF2-40B4-BE49-F238E27FC236}">
                  <a16:creationId xmlns:a16="http://schemas.microsoft.com/office/drawing/2014/main" id="{085F9AC2-2BC0-4454-04B7-151765CA497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2" name="Freeform 34">
                <a:extLst>
                  <a:ext uri="{FF2B5EF4-FFF2-40B4-BE49-F238E27FC236}">
                    <a16:creationId xmlns:a16="http://schemas.microsoft.com/office/drawing/2014/main" id="{648D80F6-0686-9529-0151-BD633BCAE66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30010682-2B98-BE93-0797-A44A3107A8B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36">
                <a:extLst>
                  <a:ext uri="{FF2B5EF4-FFF2-40B4-BE49-F238E27FC236}">
                    <a16:creationId xmlns:a16="http://schemas.microsoft.com/office/drawing/2014/main" id="{FF6E3295-81B1-78B4-5CE7-89114DD0460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37">
                <a:extLst>
                  <a:ext uri="{FF2B5EF4-FFF2-40B4-BE49-F238E27FC236}">
                    <a16:creationId xmlns:a16="http://schemas.microsoft.com/office/drawing/2014/main" id="{A68EB39C-5418-A08D-9F71-D9FCB69A980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38">
                <a:extLst>
                  <a:ext uri="{FF2B5EF4-FFF2-40B4-BE49-F238E27FC236}">
                    <a16:creationId xmlns:a16="http://schemas.microsoft.com/office/drawing/2014/main" id="{8F873B8C-11AA-83FA-EABD-E1E5393698A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39">
                <a:extLst>
                  <a:ext uri="{FF2B5EF4-FFF2-40B4-BE49-F238E27FC236}">
                    <a16:creationId xmlns:a16="http://schemas.microsoft.com/office/drawing/2014/main" id="{E7CC91C8-A04B-FA9F-4921-49D8AA0F38C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40">
                <a:extLst>
                  <a:ext uri="{FF2B5EF4-FFF2-40B4-BE49-F238E27FC236}">
                    <a16:creationId xmlns:a16="http://schemas.microsoft.com/office/drawing/2014/main" id="{9DFAE18B-D75C-6A0F-55D3-BEF646D1BFB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41">
                <a:extLst>
                  <a:ext uri="{FF2B5EF4-FFF2-40B4-BE49-F238E27FC236}">
                    <a16:creationId xmlns:a16="http://schemas.microsoft.com/office/drawing/2014/main" id="{ECCE7F72-AD7B-7267-8462-4006AEB5A14B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2">
                <a:extLst>
                  <a:ext uri="{FF2B5EF4-FFF2-40B4-BE49-F238E27FC236}">
                    <a16:creationId xmlns:a16="http://schemas.microsoft.com/office/drawing/2014/main" id="{969D0502-9818-8660-70F0-A59D3DFD70BC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3">
                <a:extLst>
                  <a:ext uri="{FF2B5EF4-FFF2-40B4-BE49-F238E27FC236}">
                    <a16:creationId xmlns:a16="http://schemas.microsoft.com/office/drawing/2014/main" id="{753FC3DE-5167-1B3D-5D1A-DC8A04F81635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4">
                <a:extLst>
                  <a:ext uri="{FF2B5EF4-FFF2-40B4-BE49-F238E27FC236}">
                    <a16:creationId xmlns:a16="http://schemas.microsoft.com/office/drawing/2014/main" id="{BDDC1793-2EAD-439A-4AE4-7635A7406B5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5">
                <a:extLst>
                  <a:ext uri="{FF2B5EF4-FFF2-40B4-BE49-F238E27FC236}">
                    <a16:creationId xmlns:a16="http://schemas.microsoft.com/office/drawing/2014/main" id="{06BCF884-F235-3DD7-3DB5-28FE337361F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6">
                <a:extLst>
                  <a:ext uri="{FF2B5EF4-FFF2-40B4-BE49-F238E27FC236}">
                    <a16:creationId xmlns:a16="http://schemas.microsoft.com/office/drawing/2014/main" id="{40315243-32A0-BF62-6606-E6C95D3B229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7">
                <a:extLst>
                  <a:ext uri="{FF2B5EF4-FFF2-40B4-BE49-F238E27FC236}">
                    <a16:creationId xmlns:a16="http://schemas.microsoft.com/office/drawing/2014/main" id="{6637ED25-AE19-8ECF-7B46-048B126D05B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8">
                <a:extLst>
                  <a:ext uri="{FF2B5EF4-FFF2-40B4-BE49-F238E27FC236}">
                    <a16:creationId xmlns:a16="http://schemas.microsoft.com/office/drawing/2014/main" id="{B5F058E4-1E1C-3474-4EB8-075E478BF09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9">
                <a:extLst>
                  <a:ext uri="{FF2B5EF4-FFF2-40B4-BE49-F238E27FC236}">
                    <a16:creationId xmlns:a16="http://schemas.microsoft.com/office/drawing/2014/main" id="{39A1D132-CC7F-D4A2-19D2-0F759491AB1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50">
                <a:extLst>
                  <a:ext uri="{FF2B5EF4-FFF2-40B4-BE49-F238E27FC236}">
                    <a16:creationId xmlns:a16="http://schemas.microsoft.com/office/drawing/2014/main" id="{BBF48ABD-AF9D-27C3-B759-43657E56EA8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51">
                <a:extLst>
                  <a:ext uri="{FF2B5EF4-FFF2-40B4-BE49-F238E27FC236}">
                    <a16:creationId xmlns:a16="http://schemas.microsoft.com/office/drawing/2014/main" id="{8C137251-9A07-BF5E-AA29-B07FC6D3294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52">
                <a:extLst>
                  <a:ext uri="{FF2B5EF4-FFF2-40B4-BE49-F238E27FC236}">
                    <a16:creationId xmlns:a16="http://schemas.microsoft.com/office/drawing/2014/main" id="{3DCD921B-BF21-2FE5-11EC-849C9C94029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A711691-8364-1C66-0765-2ADBE8E61732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松弛策略的探索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3093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D637F11-16B9-FF56-BC53-F471738B4DE4}"/>
              </a:ext>
            </a:extLst>
          </p:cNvPr>
          <p:cNvGrpSpPr/>
          <p:nvPr/>
        </p:nvGrpSpPr>
        <p:grpSpPr>
          <a:xfrm>
            <a:off x="6688664" y="1232870"/>
            <a:ext cx="4690538" cy="4408554"/>
            <a:chOff x="6295143" y="1337364"/>
            <a:chExt cx="5486400" cy="5156570"/>
          </a:xfrm>
          <a:effectLst>
            <a:glow rad="1397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DA4407F-CE38-176D-CFF9-B29EE9FB1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5143" y="1337364"/>
              <a:ext cx="5486400" cy="27432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EBE6FCF-4F08-8F43-7748-61026F1F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5143" y="3750734"/>
              <a:ext cx="5486400" cy="2743200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C0E276D-076C-5858-3CF2-94F097FAF2FE}"/>
              </a:ext>
            </a:extLst>
          </p:cNvPr>
          <p:cNvSpPr txBox="1"/>
          <p:nvPr/>
        </p:nvSpPr>
        <p:spPr>
          <a:xfrm>
            <a:off x="8529782" y="6232324"/>
            <a:ext cx="2003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+mj-lt"/>
                <a:ea typeface="黑体" panose="02010609060101010101" pitchFamily="49" charset="-122"/>
              </a:rPr>
              <a:t>Dp</a:t>
            </a:r>
            <a:r>
              <a:rPr lang="en-US" altLang="zh-CN" sz="2800" b="1" dirty="0">
                <a:latin typeface="+mj-lt"/>
                <a:ea typeface="黑体" panose="02010609060101010101" pitchFamily="49" charset="-122"/>
              </a:rPr>
              <a:t> &gt; 0.6</a:t>
            </a:r>
            <a:endParaRPr lang="zh-CN" altLang="en-US" sz="2800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846B9F-79D4-B5A1-9453-5E73C98BFA0D}"/>
              </a:ext>
            </a:extLst>
          </p:cNvPr>
          <p:cNvSpPr txBox="1"/>
          <p:nvPr/>
        </p:nvSpPr>
        <p:spPr>
          <a:xfrm>
            <a:off x="2044314" y="6232324"/>
            <a:ext cx="2003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+mj-lt"/>
                <a:ea typeface="黑体" panose="02010609060101010101" pitchFamily="49" charset="-122"/>
              </a:rPr>
              <a:t>Dp</a:t>
            </a:r>
            <a:r>
              <a:rPr lang="en-US" altLang="zh-CN" sz="2800" b="1" dirty="0">
                <a:latin typeface="+mj-lt"/>
                <a:ea typeface="黑体" panose="02010609060101010101" pitchFamily="49" charset="-122"/>
              </a:rPr>
              <a:t> &lt; 0.6</a:t>
            </a:r>
            <a:endParaRPr lang="zh-CN" altLang="en-US" sz="2800" b="1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F146EC-33B7-A34B-0C87-DDAA106AFEF8}"/>
              </a:ext>
            </a:extLst>
          </p:cNvPr>
          <p:cNvSpPr txBox="1"/>
          <p:nvPr/>
        </p:nvSpPr>
        <p:spPr>
          <a:xfrm>
            <a:off x="812798" y="608827"/>
            <a:ext cx="8110551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j-lt"/>
                <a:ea typeface="黑体" panose="02010609060101010101" pitchFamily="49" charset="-122"/>
              </a:rPr>
              <a:t>对抛弃率进行限制，抛弃率大于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0.6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会产生没有价值的图片。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6D66F4-FF69-6F27-7C8E-9A0E94A72EF0}"/>
              </a:ext>
            </a:extLst>
          </p:cNvPr>
          <p:cNvSpPr txBox="1"/>
          <p:nvPr/>
        </p:nvSpPr>
        <p:spPr>
          <a:xfrm>
            <a:off x="2162847" y="5713244"/>
            <a:ext cx="2003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lt"/>
                <a:ea typeface="黑体" panose="02010609060101010101" pitchFamily="49" charset="-122"/>
              </a:rPr>
              <a:t>可分辨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E851F9-058C-B1C2-0A1B-8158771ED012}"/>
              </a:ext>
            </a:extLst>
          </p:cNvPr>
          <p:cNvSpPr txBox="1"/>
          <p:nvPr/>
        </p:nvSpPr>
        <p:spPr>
          <a:xfrm>
            <a:off x="8766848" y="5741530"/>
            <a:ext cx="2003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lt"/>
                <a:ea typeface="黑体" panose="02010609060101010101" pitchFamily="49" charset="-122"/>
              </a:rPr>
              <a:t>难分辨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788D08F-874B-7643-5046-70CDFC57364C}"/>
              </a:ext>
            </a:extLst>
          </p:cNvPr>
          <p:cNvGrpSpPr/>
          <p:nvPr/>
        </p:nvGrpSpPr>
        <p:grpSpPr>
          <a:xfrm>
            <a:off x="812798" y="1216575"/>
            <a:ext cx="4927604" cy="4424849"/>
            <a:chOff x="321733" y="963066"/>
            <a:chExt cx="5486400" cy="4926631"/>
          </a:xfrm>
          <a:effectLst>
            <a:glow rad="1397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78CD2DD-0F5B-3AA8-920F-E0CA060F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733" y="963066"/>
              <a:ext cx="5486400" cy="27432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6DEC513-9FA5-5B61-8CF9-59D714633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733" y="3146496"/>
              <a:ext cx="5486400" cy="2743200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02F9550-BB49-A882-7E51-9F93323970CC}"/>
              </a:ext>
            </a:extLst>
          </p:cNvPr>
          <p:cNvGrpSpPr/>
          <p:nvPr/>
        </p:nvGrpSpPr>
        <p:grpSpPr>
          <a:xfrm>
            <a:off x="7909" y="-54875"/>
            <a:ext cx="12192000" cy="597706"/>
            <a:chOff x="0" y="-69459"/>
            <a:chExt cx="12192000" cy="5977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67F3F32-2D4B-786C-5620-ADDF4E666EFB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8" name="jwc_logo">
              <a:extLst>
                <a:ext uri="{FF2B5EF4-FFF2-40B4-BE49-F238E27FC236}">
                  <a16:creationId xmlns:a16="http://schemas.microsoft.com/office/drawing/2014/main" id="{6C637951-6377-54D2-27D6-4E31EF55E9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1" name="Freeform 34">
                <a:extLst>
                  <a:ext uri="{FF2B5EF4-FFF2-40B4-BE49-F238E27FC236}">
                    <a16:creationId xmlns:a16="http://schemas.microsoft.com/office/drawing/2014/main" id="{9C8C73E8-1707-72A4-ECF6-167B0C08116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1B2DC571-AA7B-D5E6-4097-4326EBEB49D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36">
                <a:extLst>
                  <a:ext uri="{FF2B5EF4-FFF2-40B4-BE49-F238E27FC236}">
                    <a16:creationId xmlns:a16="http://schemas.microsoft.com/office/drawing/2014/main" id="{5A1D8AFD-5332-3C80-7B55-0E71ED62C9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9C22525-A38B-67DE-7203-D48F4DBA2C0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84905765-37BE-1721-7C92-A344D82A2FF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8CB46EA6-E898-A1C4-075A-25AA8DA6A26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AA9916C8-FAFC-0FCF-4B62-B3A42BBD375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1">
                <a:extLst>
                  <a:ext uri="{FF2B5EF4-FFF2-40B4-BE49-F238E27FC236}">
                    <a16:creationId xmlns:a16="http://schemas.microsoft.com/office/drawing/2014/main" id="{5ABB6751-8EE0-5528-FFA4-C9BB7669E7B2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2">
                <a:extLst>
                  <a:ext uri="{FF2B5EF4-FFF2-40B4-BE49-F238E27FC236}">
                    <a16:creationId xmlns:a16="http://schemas.microsoft.com/office/drawing/2014/main" id="{A5519DED-320D-31DA-3DC4-C866BD09C849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3">
                <a:extLst>
                  <a:ext uri="{FF2B5EF4-FFF2-40B4-BE49-F238E27FC236}">
                    <a16:creationId xmlns:a16="http://schemas.microsoft.com/office/drawing/2014/main" id="{25005072-2C2C-FA90-FB32-9F328D7611EF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4">
                <a:extLst>
                  <a:ext uri="{FF2B5EF4-FFF2-40B4-BE49-F238E27FC236}">
                    <a16:creationId xmlns:a16="http://schemas.microsoft.com/office/drawing/2014/main" id="{DCCB8436-A240-1167-5591-EEBB73A289C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45">
                <a:extLst>
                  <a:ext uri="{FF2B5EF4-FFF2-40B4-BE49-F238E27FC236}">
                    <a16:creationId xmlns:a16="http://schemas.microsoft.com/office/drawing/2014/main" id="{D5A29846-88FE-85C7-E043-24A7805E21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46">
                <a:extLst>
                  <a:ext uri="{FF2B5EF4-FFF2-40B4-BE49-F238E27FC236}">
                    <a16:creationId xmlns:a16="http://schemas.microsoft.com/office/drawing/2014/main" id="{438F1E9D-9706-55BC-9EEC-FDF5DDC63F0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47">
                <a:extLst>
                  <a:ext uri="{FF2B5EF4-FFF2-40B4-BE49-F238E27FC236}">
                    <a16:creationId xmlns:a16="http://schemas.microsoft.com/office/drawing/2014/main" id="{21C31498-970B-4218-2484-7CB1F38021C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48">
                <a:extLst>
                  <a:ext uri="{FF2B5EF4-FFF2-40B4-BE49-F238E27FC236}">
                    <a16:creationId xmlns:a16="http://schemas.microsoft.com/office/drawing/2014/main" id="{19DF31C6-3FE9-6DDB-525E-9CCF2DC662B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Freeform 49">
                <a:extLst>
                  <a:ext uri="{FF2B5EF4-FFF2-40B4-BE49-F238E27FC236}">
                    <a16:creationId xmlns:a16="http://schemas.microsoft.com/office/drawing/2014/main" id="{EF2F5A74-906E-4FD0-1F78-006E2D5141D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50">
                <a:extLst>
                  <a:ext uri="{FF2B5EF4-FFF2-40B4-BE49-F238E27FC236}">
                    <a16:creationId xmlns:a16="http://schemas.microsoft.com/office/drawing/2014/main" id="{2D360ECF-7FC3-2240-4111-389A0EAD37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51">
                <a:extLst>
                  <a:ext uri="{FF2B5EF4-FFF2-40B4-BE49-F238E27FC236}">
                    <a16:creationId xmlns:a16="http://schemas.microsoft.com/office/drawing/2014/main" id="{CDBCF2B3-E911-B554-06D5-A1035DC3172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Freeform 52">
                <a:extLst>
                  <a:ext uri="{FF2B5EF4-FFF2-40B4-BE49-F238E27FC236}">
                    <a16:creationId xmlns:a16="http://schemas.microsoft.com/office/drawing/2014/main" id="{8F03B232-9A7B-B63F-8632-1C0B0B0F939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 b="1"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D87E3D4-3AAE-961B-894F-84FE2D4FDDC0}"/>
                </a:ext>
              </a:extLst>
            </p:cNvPr>
            <p:cNvSpPr txBox="1"/>
            <p:nvPr/>
          </p:nvSpPr>
          <p:spPr>
            <a:xfrm>
              <a:off x="15301" y="-69459"/>
              <a:ext cx="5782398" cy="58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松弛策略的探索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224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4339-D442-3FCF-B820-1E91653E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BD8B4F9-8D60-D093-28F3-D5F1D2CB97D7}"/>
              </a:ext>
            </a:extLst>
          </p:cNvPr>
          <p:cNvGrpSpPr/>
          <p:nvPr/>
        </p:nvGrpSpPr>
        <p:grpSpPr>
          <a:xfrm>
            <a:off x="2652002" y="2085688"/>
            <a:ext cx="731064" cy="2123765"/>
            <a:chOff x="1193800" y="1971040"/>
            <a:chExt cx="1816100" cy="4018280"/>
          </a:xfrm>
          <a:solidFill>
            <a:schemeClr val="accent2"/>
          </a:solidFill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1B2DFE56-2F9F-1B28-9930-54C95EF6447D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C695970-3682-B67E-C593-597C5E41485B}"/>
                </a:ext>
              </a:extLst>
            </p:cNvPr>
            <p:cNvSpPr/>
            <p:nvPr/>
          </p:nvSpPr>
          <p:spPr>
            <a:xfrm>
              <a:off x="1198486" y="2831977"/>
              <a:ext cx="692457" cy="3151573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4132E584-F84F-5B04-2847-23C7B77EF7B8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5A167FF-280D-9F51-B261-A05EAAFE3360}"/>
              </a:ext>
            </a:extLst>
          </p:cNvPr>
          <p:cNvSpPr txBox="1"/>
          <p:nvPr/>
        </p:nvSpPr>
        <p:spPr>
          <a:xfrm>
            <a:off x="10364205" y="3725545"/>
            <a:ext cx="144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32x32x3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D4BBAB1-1FF0-6FC7-8E9B-F3C3CAE2446B}"/>
              </a:ext>
            </a:extLst>
          </p:cNvPr>
          <p:cNvSpPr txBox="1"/>
          <p:nvPr/>
        </p:nvSpPr>
        <p:spPr>
          <a:xfrm>
            <a:off x="2430907" y="520091"/>
            <a:ext cx="163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编码器卷积层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D77770B-E9E9-E921-3CE2-EA37B92C3799}"/>
              </a:ext>
            </a:extLst>
          </p:cNvPr>
          <p:cNvCxnSpPr>
            <a:cxnSpLocks/>
          </p:cNvCxnSpPr>
          <p:nvPr/>
        </p:nvCxnSpPr>
        <p:spPr>
          <a:xfrm>
            <a:off x="2149696" y="2637472"/>
            <a:ext cx="36126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BA18B8F7-289B-9C6D-6144-71DD08ED8868}"/>
              </a:ext>
            </a:extLst>
          </p:cNvPr>
          <p:cNvSpPr txBox="1"/>
          <p:nvPr/>
        </p:nvSpPr>
        <p:spPr>
          <a:xfrm>
            <a:off x="4212870" y="520091"/>
            <a:ext cx="163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残差块</a:t>
            </a: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338902C9-4599-6CC7-84D9-0DD20541093F}"/>
              </a:ext>
            </a:extLst>
          </p:cNvPr>
          <p:cNvGrpSpPr/>
          <p:nvPr/>
        </p:nvGrpSpPr>
        <p:grpSpPr>
          <a:xfrm>
            <a:off x="7501804" y="4339372"/>
            <a:ext cx="4569664" cy="441993"/>
            <a:chOff x="1937976" y="4316480"/>
            <a:chExt cx="4569664" cy="441993"/>
          </a:xfrm>
        </p:grpSpPr>
        <p:sp>
          <p:nvSpPr>
            <p:cNvPr id="125" name="立方体 124">
              <a:extLst>
                <a:ext uri="{FF2B5EF4-FFF2-40B4-BE49-F238E27FC236}">
                  <a16:creationId xmlns:a16="http://schemas.microsoft.com/office/drawing/2014/main" id="{FEC3B6DE-ABD0-1482-103B-BB832A1B74D3}"/>
                </a:ext>
              </a:extLst>
            </p:cNvPr>
            <p:cNvSpPr/>
            <p:nvPr/>
          </p:nvSpPr>
          <p:spPr>
            <a:xfrm>
              <a:off x="4197523" y="4378856"/>
              <a:ext cx="467650" cy="369321"/>
            </a:xfrm>
            <a:prstGeom prst="cub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27" name="立方体 126">
              <a:extLst>
                <a:ext uri="{FF2B5EF4-FFF2-40B4-BE49-F238E27FC236}">
                  <a16:creationId xmlns:a16="http://schemas.microsoft.com/office/drawing/2014/main" id="{305044B2-4C2E-FAC8-37B2-B1723A6A6AAE}"/>
                </a:ext>
              </a:extLst>
            </p:cNvPr>
            <p:cNvSpPr/>
            <p:nvPr/>
          </p:nvSpPr>
          <p:spPr>
            <a:xfrm>
              <a:off x="1937976" y="4389152"/>
              <a:ext cx="467650" cy="369321"/>
            </a:xfrm>
            <a:prstGeom prst="cub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274E1431-F17C-7BA9-83B7-3F6AC9A11A6B}"/>
                </a:ext>
              </a:extLst>
            </p:cNvPr>
            <p:cNvSpPr txBox="1"/>
            <p:nvPr/>
          </p:nvSpPr>
          <p:spPr>
            <a:xfrm>
              <a:off x="4852067" y="4316480"/>
              <a:ext cx="1655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Leaky Relu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7E819BA9-B450-1E9E-CE7A-7D345B16F1C6}"/>
                </a:ext>
              </a:extLst>
            </p:cNvPr>
            <p:cNvSpPr txBox="1"/>
            <p:nvPr/>
          </p:nvSpPr>
          <p:spPr>
            <a:xfrm>
              <a:off x="2589863" y="4352139"/>
              <a:ext cx="1583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卷积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(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转置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)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层</a:t>
              </a: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2FC1003D-9E8E-9A0B-CB83-118AFE4837D1}"/>
              </a:ext>
            </a:extLst>
          </p:cNvPr>
          <p:cNvCxnSpPr>
            <a:cxnSpLocks/>
          </p:cNvCxnSpPr>
          <p:nvPr/>
        </p:nvCxnSpPr>
        <p:spPr>
          <a:xfrm>
            <a:off x="9324490" y="2637472"/>
            <a:ext cx="392192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6BC8B3F-5C81-AE46-5720-D3976E070E1A}"/>
              </a:ext>
            </a:extLst>
          </p:cNvPr>
          <p:cNvGrpSpPr/>
          <p:nvPr/>
        </p:nvGrpSpPr>
        <p:grpSpPr>
          <a:xfrm>
            <a:off x="-1887" y="-129041"/>
            <a:ext cx="12192000" cy="682376"/>
            <a:chOff x="0" y="-154129"/>
            <a:chExt cx="12192000" cy="682376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E3F09BB1-79D4-AFD1-8D5A-3A1CDD229616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49" name="jwc_logo">
              <a:extLst>
                <a:ext uri="{FF2B5EF4-FFF2-40B4-BE49-F238E27FC236}">
                  <a16:creationId xmlns:a16="http://schemas.microsoft.com/office/drawing/2014/main" id="{2E5329E9-7384-70DA-5975-56484285CA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51" name="Freeform 34">
                <a:extLst>
                  <a:ext uri="{FF2B5EF4-FFF2-40B4-BE49-F238E27FC236}">
                    <a16:creationId xmlns:a16="http://schemas.microsoft.com/office/drawing/2014/main" id="{1A73FBB1-38A4-EB70-A7C3-9A2478B943F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2" name="Freeform 35">
                <a:extLst>
                  <a:ext uri="{FF2B5EF4-FFF2-40B4-BE49-F238E27FC236}">
                    <a16:creationId xmlns:a16="http://schemas.microsoft.com/office/drawing/2014/main" id="{1E6BF991-0760-60FC-DD86-BD4D0B99443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3" name="Freeform 36">
                <a:extLst>
                  <a:ext uri="{FF2B5EF4-FFF2-40B4-BE49-F238E27FC236}">
                    <a16:creationId xmlns:a16="http://schemas.microsoft.com/office/drawing/2014/main" id="{56470CAD-AD68-3D62-DF83-6E42890AC02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4" name="Freeform 37">
                <a:extLst>
                  <a:ext uri="{FF2B5EF4-FFF2-40B4-BE49-F238E27FC236}">
                    <a16:creationId xmlns:a16="http://schemas.microsoft.com/office/drawing/2014/main" id="{A8799829-792B-867B-9D14-B45F4FD0DD9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5" name="Freeform 38">
                <a:extLst>
                  <a:ext uri="{FF2B5EF4-FFF2-40B4-BE49-F238E27FC236}">
                    <a16:creationId xmlns:a16="http://schemas.microsoft.com/office/drawing/2014/main" id="{54B0B19C-6904-0C69-CB7D-9D46760277D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6" name="Freeform 39">
                <a:extLst>
                  <a:ext uri="{FF2B5EF4-FFF2-40B4-BE49-F238E27FC236}">
                    <a16:creationId xmlns:a16="http://schemas.microsoft.com/office/drawing/2014/main" id="{88A5EE5C-3131-BC0B-E5A6-E25BEB4F3E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7" name="Freeform 40">
                <a:extLst>
                  <a:ext uri="{FF2B5EF4-FFF2-40B4-BE49-F238E27FC236}">
                    <a16:creationId xmlns:a16="http://schemas.microsoft.com/office/drawing/2014/main" id="{37FF351F-9E61-72E7-777E-67318C6A807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8" name="Freeform 41">
                <a:extLst>
                  <a:ext uri="{FF2B5EF4-FFF2-40B4-BE49-F238E27FC236}">
                    <a16:creationId xmlns:a16="http://schemas.microsoft.com/office/drawing/2014/main" id="{05A5896B-0106-7B6E-5533-1D3E4FB29B5E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9" name="Freeform 42">
                <a:extLst>
                  <a:ext uri="{FF2B5EF4-FFF2-40B4-BE49-F238E27FC236}">
                    <a16:creationId xmlns:a16="http://schemas.microsoft.com/office/drawing/2014/main" id="{84951FB1-D816-527A-6306-CB18BDAB8EEE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0" name="Freeform 43">
                <a:extLst>
                  <a:ext uri="{FF2B5EF4-FFF2-40B4-BE49-F238E27FC236}">
                    <a16:creationId xmlns:a16="http://schemas.microsoft.com/office/drawing/2014/main" id="{BD2987D9-3A90-7A00-8CB1-14276017E0BD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1" name="Freeform 44">
                <a:extLst>
                  <a:ext uri="{FF2B5EF4-FFF2-40B4-BE49-F238E27FC236}">
                    <a16:creationId xmlns:a16="http://schemas.microsoft.com/office/drawing/2014/main" id="{52116DB2-EF8A-B4CD-2ECB-0D667E0CFDB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2" name="Freeform 45">
                <a:extLst>
                  <a:ext uri="{FF2B5EF4-FFF2-40B4-BE49-F238E27FC236}">
                    <a16:creationId xmlns:a16="http://schemas.microsoft.com/office/drawing/2014/main" id="{B7287BE9-12AB-454A-A68A-1B568072D24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3" name="Freeform 46">
                <a:extLst>
                  <a:ext uri="{FF2B5EF4-FFF2-40B4-BE49-F238E27FC236}">
                    <a16:creationId xmlns:a16="http://schemas.microsoft.com/office/drawing/2014/main" id="{7831BB56-15B5-065D-4BB5-CB5E7DF3D22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4" name="Freeform 47">
                <a:extLst>
                  <a:ext uri="{FF2B5EF4-FFF2-40B4-BE49-F238E27FC236}">
                    <a16:creationId xmlns:a16="http://schemas.microsoft.com/office/drawing/2014/main" id="{1011C736-CA17-04E8-127C-6AB42811C1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5" name="Freeform 48">
                <a:extLst>
                  <a:ext uri="{FF2B5EF4-FFF2-40B4-BE49-F238E27FC236}">
                    <a16:creationId xmlns:a16="http://schemas.microsoft.com/office/drawing/2014/main" id="{721524EF-C101-3DE2-A4E3-1D898D3E395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6" name="Freeform 49">
                <a:extLst>
                  <a:ext uri="{FF2B5EF4-FFF2-40B4-BE49-F238E27FC236}">
                    <a16:creationId xmlns:a16="http://schemas.microsoft.com/office/drawing/2014/main" id="{147127E2-91CD-DD52-1185-3BD29E7495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7" name="Freeform 50">
                <a:extLst>
                  <a:ext uri="{FF2B5EF4-FFF2-40B4-BE49-F238E27FC236}">
                    <a16:creationId xmlns:a16="http://schemas.microsoft.com/office/drawing/2014/main" id="{E9245850-1668-D319-49C1-F28E7F93566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8" name="Freeform 51">
                <a:extLst>
                  <a:ext uri="{FF2B5EF4-FFF2-40B4-BE49-F238E27FC236}">
                    <a16:creationId xmlns:a16="http://schemas.microsoft.com/office/drawing/2014/main" id="{F6A11219-8D09-FDEF-324D-1A14CEF0E73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9" name="Freeform 52">
                <a:extLst>
                  <a:ext uri="{FF2B5EF4-FFF2-40B4-BE49-F238E27FC236}">
                    <a16:creationId xmlns:a16="http://schemas.microsoft.com/office/drawing/2014/main" id="{8A8CD29E-D015-6294-BF4F-385EE4542F9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66A1096-213F-D774-D739-3FB56592D030}"/>
                </a:ext>
              </a:extLst>
            </p:cNvPr>
            <p:cNvSpPr txBox="1"/>
            <p:nvPr/>
          </p:nvSpPr>
          <p:spPr>
            <a:xfrm>
              <a:off x="15301" y="-154129"/>
              <a:ext cx="5782398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white"/>
                  </a:solidFill>
                  <a:latin typeface="+mj-lt"/>
                  <a:ea typeface="黑体" panose="02010609060101010101" pitchFamily="49" charset="-122"/>
                </a:rPr>
                <a:t>像素级修复生成器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pic>
        <p:nvPicPr>
          <p:cNvPr id="173" name="图片 172">
            <a:extLst>
              <a:ext uri="{FF2B5EF4-FFF2-40B4-BE49-F238E27FC236}">
                <a16:creationId xmlns:a16="http://schemas.microsoft.com/office/drawing/2014/main" id="{7FB618BD-31A6-305A-9FEC-C809160F4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65" t="13898" r="9060" b="12103"/>
          <a:stretch>
            <a:fillRect/>
          </a:stretch>
        </p:blipFill>
        <p:spPr>
          <a:xfrm>
            <a:off x="145460" y="1822054"/>
            <a:ext cx="1989426" cy="1938270"/>
          </a:xfrm>
          <a:prstGeom prst="rect">
            <a:avLst/>
          </a:prstGeom>
        </p:spPr>
      </p:pic>
      <p:pic>
        <p:nvPicPr>
          <p:cNvPr id="174" name="图片 173">
            <a:extLst>
              <a:ext uri="{FF2B5EF4-FFF2-40B4-BE49-F238E27FC236}">
                <a16:creationId xmlns:a16="http://schemas.microsoft.com/office/drawing/2014/main" id="{D9BCD1D8-985C-10EF-5DEE-0C83383A4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8" t="12409" r="50544" b="11695"/>
          <a:stretch>
            <a:fillRect/>
          </a:stretch>
        </p:blipFill>
        <p:spPr>
          <a:xfrm>
            <a:off x="9928264" y="1744627"/>
            <a:ext cx="2007062" cy="1986116"/>
          </a:xfrm>
          <a:prstGeom prst="rect">
            <a:avLst/>
          </a:prstGeom>
        </p:spPr>
      </p:pic>
      <p:sp>
        <p:nvSpPr>
          <p:cNvPr id="175" name="文本框 174">
            <a:extLst>
              <a:ext uri="{FF2B5EF4-FFF2-40B4-BE49-F238E27FC236}">
                <a16:creationId xmlns:a16="http://schemas.microsoft.com/office/drawing/2014/main" id="{297EE49B-8790-1BAF-FEB6-6388DE8BA015}"/>
              </a:ext>
            </a:extLst>
          </p:cNvPr>
          <p:cNvSpPr txBox="1"/>
          <p:nvPr/>
        </p:nvSpPr>
        <p:spPr>
          <a:xfrm>
            <a:off x="2361234" y="4260109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3x3x32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3C063DFC-0DEB-E7CD-AB8D-FF822EE5B7B6}"/>
              </a:ext>
            </a:extLst>
          </p:cNvPr>
          <p:cNvGrpSpPr/>
          <p:nvPr/>
        </p:nvGrpSpPr>
        <p:grpSpPr>
          <a:xfrm>
            <a:off x="8389002" y="2289906"/>
            <a:ext cx="411256" cy="1194770"/>
            <a:chOff x="1193800" y="1970843"/>
            <a:chExt cx="1816100" cy="4018477"/>
          </a:xfrm>
          <a:solidFill>
            <a:schemeClr val="accent2"/>
          </a:solidFill>
        </p:grpSpPr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B4595D7A-75BD-6873-03C2-79139BB41B8E}"/>
                </a:ext>
              </a:extLst>
            </p:cNvPr>
            <p:cNvSpPr/>
            <p:nvPr/>
          </p:nvSpPr>
          <p:spPr>
            <a:xfrm>
              <a:off x="1889760" y="1971040"/>
              <a:ext cx="1117600" cy="4018280"/>
            </a:xfrm>
            <a:custGeom>
              <a:avLst/>
              <a:gdLst>
                <a:gd name="connsiteX0" fmla="*/ 0 w 1117600"/>
                <a:gd name="connsiteY0" fmla="*/ 868680 h 4018280"/>
                <a:gd name="connsiteX1" fmla="*/ 5080 w 1117600"/>
                <a:gd name="connsiteY1" fmla="*/ 4018280 h 4018280"/>
                <a:gd name="connsiteX2" fmla="*/ 1117600 w 1117600"/>
                <a:gd name="connsiteY2" fmla="*/ 3149600 h 4018280"/>
                <a:gd name="connsiteX3" fmla="*/ 1117600 w 1117600"/>
                <a:gd name="connsiteY3" fmla="*/ 0 h 4018280"/>
                <a:gd name="connsiteX4" fmla="*/ 0 w 1117600"/>
                <a:gd name="connsiteY4" fmla="*/ 868680 h 401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600" h="4018280">
                  <a:moveTo>
                    <a:pt x="0" y="868680"/>
                  </a:moveTo>
                  <a:cubicBezTo>
                    <a:pt x="1693" y="1918547"/>
                    <a:pt x="3387" y="2968413"/>
                    <a:pt x="5080" y="4018280"/>
                  </a:cubicBezTo>
                  <a:lnTo>
                    <a:pt x="1117600" y="3149600"/>
                  </a:lnTo>
                  <a:lnTo>
                    <a:pt x="1117600" y="0"/>
                  </a:lnTo>
                  <a:lnTo>
                    <a:pt x="0" y="868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7CA5B0B4-D5C7-D198-46A7-82E837B19D9B}"/>
                </a:ext>
              </a:extLst>
            </p:cNvPr>
            <p:cNvGrpSpPr/>
            <p:nvPr/>
          </p:nvGrpSpPr>
          <p:grpSpPr>
            <a:xfrm>
              <a:off x="1198486" y="1970843"/>
              <a:ext cx="1118587" cy="4012707"/>
              <a:chOff x="1198486" y="1970843"/>
              <a:chExt cx="1118587" cy="4012707"/>
            </a:xfrm>
            <a:grpFill/>
          </p:grpSpPr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EC26E429-11BB-3673-61C2-6DE067A3BD03}"/>
                  </a:ext>
                </a:extLst>
              </p:cNvPr>
              <p:cNvSpPr/>
              <p:nvPr/>
            </p:nvSpPr>
            <p:spPr>
              <a:xfrm>
                <a:off x="1198486" y="2831977"/>
                <a:ext cx="692458" cy="315157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EF97519F-D134-4B0E-2FDE-267DEDA967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8486" y="1970843"/>
                <a:ext cx="1118587" cy="861134"/>
              </a:xfrm>
              <a:prstGeom prst="line">
                <a:avLst/>
              </a:prstGeom>
              <a:grpFill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5645FCDE-0B0B-A41C-9957-247012F8C432}"/>
                </a:ext>
              </a:extLst>
            </p:cNvPr>
            <p:cNvSpPr/>
            <p:nvPr/>
          </p:nvSpPr>
          <p:spPr>
            <a:xfrm>
              <a:off x="1193800" y="1971675"/>
              <a:ext cx="1816100" cy="863600"/>
            </a:xfrm>
            <a:custGeom>
              <a:avLst/>
              <a:gdLst>
                <a:gd name="connsiteX0" fmla="*/ 0 w 1816100"/>
                <a:gd name="connsiteY0" fmla="*/ 863600 h 863600"/>
                <a:gd name="connsiteX1" fmla="*/ 1123950 w 1816100"/>
                <a:gd name="connsiteY1" fmla="*/ 0 h 863600"/>
                <a:gd name="connsiteX2" fmla="*/ 1816100 w 1816100"/>
                <a:gd name="connsiteY2" fmla="*/ 3175 h 863600"/>
                <a:gd name="connsiteX3" fmla="*/ 701675 w 1816100"/>
                <a:gd name="connsiteY3" fmla="*/ 857250 h 863600"/>
                <a:gd name="connsiteX4" fmla="*/ 0 w 1816100"/>
                <a:gd name="connsiteY4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100" h="863600">
                  <a:moveTo>
                    <a:pt x="0" y="863600"/>
                  </a:moveTo>
                  <a:lnTo>
                    <a:pt x="1123950" y="0"/>
                  </a:lnTo>
                  <a:lnTo>
                    <a:pt x="1816100" y="3175"/>
                  </a:lnTo>
                  <a:lnTo>
                    <a:pt x="701675" y="857250"/>
                  </a:lnTo>
                  <a:lnTo>
                    <a:pt x="0" y="86360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E9447559-D31B-98EB-E630-3C37A4FBD6EE}"/>
              </a:ext>
            </a:extLst>
          </p:cNvPr>
          <p:cNvCxnSpPr>
            <a:cxnSpLocks/>
          </p:cNvCxnSpPr>
          <p:nvPr/>
        </p:nvCxnSpPr>
        <p:spPr>
          <a:xfrm>
            <a:off x="3472419" y="2655389"/>
            <a:ext cx="36126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57102B2B-8D66-9022-BC29-EB9739075BC1}"/>
              </a:ext>
            </a:extLst>
          </p:cNvPr>
          <p:cNvCxnSpPr>
            <a:cxnSpLocks/>
          </p:cNvCxnSpPr>
          <p:nvPr/>
        </p:nvCxnSpPr>
        <p:spPr>
          <a:xfrm>
            <a:off x="7738306" y="2655389"/>
            <a:ext cx="36126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AF464079-1608-50B6-628E-FF410181C45E}"/>
              </a:ext>
            </a:extLst>
          </p:cNvPr>
          <p:cNvGrpSpPr/>
          <p:nvPr/>
        </p:nvGrpSpPr>
        <p:grpSpPr>
          <a:xfrm>
            <a:off x="4173527" y="2095018"/>
            <a:ext cx="1306841" cy="2133904"/>
            <a:chOff x="8771025" y="2022186"/>
            <a:chExt cx="1365265" cy="3287765"/>
          </a:xfrm>
        </p:grpSpPr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28EF1DAD-3A02-30DC-755E-FE28E46574A1}"/>
                </a:ext>
              </a:extLst>
            </p:cNvPr>
            <p:cNvGrpSpPr/>
            <p:nvPr/>
          </p:nvGrpSpPr>
          <p:grpSpPr>
            <a:xfrm>
              <a:off x="8771025" y="2022186"/>
              <a:ext cx="765596" cy="3287765"/>
              <a:chOff x="1193800" y="1970843"/>
              <a:chExt cx="1816100" cy="4027716"/>
            </a:xfrm>
          </p:grpSpPr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F33D8544-2078-705B-E03B-5B4C8CF68E6F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27716"/>
                <a:chOff x="1198486" y="1970843"/>
                <a:chExt cx="1118587" cy="4027716"/>
              </a:xfrm>
            </p:grpSpPr>
            <p:sp>
              <p:nvSpPr>
                <p:cNvPr id="224" name="矩形 223">
                  <a:extLst>
                    <a:ext uri="{FF2B5EF4-FFF2-40B4-BE49-F238E27FC236}">
                      <a16:creationId xmlns:a16="http://schemas.microsoft.com/office/drawing/2014/main" id="{4CEAFE25-9184-54B3-7883-82E23DE3AB52}"/>
                    </a:ext>
                  </a:extLst>
                </p:cNvPr>
                <p:cNvSpPr/>
                <p:nvPr/>
              </p:nvSpPr>
              <p:spPr>
                <a:xfrm>
                  <a:off x="1205540" y="2846985"/>
                  <a:ext cx="692459" cy="315157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225" name="直接连接符 224">
                  <a:extLst>
                    <a:ext uri="{FF2B5EF4-FFF2-40B4-BE49-F238E27FC236}">
                      <a16:creationId xmlns:a16="http://schemas.microsoft.com/office/drawing/2014/main" id="{C374E33B-5262-9045-6549-5946BC744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8CA0ED7A-F82D-6348-0D7D-EC2590F18EEC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2C68C2A9-D487-4D92-146E-30F110272D56}"/>
                </a:ext>
              </a:extLst>
            </p:cNvPr>
            <p:cNvGrpSpPr/>
            <p:nvPr/>
          </p:nvGrpSpPr>
          <p:grpSpPr>
            <a:xfrm>
              <a:off x="9081384" y="2022186"/>
              <a:ext cx="1054906" cy="3280223"/>
              <a:chOff x="2997200" y="1395110"/>
              <a:chExt cx="1358365" cy="4018477"/>
            </a:xfrm>
          </p:grpSpPr>
          <p:grpSp>
            <p:nvGrpSpPr>
              <p:cNvPr id="207" name="组合 206">
                <a:extLst>
                  <a:ext uri="{FF2B5EF4-FFF2-40B4-BE49-F238E27FC236}">
                    <a16:creationId xmlns:a16="http://schemas.microsoft.com/office/drawing/2014/main" id="{2089D333-8BBD-EF30-0E77-15FC53498A2F}"/>
                  </a:ext>
                </a:extLst>
              </p:cNvPr>
              <p:cNvGrpSpPr/>
              <p:nvPr/>
            </p:nvGrpSpPr>
            <p:grpSpPr>
              <a:xfrm>
                <a:off x="2997200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214" name="任意多边形: 形状 213">
                  <a:extLst>
                    <a:ext uri="{FF2B5EF4-FFF2-40B4-BE49-F238E27FC236}">
                      <a16:creationId xmlns:a16="http://schemas.microsoft.com/office/drawing/2014/main" id="{60CB9DAC-8E14-9035-BCD9-8C3B1775FFBD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EBE17F0D-D41B-D3D4-1205-8D5092B41D6C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217" name="矩形 216">
                    <a:extLst>
                      <a:ext uri="{FF2B5EF4-FFF2-40B4-BE49-F238E27FC236}">
                        <a16:creationId xmlns:a16="http://schemas.microsoft.com/office/drawing/2014/main" id="{F8BBC670-7BFF-A158-2D42-DF8DEB2C759E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218" name="直接连接符 217">
                    <a:extLst>
                      <a:ext uri="{FF2B5EF4-FFF2-40B4-BE49-F238E27FC236}">
                        <a16:creationId xmlns:a16="http://schemas.microsoft.com/office/drawing/2014/main" id="{7193EFA9-1986-5AE8-275E-E43A981D89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6" name="任意多边形: 形状 215">
                  <a:extLst>
                    <a:ext uri="{FF2B5EF4-FFF2-40B4-BE49-F238E27FC236}">
                      <a16:creationId xmlns:a16="http://schemas.microsoft.com/office/drawing/2014/main" id="{4C11D454-2F87-DF10-94D6-8CDC1C83674A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40C18C91-190C-D899-A614-08A501186DF6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209" name="任意多边形: 形状 208">
                  <a:extLst>
                    <a:ext uri="{FF2B5EF4-FFF2-40B4-BE49-F238E27FC236}">
                      <a16:creationId xmlns:a16="http://schemas.microsoft.com/office/drawing/2014/main" id="{5F3C25FE-9F8D-2CDC-E271-303A79FB02AD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0" name="组合 209">
                  <a:extLst>
                    <a:ext uri="{FF2B5EF4-FFF2-40B4-BE49-F238E27FC236}">
                      <a16:creationId xmlns:a16="http://schemas.microsoft.com/office/drawing/2014/main" id="{FA88E67F-3EE3-AA10-E4A9-419EA86C5421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212" name="矩形 211">
                    <a:extLst>
                      <a:ext uri="{FF2B5EF4-FFF2-40B4-BE49-F238E27FC236}">
                        <a16:creationId xmlns:a16="http://schemas.microsoft.com/office/drawing/2014/main" id="{54BE2BC6-042F-5201-2155-C4611384C066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213" name="直接连接符 212">
                    <a:extLst>
                      <a:ext uri="{FF2B5EF4-FFF2-40B4-BE49-F238E27FC236}">
                        <a16:creationId xmlns:a16="http://schemas.microsoft.com/office/drawing/2014/main" id="{EB0E532E-22BF-CF78-ED9A-588F91DC40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1" name="任意多边形: 形状 210">
                  <a:extLst>
                    <a:ext uri="{FF2B5EF4-FFF2-40B4-BE49-F238E27FC236}">
                      <a16:creationId xmlns:a16="http://schemas.microsoft.com/office/drawing/2014/main" id="{1527B869-4EEA-7B53-CF74-FDB3BC9FB7AD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4DAC41B9-C735-A429-E05F-5F8D3C0A7EA7}"/>
              </a:ext>
            </a:extLst>
          </p:cNvPr>
          <p:cNvGrpSpPr/>
          <p:nvPr/>
        </p:nvGrpSpPr>
        <p:grpSpPr>
          <a:xfrm>
            <a:off x="5994530" y="2091827"/>
            <a:ext cx="1306841" cy="2133904"/>
            <a:chOff x="8771025" y="2022186"/>
            <a:chExt cx="1365265" cy="3287765"/>
          </a:xfrm>
        </p:grpSpPr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4F6A92E5-2201-EDBD-7DC6-48BC43D920AF}"/>
                </a:ext>
              </a:extLst>
            </p:cNvPr>
            <p:cNvGrpSpPr/>
            <p:nvPr/>
          </p:nvGrpSpPr>
          <p:grpSpPr>
            <a:xfrm>
              <a:off x="8771025" y="2022186"/>
              <a:ext cx="765596" cy="3287765"/>
              <a:chOff x="1193800" y="1970843"/>
              <a:chExt cx="1816100" cy="4027716"/>
            </a:xfrm>
          </p:grpSpPr>
          <p:grpSp>
            <p:nvGrpSpPr>
              <p:cNvPr id="254" name="组合 253">
                <a:extLst>
                  <a:ext uri="{FF2B5EF4-FFF2-40B4-BE49-F238E27FC236}">
                    <a16:creationId xmlns:a16="http://schemas.microsoft.com/office/drawing/2014/main" id="{9DABD8B4-359D-348A-1409-CC92D8723921}"/>
                  </a:ext>
                </a:extLst>
              </p:cNvPr>
              <p:cNvGrpSpPr/>
              <p:nvPr/>
            </p:nvGrpSpPr>
            <p:grpSpPr>
              <a:xfrm>
                <a:off x="1198486" y="1970843"/>
                <a:ext cx="1118587" cy="4027716"/>
                <a:chOff x="1198486" y="1970843"/>
                <a:chExt cx="1118587" cy="4027716"/>
              </a:xfrm>
            </p:grpSpPr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0EA145EE-6BAB-37BC-43C0-688F14FF7275}"/>
                    </a:ext>
                  </a:extLst>
                </p:cNvPr>
                <p:cNvSpPr/>
                <p:nvPr/>
              </p:nvSpPr>
              <p:spPr>
                <a:xfrm>
                  <a:off x="1205540" y="2846985"/>
                  <a:ext cx="692459" cy="315157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257" name="直接连接符 256">
                  <a:extLst>
                    <a:ext uri="{FF2B5EF4-FFF2-40B4-BE49-F238E27FC236}">
                      <a16:creationId xmlns:a16="http://schemas.microsoft.com/office/drawing/2014/main" id="{7F680284-7F80-96D2-3FDE-440C50034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98486" y="1970843"/>
                  <a:ext cx="1118587" cy="8611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C5EE7903-C419-31D3-3F1D-A9FDE2BBB320}"/>
                  </a:ext>
                </a:extLst>
              </p:cNvPr>
              <p:cNvSpPr/>
              <p:nvPr/>
            </p:nvSpPr>
            <p:spPr>
              <a:xfrm>
                <a:off x="1193800" y="1971675"/>
                <a:ext cx="1816100" cy="863600"/>
              </a:xfrm>
              <a:custGeom>
                <a:avLst/>
                <a:gdLst>
                  <a:gd name="connsiteX0" fmla="*/ 0 w 1816100"/>
                  <a:gd name="connsiteY0" fmla="*/ 863600 h 863600"/>
                  <a:gd name="connsiteX1" fmla="*/ 1123950 w 1816100"/>
                  <a:gd name="connsiteY1" fmla="*/ 0 h 863600"/>
                  <a:gd name="connsiteX2" fmla="*/ 1816100 w 1816100"/>
                  <a:gd name="connsiteY2" fmla="*/ 3175 h 863600"/>
                  <a:gd name="connsiteX3" fmla="*/ 701675 w 1816100"/>
                  <a:gd name="connsiteY3" fmla="*/ 857250 h 863600"/>
                  <a:gd name="connsiteX4" fmla="*/ 0 w 1816100"/>
                  <a:gd name="connsiteY4" fmla="*/ 863600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00" h="863600">
                    <a:moveTo>
                      <a:pt x="0" y="863600"/>
                    </a:moveTo>
                    <a:lnTo>
                      <a:pt x="1123950" y="0"/>
                    </a:lnTo>
                    <a:lnTo>
                      <a:pt x="1816100" y="3175"/>
                    </a:lnTo>
                    <a:lnTo>
                      <a:pt x="701675" y="85725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B976DD8C-F5C2-A760-CC5F-F341862433E9}"/>
                </a:ext>
              </a:extLst>
            </p:cNvPr>
            <p:cNvGrpSpPr/>
            <p:nvPr/>
          </p:nvGrpSpPr>
          <p:grpSpPr>
            <a:xfrm>
              <a:off x="9081384" y="2022186"/>
              <a:ext cx="1054906" cy="3280223"/>
              <a:chOff x="2997200" y="1395110"/>
              <a:chExt cx="1358365" cy="4018477"/>
            </a:xfrm>
          </p:grpSpPr>
          <p:grpSp>
            <p:nvGrpSpPr>
              <p:cNvPr id="242" name="组合 241">
                <a:extLst>
                  <a:ext uri="{FF2B5EF4-FFF2-40B4-BE49-F238E27FC236}">
                    <a16:creationId xmlns:a16="http://schemas.microsoft.com/office/drawing/2014/main" id="{8E0190A3-F2DF-BCD1-472B-32734D7921CD}"/>
                  </a:ext>
                </a:extLst>
              </p:cNvPr>
              <p:cNvGrpSpPr/>
              <p:nvPr/>
            </p:nvGrpSpPr>
            <p:grpSpPr>
              <a:xfrm>
                <a:off x="2997200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249" name="任意多边形: 形状 248">
                  <a:extLst>
                    <a:ext uri="{FF2B5EF4-FFF2-40B4-BE49-F238E27FC236}">
                      <a16:creationId xmlns:a16="http://schemas.microsoft.com/office/drawing/2014/main" id="{DB6F7D0C-A2B3-88B7-41F4-F387D7380CE1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50" name="组合 249">
                  <a:extLst>
                    <a:ext uri="{FF2B5EF4-FFF2-40B4-BE49-F238E27FC236}">
                      <a16:creationId xmlns:a16="http://schemas.microsoft.com/office/drawing/2014/main" id="{CFFC7F30-2B3B-0DB6-A769-9527E34909E5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252" name="矩形 251">
                    <a:extLst>
                      <a:ext uri="{FF2B5EF4-FFF2-40B4-BE49-F238E27FC236}">
                        <a16:creationId xmlns:a16="http://schemas.microsoft.com/office/drawing/2014/main" id="{69C44B00-D70B-C34A-C55B-CADB3B9C09EF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253" name="直接连接符 252">
                    <a:extLst>
                      <a:ext uri="{FF2B5EF4-FFF2-40B4-BE49-F238E27FC236}">
                        <a16:creationId xmlns:a16="http://schemas.microsoft.com/office/drawing/2014/main" id="{E5BBCC9D-3BBF-D798-2B96-9B8E7A2946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1" name="任意多边形: 形状 250">
                  <a:extLst>
                    <a:ext uri="{FF2B5EF4-FFF2-40B4-BE49-F238E27FC236}">
                      <a16:creationId xmlns:a16="http://schemas.microsoft.com/office/drawing/2014/main" id="{22153D5D-FDB9-CA4C-DA21-01C738E99E6B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43" name="组合 242">
                <a:extLst>
                  <a:ext uri="{FF2B5EF4-FFF2-40B4-BE49-F238E27FC236}">
                    <a16:creationId xmlns:a16="http://schemas.microsoft.com/office/drawing/2014/main" id="{5E67F99F-6CC6-E53A-8A6B-A61B6A07B583}"/>
                  </a:ext>
                </a:extLst>
              </p:cNvPr>
              <p:cNvGrpSpPr/>
              <p:nvPr/>
            </p:nvGrpSpPr>
            <p:grpSpPr>
              <a:xfrm>
                <a:off x="3369733" y="1395110"/>
                <a:ext cx="985832" cy="4018477"/>
                <a:chOff x="1193800" y="1970843"/>
                <a:chExt cx="1816100" cy="4018477"/>
              </a:xfrm>
            </p:grpSpPr>
            <p:sp>
              <p:nvSpPr>
                <p:cNvPr id="244" name="任意多边形: 形状 243">
                  <a:extLst>
                    <a:ext uri="{FF2B5EF4-FFF2-40B4-BE49-F238E27FC236}">
                      <a16:creationId xmlns:a16="http://schemas.microsoft.com/office/drawing/2014/main" id="{C80BCCBE-A5E5-10AD-D23A-D03C8B38D76F}"/>
                    </a:ext>
                  </a:extLst>
                </p:cNvPr>
                <p:cNvSpPr/>
                <p:nvPr/>
              </p:nvSpPr>
              <p:spPr>
                <a:xfrm>
                  <a:off x="1889760" y="1971040"/>
                  <a:ext cx="1117600" cy="4018280"/>
                </a:xfrm>
                <a:custGeom>
                  <a:avLst/>
                  <a:gdLst>
                    <a:gd name="connsiteX0" fmla="*/ 0 w 1117600"/>
                    <a:gd name="connsiteY0" fmla="*/ 868680 h 4018280"/>
                    <a:gd name="connsiteX1" fmla="*/ 5080 w 1117600"/>
                    <a:gd name="connsiteY1" fmla="*/ 4018280 h 4018280"/>
                    <a:gd name="connsiteX2" fmla="*/ 1117600 w 1117600"/>
                    <a:gd name="connsiteY2" fmla="*/ 3149600 h 4018280"/>
                    <a:gd name="connsiteX3" fmla="*/ 1117600 w 1117600"/>
                    <a:gd name="connsiteY3" fmla="*/ 0 h 4018280"/>
                    <a:gd name="connsiteX4" fmla="*/ 0 w 1117600"/>
                    <a:gd name="connsiteY4" fmla="*/ 868680 h 4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7600" h="4018280">
                      <a:moveTo>
                        <a:pt x="0" y="868680"/>
                      </a:moveTo>
                      <a:cubicBezTo>
                        <a:pt x="1693" y="1918547"/>
                        <a:pt x="3387" y="2968413"/>
                        <a:pt x="5080" y="4018280"/>
                      </a:cubicBezTo>
                      <a:lnTo>
                        <a:pt x="1117600" y="3149600"/>
                      </a:lnTo>
                      <a:lnTo>
                        <a:pt x="1117600" y="0"/>
                      </a:lnTo>
                      <a:lnTo>
                        <a:pt x="0" y="8686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7FE3B408-5890-5F6B-4671-CF4251D09492}"/>
                    </a:ext>
                  </a:extLst>
                </p:cNvPr>
                <p:cNvGrpSpPr/>
                <p:nvPr/>
              </p:nvGrpSpPr>
              <p:grpSpPr>
                <a:xfrm>
                  <a:off x="1198486" y="1970843"/>
                  <a:ext cx="1118587" cy="4012707"/>
                  <a:chOff x="1198486" y="1970843"/>
                  <a:chExt cx="1118587" cy="4012707"/>
                </a:xfrm>
              </p:grpSpPr>
              <p:sp>
                <p:nvSpPr>
                  <p:cNvPr id="247" name="矩形 246">
                    <a:extLst>
                      <a:ext uri="{FF2B5EF4-FFF2-40B4-BE49-F238E27FC236}">
                        <a16:creationId xmlns:a16="http://schemas.microsoft.com/office/drawing/2014/main" id="{1FCF6AAD-94AF-D164-04FD-A08835C486B5}"/>
                      </a:ext>
                    </a:extLst>
                  </p:cNvPr>
                  <p:cNvSpPr/>
                  <p:nvPr/>
                </p:nvSpPr>
                <p:spPr>
                  <a:xfrm>
                    <a:off x="1198486" y="2831977"/>
                    <a:ext cx="692458" cy="315157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lt"/>
                      <a:ea typeface="黑体" panose="02010609060101010101" pitchFamily="49" charset="-122"/>
                    </a:endParaRPr>
                  </a:p>
                </p:txBody>
              </p:sp>
              <p:cxnSp>
                <p:nvCxnSpPr>
                  <p:cNvPr id="248" name="直接连接符 247">
                    <a:extLst>
                      <a:ext uri="{FF2B5EF4-FFF2-40B4-BE49-F238E27FC236}">
                        <a16:creationId xmlns:a16="http://schemas.microsoft.com/office/drawing/2014/main" id="{79257DFD-E679-798E-8A5F-7A4C069C13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8486" y="1970843"/>
                    <a:ext cx="1118587" cy="86113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6" name="任意多边形: 形状 245">
                  <a:extLst>
                    <a:ext uri="{FF2B5EF4-FFF2-40B4-BE49-F238E27FC236}">
                      <a16:creationId xmlns:a16="http://schemas.microsoft.com/office/drawing/2014/main" id="{598A6BF7-6386-442E-B893-781FBE27AACD}"/>
                    </a:ext>
                  </a:extLst>
                </p:cNvPr>
                <p:cNvSpPr/>
                <p:nvPr/>
              </p:nvSpPr>
              <p:spPr>
                <a:xfrm>
                  <a:off x="1193800" y="1971675"/>
                  <a:ext cx="1816100" cy="863600"/>
                </a:xfrm>
                <a:custGeom>
                  <a:avLst/>
                  <a:gdLst>
                    <a:gd name="connsiteX0" fmla="*/ 0 w 1816100"/>
                    <a:gd name="connsiteY0" fmla="*/ 863600 h 863600"/>
                    <a:gd name="connsiteX1" fmla="*/ 1123950 w 1816100"/>
                    <a:gd name="connsiteY1" fmla="*/ 0 h 863600"/>
                    <a:gd name="connsiteX2" fmla="*/ 1816100 w 1816100"/>
                    <a:gd name="connsiteY2" fmla="*/ 3175 h 863600"/>
                    <a:gd name="connsiteX3" fmla="*/ 701675 w 1816100"/>
                    <a:gd name="connsiteY3" fmla="*/ 857250 h 863600"/>
                    <a:gd name="connsiteX4" fmla="*/ 0 w 1816100"/>
                    <a:gd name="connsiteY4" fmla="*/ 863600 h 86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6100" h="863600">
                      <a:moveTo>
                        <a:pt x="0" y="863600"/>
                      </a:moveTo>
                      <a:lnTo>
                        <a:pt x="1123950" y="0"/>
                      </a:lnTo>
                      <a:lnTo>
                        <a:pt x="1816100" y="3175"/>
                      </a:lnTo>
                      <a:lnTo>
                        <a:pt x="701675" y="857250"/>
                      </a:lnTo>
                      <a:lnTo>
                        <a:pt x="0" y="8636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8CF343D3-AEE5-58CC-EB35-43E1A48F420B}"/>
              </a:ext>
            </a:extLst>
          </p:cNvPr>
          <p:cNvCxnSpPr>
            <a:cxnSpLocks/>
          </p:cNvCxnSpPr>
          <p:nvPr/>
        </p:nvCxnSpPr>
        <p:spPr>
          <a:xfrm>
            <a:off x="5556250" y="2655389"/>
            <a:ext cx="378883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文本框 258">
            <a:extLst>
              <a:ext uri="{FF2B5EF4-FFF2-40B4-BE49-F238E27FC236}">
                <a16:creationId xmlns:a16="http://schemas.microsoft.com/office/drawing/2014/main" id="{ACE5C8CF-E9E1-703A-B2B0-45572CD1AF9B}"/>
              </a:ext>
            </a:extLst>
          </p:cNvPr>
          <p:cNvSpPr txBox="1"/>
          <p:nvPr/>
        </p:nvSpPr>
        <p:spPr>
          <a:xfrm>
            <a:off x="6107310" y="520091"/>
            <a:ext cx="163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残差块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46BD9C45-83B8-9645-737B-5949F048F947}"/>
              </a:ext>
            </a:extLst>
          </p:cNvPr>
          <p:cNvSpPr txBox="1"/>
          <p:nvPr/>
        </p:nvSpPr>
        <p:spPr>
          <a:xfrm>
            <a:off x="8155640" y="520091"/>
            <a:ext cx="163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解码器卷积层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711A1DAD-B395-9C3A-5E7D-B32A5C08814D}"/>
              </a:ext>
            </a:extLst>
          </p:cNvPr>
          <p:cNvSpPr txBox="1"/>
          <p:nvPr/>
        </p:nvSpPr>
        <p:spPr>
          <a:xfrm>
            <a:off x="4207272" y="4344374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3x3x32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18D145D-D96D-A1EA-8DBF-786F4716B067}"/>
              </a:ext>
            </a:extLst>
          </p:cNvPr>
          <p:cNvSpPr txBox="1"/>
          <p:nvPr/>
        </p:nvSpPr>
        <p:spPr>
          <a:xfrm>
            <a:off x="6138978" y="4363145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3x3x32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066ABEA0-E489-5761-9869-0931F2B6E8C9}"/>
              </a:ext>
            </a:extLst>
          </p:cNvPr>
          <p:cNvSpPr txBox="1"/>
          <p:nvPr/>
        </p:nvSpPr>
        <p:spPr>
          <a:xfrm>
            <a:off x="8162074" y="3674709"/>
            <a:ext cx="108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3x3x3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0A5F9743-60E6-7852-CCDF-570D1FE80922}"/>
              </a:ext>
            </a:extLst>
          </p:cNvPr>
          <p:cNvGrpSpPr/>
          <p:nvPr/>
        </p:nvGrpSpPr>
        <p:grpSpPr>
          <a:xfrm>
            <a:off x="6291608" y="5079086"/>
            <a:ext cx="5392953" cy="1448448"/>
            <a:chOff x="614827" y="4025262"/>
            <a:chExt cx="4303531" cy="2014197"/>
          </a:xfrm>
        </p:grpSpPr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CAA3FC03-5896-ED6B-B308-D78646B4C6C6}"/>
                </a:ext>
              </a:extLst>
            </p:cNvPr>
            <p:cNvSpPr txBox="1"/>
            <p:nvPr/>
          </p:nvSpPr>
          <p:spPr>
            <a:xfrm>
              <a:off x="801544" y="4823075"/>
              <a:ext cx="4108574" cy="1094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使用联合判别生成器，将对抗损失和分类损失加权求和，生成器通过优化这个总损失进行训练。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2C16A7FC-5B49-480A-5682-FE93A0FA4C28}"/>
                </a:ext>
              </a:extLst>
            </p:cNvPr>
            <p:cNvSpPr/>
            <p:nvPr/>
          </p:nvSpPr>
          <p:spPr>
            <a:xfrm>
              <a:off x="651934" y="4737953"/>
              <a:ext cx="4266424" cy="13015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3667C0B6-5974-B934-F887-A0961B95E4B8}"/>
                </a:ext>
              </a:extLst>
            </p:cNvPr>
            <p:cNvSpPr txBox="1"/>
            <p:nvPr/>
          </p:nvSpPr>
          <p:spPr>
            <a:xfrm>
              <a:off x="614827" y="4025262"/>
              <a:ext cx="1073033" cy="513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创新点</a:t>
              </a:r>
              <a:r>
                <a:rPr lang="en-US" altLang="zh-CN" b="1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rPr>
                <a:t>4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78" name="矩形 277">
            <a:extLst>
              <a:ext uri="{FF2B5EF4-FFF2-40B4-BE49-F238E27FC236}">
                <a16:creationId xmlns:a16="http://schemas.microsoft.com/office/drawing/2014/main" id="{5FF5B7B1-972B-FD10-B763-89EE2804CFC9}"/>
              </a:ext>
            </a:extLst>
          </p:cNvPr>
          <p:cNvSpPr/>
          <p:nvPr/>
        </p:nvSpPr>
        <p:spPr>
          <a:xfrm>
            <a:off x="3990224" y="2011095"/>
            <a:ext cx="3476412" cy="23090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9EA42E0D-36FB-9AC0-2D08-9F1D25D903F5}"/>
              </a:ext>
            </a:extLst>
          </p:cNvPr>
          <p:cNvGrpSpPr/>
          <p:nvPr/>
        </p:nvGrpSpPr>
        <p:grpSpPr>
          <a:xfrm>
            <a:off x="178495" y="5083508"/>
            <a:ext cx="5829019" cy="1461648"/>
            <a:chOff x="566406" y="4255184"/>
            <a:chExt cx="4615279" cy="1461648"/>
          </a:xfrm>
        </p:grpSpPr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0F0CF6D7-AC88-2F72-8678-8B637A6986AF}"/>
                </a:ext>
              </a:extLst>
            </p:cNvPr>
            <p:cNvSpPr txBox="1"/>
            <p:nvPr/>
          </p:nvSpPr>
          <p:spPr>
            <a:xfrm>
              <a:off x="780561" y="4801437"/>
              <a:ext cx="4266692" cy="784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构建了全等生成器，通过残差通道将输入</a:t>
              </a:r>
              <a:r>
                <a:rPr lang="zh-CN" altLang="en-US" sz="1600" b="1" dirty="0">
                  <a:solidFill>
                    <a:prstClr val="black"/>
                  </a:solidFill>
                  <a:latin typeface="+mj-lt"/>
                  <a:ea typeface="黑体" panose="02010609060101010101" pitchFamily="49" charset="-122"/>
                </a:rPr>
                <a:t>图片与残差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相加，并采用掩膜策略修复像素值为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的点。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C44B1559-9103-64A8-45FC-7621E57554C5}"/>
                </a:ext>
              </a:extLst>
            </p:cNvPr>
            <p:cNvSpPr/>
            <p:nvPr/>
          </p:nvSpPr>
          <p:spPr>
            <a:xfrm>
              <a:off x="646129" y="4783520"/>
              <a:ext cx="4535556" cy="9333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505F482C-B17B-50BC-C5CC-83DD80C9BB0E}"/>
                </a:ext>
              </a:extLst>
            </p:cNvPr>
            <p:cNvSpPr txBox="1"/>
            <p:nvPr/>
          </p:nvSpPr>
          <p:spPr>
            <a:xfrm>
              <a:off x="566406" y="4255184"/>
              <a:ext cx="1073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创新点</a:t>
              </a:r>
              <a:r>
                <a:rPr lang="en-US" altLang="zh-CN" b="1" dirty="0">
                  <a:solidFill>
                    <a:srgbClr val="FF0000"/>
                  </a:solidFill>
                  <a:latin typeface="+mj-lt"/>
                  <a:ea typeface="黑体" panose="02010609060101010101" pitchFamily="49" charset="-122"/>
                </a:rPr>
                <a:t>3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sp>
        <p:nvSpPr>
          <p:cNvPr id="286" name="文本框 285">
            <a:extLst>
              <a:ext uri="{FF2B5EF4-FFF2-40B4-BE49-F238E27FC236}">
                <a16:creationId xmlns:a16="http://schemas.microsoft.com/office/drawing/2014/main" id="{0F665644-418B-572A-B231-FFBD3D1F1319}"/>
              </a:ext>
            </a:extLst>
          </p:cNvPr>
          <p:cNvSpPr txBox="1"/>
          <p:nvPr/>
        </p:nvSpPr>
        <p:spPr>
          <a:xfrm>
            <a:off x="7735629" y="4978865"/>
            <a:ext cx="373759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g_loss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 =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c_loss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 * 0.5  +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d_loss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rPr>
              <a:t> * 0.5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1A99D3B5-AF15-AB88-C327-288D8840A60B}"/>
              </a:ext>
            </a:extLst>
          </p:cNvPr>
          <p:cNvCxnSpPr>
            <a:cxnSpLocks/>
          </p:cNvCxnSpPr>
          <p:nvPr/>
        </p:nvCxnSpPr>
        <p:spPr>
          <a:xfrm flipV="1">
            <a:off x="1717954" y="4742727"/>
            <a:ext cx="2272270" cy="601953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D848493-A2BF-FB91-B88F-251AD7B9B7CC}"/>
              </a:ext>
            </a:extLst>
          </p:cNvPr>
          <p:cNvGrpSpPr/>
          <p:nvPr/>
        </p:nvGrpSpPr>
        <p:grpSpPr>
          <a:xfrm>
            <a:off x="2361234" y="1123925"/>
            <a:ext cx="7078842" cy="1424135"/>
            <a:chOff x="2361234" y="1455219"/>
            <a:chExt cx="7078842" cy="1092841"/>
          </a:xfrm>
        </p:grpSpPr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039889D7-3951-989F-175B-9250979AB558}"/>
                </a:ext>
              </a:extLst>
            </p:cNvPr>
            <p:cNvCxnSpPr/>
            <p:nvPr/>
          </p:nvCxnSpPr>
          <p:spPr>
            <a:xfrm flipV="1">
              <a:off x="2361234" y="1458410"/>
              <a:ext cx="7078842" cy="1089650"/>
            </a:xfrm>
            <a:prstGeom prst="bentConnector3">
              <a:avLst>
                <a:gd name="adj1" fmla="val -34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A2C1448-D6DE-0067-F94E-5FD5A33FDFEA}"/>
                </a:ext>
              </a:extLst>
            </p:cNvPr>
            <p:cNvCxnSpPr>
              <a:cxnSpLocks/>
            </p:cNvCxnSpPr>
            <p:nvPr/>
          </p:nvCxnSpPr>
          <p:spPr>
            <a:xfrm>
              <a:off x="9424307" y="1455219"/>
              <a:ext cx="0" cy="106063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3DECC24-EE51-126A-F54B-60801A7E1392}"/>
              </a:ext>
            </a:extLst>
          </p:cNvPr>
          <p:cNvGrpSpPr/>
          <p:nvPr/>
        </p:nvGrpSpPr>
        <p:grpSpPr>
          <a:xfrm>
            <a:off x="3636008" y="1505905"/>
            <a:ext cx="2030975" cy="1092841"/>
            <a:chOff x="2361234" y="1455219"/>
            <a:chExt cx="7078842" cy="1092841"/>
          </a:xfrm>
        </p:grpSpPr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CF0F96C5-EA25-62A4-4D31-8F7848EE70EA}"/>
                </a:ext>
              </a:extLst>
            </p:cNvPr>
            <p:cNvCxnSpPr/>
            <p:nvPr/>
          </p:nvCxnSpPr>
          <p:spPr>
            <a:xfrm flipV="1">
              <a:off x="2361234" y="1458410"/>
              <a:ext cx="7078842" cy="1089650"/>
            </a:xfrm>
            <a:prstGeom prst="bentConnector3">
              <a:avLst>
                <a:gd name="adj1" fmla="val -34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B340088-BDBC-2D7F-09C3-C1323E5B51E2}"/>
                </a:ext>
              </a:extLst>
            </p:cNvPr>
            <p:cNvCxnSpPr>
              <a:cxnSpLocks/>
            </p:cNvCxnSpPr>
            <p:nvPr/>
          </p:nvCxnSpPr>
          <p:spPr>
            <a:xfrm>
              <a:off x="9424307" y="1455219"/>
              <a:ext cx="0" cy="106063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878840-C125-0ED3-585C-CB729146A4D5}"/>
              </a:ext>
            </a:extLst>
          </p:cNvPr>
          <p:cNvGrpSpPr/>
          <p:nvPr/>
        </p:nvGrpSpPr>
        <p:grpSpPr>
          <a:xfrm>
            <a:off x="5778630" y="1496483"/>
            <a:ext cx="2030975" cy="1092841"/>
            <a:chOff x="2361234" y="1455219"/>
            <a:chExt cx="7078842" cy="1092841"/>
          </a:xfrm>
        </p:grpSpPr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76630DCC-5788-165E-083E-392626F87DE1}"/>
                </a:ext>
              </a:extLst>
            </p:cNvPr>
            <p:cNvCxnSpPr/>
            <p:nvPr/>
          </p:nvCxnSpPr>
          <p:spPr>
            <a:xfrm flipV="1">
              <a:off x="2361234" y="1458410"/>
              <a:ext cx="7078842" cy="1089650"/>
            </a:xfrm>
            <a:prstGeom prst="bentConnector3">
              <a:avLst>
                <a:gd name="adj1" fmla="val -34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1FA7CC9-E790-D2D7-A838-9A468DFB11C0}"/>
                </a:ext>
              </a:extLst>
            </p:cNvPr>
            <p:cNvCxnSpPr>
              <a:cxnSpLocks/>
            </p:cNvCxnSpPr>
            <p:nvPr/>
          </p:nvCxnSpPr>
          <p:spPr>
            <a:xfrm>
              <a:off x="9424307" y="1455219"/>
              <a:ext cx="0" cy="106063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2458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970C6-E327-505E-9631-CF4EBA50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0BF6F433-6712-21CE-CBFE-B5DCD7766B8A}"/>
              </a:ext>
            </a:extLst>
          </p:cNvPr>
          <p:cNvGrpSpPr/>
          <p:nvPr/>
        </p:nvGrpSpPr>
        <p:grpSpPr>
          <a:xfrm>
            <a:off x="212426" y="3584638"/>
            <a:ext cx="11763373" cy="2589687"/>
            <a:chOff x="68794" y="2342658"/>
            <a:chExt cx="11763373" cy="258968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7202833-1B0D-981F-95ED-250DC1544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8501" y="2351125"/>
              <a:ext cx="2243666" cy="180015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A15FDCE-4FB8-4022-5572-5D394CB0C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94" y="2351125"/>
              <a:ext cx="2243666" cy="180015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70A58EE-C171-5C9A-628E-2CA201F98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100" y="2351125"/>
              <a:ext cx="2243666" cy="180015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6CF3C8C-F85D-E481-EA72-F018CEF3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4195" y="2342658"/>
              <a:ext cx="2243666" cy="1800150"/>
            </a:xfrm>
            <a:prstGeom prst="rect">
              <a:avLst/>
            </a:prstGeom>
          </p:spPr>
        </p:pic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5D336018-C3C4-CBBA-2027-7FAA2C73E97C}"/>
                </a:ext>
              </a:extLst>
            </p:cNvPr>
            <p:cNvSpPr/>
            <p:nvPr/>
          </p:nvSpPr>
          <p:spPr>
            <a:xfrm>
              <a:off x="2413369" y="3004718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888083AE-CB87-7E27-05A8-A6ED863E8F31}"/>
                </a:ext>
              </a:extLst>
            </p:cNvPr>
            <p:cNvSpPr/>
            <p:nvPr/>
          </p:nvSpPr>
          <p:spPr>
            <a:xfrm>
              <a:off x="5593178" y="3004718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6B67A7E2-FC8F-45BE-B64D-A0729DC13F81}"/>
                </a:ext>
              </a:extLst>
            </p:cNvPr>
            <p:cNvSpPr/>
            <p:nvPr/>
          </p:nvSpPr>
          <p:spPr>
            <a:xfrm>
              <a:off x="8880041" y="3004718"/>
              <a:ext cx="651053" cy="424282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D0FBAEF-9C3B-C70B-5641-1EEB0C295849}"/>
                </a:ext>
              </a:extLst>
            </p:cNvPr>
            <p:cNvSpPr txBox="1"/>
            <p:nvPr/>
          </p:nvSpPr>
          <p:spPr>
            <a:xfrm>
              <a:off x="637180" y="4281964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10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显示语义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B6105E5-27FB-52F7-06C7-36D6C440A735}"/>
                </a:ext>
              </a:extLst>
            </p:cNvPr>
            <p:cNvSpPr txBox="1"/>
            <p:nvPr/>
          </p:nvSpPr>
          <p:spPr>
            <a:xfrm>
              <a:off x="3786237" y="4281964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50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模仿纹理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01F8C72-8CDE-8137-79CB-90A2ECE1A7B4}"/>
                </a:ext>
              </a:extLst>
            </p:cNvPr>
            <p:cNvSpPr txBox="1"/>
            <p:nvPr/>
          </p:nvSpPr>
          <p:spPr>
            <a:xfrm>
              <a:off x="6859741" y="4286014"/>
              <a:ext cx="138211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100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前后景分离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67F0D9B-B477-F4E5-23F0-C538577B2AED}"/>
                </a:ext>
              </a:extLst>
            </p:cNvPr>
            <p:cNvSpPr txBox="1"/>
            <p:nvPr/>
          </p:nvSpPr>
          <p:spPr>
            <a:xfrm>
              <a:off x="10329460" y="4281964"/>
              <a:ext cx="7617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+mj-lt"/>
                  <a:ea typeface="黑体" panose="02010609060101010101" pitchFamily="49" charset="-122"/>
                </a:rPr>
                <a:t>200</a:t>
              </a:r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轮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b="1" dirty="0">
                  <a:latin typeface="+mj-lt"/>
                  <a:ea typeface="黑体" panose="02010609060101010101" pitchFamily="49" charset="-122"/>
                </a:rPr>
                <a:t>收敛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0EF1DD4-9DDE-F45F-BD8C-A6A258A4E494}"/>
              </a:ext>
            </a:extLst>
          </p:cNvPr>
          <p:cNvGrpSpPr/>
          <p:nvPr/>
        </p:nvGrpSpPr>
        <p:grpSpPr>
          <a:xfrm>
            <a:off x="-1887" y="-129041"/>
            <a:ext cx="12192000" cy="682376"/>
            <a:chOff x="0" y="-154129"/>
            <a:chExt cx="12192000" cy="68237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9C5821B-702F-751B-E707-8E57193691FC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6" name="jwc_logo">
              <a:extLst>
                <a:ext uri="{FF2B5EF4-FFF2-40B4-BE49-F238E27FC236}">
                  <a16:creationId xmlns:a16="http://schemas.microsoft.com/office/drawing/2014/main" id="{8CB0B510-2B73-C03B-D470-0F15343E12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BE5D9292-4C37-8109-75B4-C73DF56F7D3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9F21B26F-7C8E-48B4-DE27-42C41E40335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B699F9F1-4478-FC41-0B38-617294A6AC0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27BC6F74-4BBB-BCE7-5691-AA37E6A8A71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EDCEF6A3-D8DA-9147-8ABB-3332CB488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6083B61D-5370-4DBB-255A-B027FA20323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D7C1D681-85E1-26C5-0F2E-CF51AC4B5F9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1">
                <a:extLst>
                  <a:ext uri="{FF2B5EF4-FFF2-40B4-BE49-F238E27FC236}">
                    <a16:creationId xmlns:a16="http://schemas.microsoft.com/office/drawing/2014/main" id="{6C296A1C-6FD2-CDCA-CC2B-1DBD57A03E45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42">
                <a:extLst>
                  <a:ext uri="{FF2B5EF4-FFF2-40B4-BE49-F238E27FC236}">
                    <a16:creationId xmlns:a16="http://schemas.microsoft.com/office/drawing/2014/main" id="{B9B91B1F-20E1-48EB-EDBD-5D37F54ADF39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43">
                <a:extLst>
                  <a:ext uri="{FF2B5EF4-FFF2-40B4-BE49-F238E27FC236}">
                    <a16:creationId xmlns:a16="http://schemas.microsoft.com/office/drawing/2014/main" id="{E277E52D-CD3E-B430-5D37-8DC50B2DF2AC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Freeform 44">
                <a:extLst>
                  <a:ext uri="{FF2B5EF4-FFF2-40B4-BE49-F238E27FC236}">
                    <a16:creationId xmlns:a16="http://schemas.microsoft.com/office/drawing/2014/main" id="{E2505AAE-EE07-4C7E-4545-0DC973E5FAD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Freeform 45">
                <a:extLst>
                  <a:ext uri="{FF2B5EF4-FFF2-40B4-BE49-F238E27FC236}">
                    <a16:creationId xmlns:a16="http://schemas.microsoft.com/office/drawing/2014/main" id="{27D31C28-964F-1C83-1E9F-E1DEE017A49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Freeform 46">
                <a:extLst>
                  <a:ext uri="{FF2B5EF4-FFF2-40B4-BE49-F238E27FC236}">
                    <a16:creationId xmlns:a16="http://schemas.microsoft.com/office/drawing/2014/main" id="{09942E9B-0181-B18E-7DA1-37A11118D9F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Freeform 47">
                <a:extLst>
                  <a:ext uri="{FF2B5EF4-FFF2-40B4-BE49-F238E27FC236}">
                    <a16:creationId xmlns:a16="http://schemas.microsoft.com/office/drawing/2014/main" id="{F483D35A-4EE5-5BF1-1B85-4B08D37F4FB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48">
                <a:extLst>
                  <a:ext uri="{FF2B5EF4-FFF2-40B4-BE49-F238E27FC236}">
                    <a16:creationId xmlns:a16="http://schemas.microsoft.com/office/drawing/2014/main" id="{2C17B867-0F36-373F-D979-E54D23E39B1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49">
                <a:extLst>
                  <a:ext uri="{FF2B5EF4-FFF2-40B4-BE49-F238E27FC236}">
                    <a16:creationId xmlns:a16="http://schemas.microsoft.com/office/drawing/2014/main" id="{EBFC7CF5-DC85-A6E6-F01B-28E614479D5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Freeform 50">
                <a:extLst>
                  <a:ext uri="{FF2B5EF4-FFF2-40B4-BE49-F238E27FC236}">
                    <a16:creationId xmlns:a16="http://schemas.microsoft.com/office/drawing/2014/main" id="{017C9F67-06D6-7CBE-A758-3AAB8262B98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Freeform 51">
                <a:extLst>
                  <a:ext uri="{FF2B5EF4-FFF2-40B4-BE49-F238E27FC236}">
                    <a16:creationId xmlns:a16="http://schemas.microsoft.com/office/drawing/2014/main" id="{B53FBB0F-5BC7-363E-B225-1CED541DBB4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Freeform 52">
                <a:extLst>
                  <a:ext uri="{FF2B5EF4-FFF2-40B4-BE49-F238E27FC236}">
                    <a16:creationId xmlns:a16="http://schemas.microsoft.com/office/drawing/2014/main" id="{2082216A-1E51-1258-87A4-30983FF9E75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673E602-0FED-5878-8B18-51974C2C51DA}"/>
                </a:ext>
              </a:extLst>
            </p:cNvPr>
            <p:cNvSpPr txBox="1"/>
            <p:nvPr/>
          </p:nvSpPr>
          <p:spPr>
            <a:xfrm>
              <a:off x="15301" y="-154129"/>
              <a:ext cx="5782398" cy="579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单色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CIFAR10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数据集训练的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DCGAN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A4D5E2A7-283B-33E7-DB7D-396B5143AE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4" y="868592"/>
            <a:ext cx="10972822" cy="2364764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54E9B636-F9B8-52AA-7530-B4EB152CC41E}"/>
              </a:ext>
            </a:extLst>
          </p:cNvPr>
          <p:cNvSpPr txBox="1"/>
          <p:nvPr/>
        </p:nvSpPr>
        <p:spPr>
          <a:xfrm>
            <a:off x="0" y="6481598"/>
            <a:ext cx="437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j-lt"/>
                <a:ea typeface="黑体" panose="02010609060101010101" pitchFamily="49" charset="-122"/>
              </a:rPr>
              <a:t>分类器采用了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resnet56_cifar10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预训练权重</a:t>
            </a:r>
          </a:p>
        </p:txBody>
      </p:sp>
    </p:spTree>
    <p:extLst>
      <p:ext uri="{BB962C8B-B14F-4D97-AF65-F5344CB8AC3E}">
        <p14:creationId xmlns:p14="http://schemas.microsoft.com/office/powerpoint/2010/main" val="3639916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6126-BFF7-F712-F760-CF3E16BD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5C6E5435-703B-B1C4-F1FE-D9537540A226}"/>
              </a:ext>
            </a:extLst>
          </p:cNvPr>
          <p:cNvGrpSpPr/>
          <p:nvPr/>
        </p:nvGrpSpPr>
        <p:grpSpPr>
          <a:xfrm>
            <a:off x="346685" y="3977921"/>
            <a:ext cx="2520000" cy="2520000"/>
            <a:chOff x="161490" y="3708132"/>
            <a:chExt cx="2158104" cy="25060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71F05EB-DD9E-40AA-95AA-20D89973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5706"/>
            <a:stretch>
              <a:fillRect/>
            </a:stretch>
          </p:blipFill>
          <p:spPr>
            <a:xfrm>
              <a:off x="161490" y="3708132"/>
              <a:ext cx="2158104" cy="2506000"/>
            </a:xfrm>
            <a:prstGeom prst="rect">
              <a:avLst/>
            </a:prstGeom>
          </p:spPr>
        </p:pic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833A6F5-0609-0F5F-1F07-405E1688FC93}"/>
                </a:ext>
              </a:extLst>
            </p:cNvPr>
            <p:cNvSpPr/>
            <p:nvPr/>
          </p:nvSpPr>
          <p:spPr>
            <a:xfrm>
              <a:off x="1355157" y="4910286"/>
              <a:ext cx="269173" cy="2655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D43F23B-32BC-7447-0FEF-CC1947011915}"/>
                </a:ext>
              </a:extLst>
            </p:cNvPr>
            <p:cNvSpPr/>
            <p:nvPr/>
          </p:nvSpPr>
          <p:spPr>
            <a:xfrm>
              <a:off x="1043520" y="5222739"/>
              <a:ext cx="343478" cy="2655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21EE76B-024E-7F50-02ED-AEB98AB425FA}"/>
              </a:ext>
            </a:extLst>
          </p:cNvPr>
          <p:cNvGrpSpPr/>
          <p:nvPr/>
        </p:nvGrpSpPr>
        <p:grpSpPr>
          <a:xfrm>
            <a:off x="2809913" y="3977921"/>
            <a:ext cx="2520000" cy="2520000"/>
            <a:chOff x="4143174" y="3708132"/>
            <a:chExt cx="2311302" cy="2506000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5170C957-902E-1E54-CBB5-763D6E593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272"/>
            <a:stretch>
              <a:fillRect/>
            </a:stretch>
          </p:blipFill>
          <p:spPr>
            <a:xfrm>
              <a:off x="4143174" y="3708132"/>
              <a:ext cx="2311302" cy="2506000"/>
            </a:xfrm>
            <a:prstGeom prst="rect">
              <a:avLst/>
            </a:prstGeom>
          </p:spPr>
        </p:pic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B7F789AB-1ED4-0ACE-82B7-303C81C7D073}"/>
                </a:ext>
              </a:extLst>
            </p:cNvPr>
            <p:cNvSpPr/>
            <p:nvPr/>
          </p:nvSpPr>
          <p:spPr>
            <a:xfrm>
              <a:off x="5363277" y="4910286"/>
              <a:ext cx="269173" cy="2655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51F53127-02E5-036A-F023-CA244789B5E2}"/>
                </a:ext>
              </a:extLst>
            </p:cNvPr>
            <p:cNvSpPr/>
            <p:nvPr/>
          </p:nvSpPr>
          <p:spPr>
            <a:xfrm>
              <a:off x="5075770" y="5222739"/>
              <a:ext cx="343478" cy="26556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FA2A3A-D54C-3E45-057C-D5AF540FD6B1}"/>
              </a:ext>
            </a:extLst>
          </p:cNvPr>
          <p:cNvGrpSpPr/>
          <p:nvPr/>
        </p:nvGrpSpPr>
        <p:grpSpPr>
          <a:xfrm>
            <a:off x="-1887" y="-129041"/>
            <a:ext cx="12192000" cy="682376"/>
            <a:chOff x="0" y="-154129"/>
            <a:chExt cx="12192000" cy="68237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BD97DB4-DE9F-CE71-8092-A0929D84E90B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6" name="jwc_logo">
              <a:extLst>
                <a:ext uri="{FF2B5EF4-FFF2-40B4-BE49-F238E27FC236}">
                  <a16:creationId xmlns:a16="http://schemas.microsoft.com/office/drawing/2014/main" id="{D04F3A5B-AC29-9732-C870-6276CD44DB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1" name="Freeform 34">
                <a:extLst>
                  <a:ext uri="{FF2B5EF4-FFF2-40B4-BE49-F238E27FC236}">
                    <a16:creationId xmlns:a16="http://schemas.microsoft.com/office/drawing/2014/main" id="{DF6A235B-A3FE-5BD3-CC84-CCDFBE27F5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966373AB-0EF1-7BAF-8166-6E1FBDAA800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36">
                <a:extLst>
                  <a:ext uri="{FF2B5EF4-FFF2-40B4-BE49-F238E27FC236}">
                    <a16:creationId xmlns:a16="http://schemas.microsoft.com/office/drawing/2014/main" id="{D981CBDD-C298-6D98-AEF3-F510547B2D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37">
                <a:extLst>
                  <a:ext uri="{FF2B5EF4-FFF2-40B4-BE49-F238E27FC236}">
                    <a16:creationId xmlns:a16="http://schemas.microsoft.com/office/drawing/2014/main" id="{F821BD47-F118-B260-D420-0ECEE71D4C8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38">
                <a:extLst>
                  <a:ext uri="{FF2B5EF4-FFF2-40B4-BE49-F238E27FC236}">
                    <a16:creationId xmlns:a16="http://schemas.microsoft.com/office/drawing/2014/main" id="{D7993B41-041F-E7CB-986D-9E7238AF400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39">
                <a:extLst>
                  <a:ext uri="{FF2B5EF4-FFF2-40B4-BE49-F238E27FC236}">
                    <a16:creationId xmlns:a16="http://schemas.microsoft.com/office/drawing/2014/main" id="{393391CD-5FED-6D24-800E-3B881E8C65F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40">
                <a:extLst>
                  <a:ext uri="{FF2B5EF4-FFF2-40B4-BE49-F238E27FC236}">
                    <a16:creationId xmlns:a16="http://schemas.microsoft.com/office/drawing/2014/main" id="{A5A91F66-B4B7-E73F-E0AC-C791DA16933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1">
                <a:extLst>
                  <a:ext uri="{FF2B5EF4-FFF2-40B4-BE49-F238E27FC236}">
                    <a16:creationId xmlns:a16="http://schemas.microsoft.com/office/drawing/2014/main" id="{DC6182D1-549F-A67E-4BD9-29C9E28A8D2C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2">
                <a:extLst>
                  <a:ext uri="{FF2B5EF4-FFF2-40B4-BE49-F238E27FC236}">
                    <a16:creationId xmlns:a16="http://schemas.microsoft.com/office/drawing/2014/main" id="{66DD5C70-6B0F-7AFD-F803-F8C1B01A130B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3">
                <a:extLst>
                  <a:ext uri="{FF2B5EF4-FFF2-40B4-BE49-F238E27FC236}">
                    <a16:creationId xmlns:a16="http://schemas.microsoft.com/office/drawing/2014/main" id="{B5E238E7-4C4D-A92E-5756-871A71F07C52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4">
                <a:extLst>
                  <a:ext uri="{FF2B5EF4-FFF2-40B4-BE49-F238E27FC236}">
                    <a16:creationId xmlns:a16="http://schemas.microsoft.com/office/drawing/2014/main" id="{C6ADBC1D-0C8D-1D72-8507-101619FAAA7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45">
                <a:extLst>
                  <a:ext uri="{FF2B5EF4-FFF2-40B4-BE49-F238E27FC236}">
                    <a16:creationId xmlns:a16="http://schemas.microsoft.com/office/drawing/2014/main" id="{551903C8-F5FC-97EA-9583-EB388CD2CEE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46">
                <a:extLst>
                  <a:ext uri="{FF2B5EF4-FFF2-40B4-BE49-F238E27FC236}">
                    <a16:creationId xmlns:a16="http://schemas.microsoft.com/office/drawing/2014/main" id="{5603A280-0F8B-7511-0074-2A7D062746F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Freeform 47">
                <a:extLst>
                  <a:ext uri="{FF2B5EF4-FFF2-40B4-BE49-F238E27FC236}">
                    <a16:creationId xmlns:a16="http://schemas.microsoft.com/office/drawing/2014/main" id="{4EA790DE-F544-0E21-B8CC-CDE446DD37A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Freeform 48">
                <a:extLst>
                  <a:ext uri="{FF2B5EF4-FFF2-40B4-BE49-F238E27FC236}">
                    <a16:creationId xmlns:a16="http://schemas.microsoft.com/office/drawing/2014/main" id="{5DD8A1D6-1EB3-2A3B-89CE-DAF7E0F6E45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Freeform 49">
                <a:extLst>
                  <a:ext uri="{FF2B5EF4-FFF2-40B4-BE49-F238E27FC236}">
                    <a16:creationId xmlns:a16="http://schemas.microsoft.com/office/drawing/2014/main" id="{1BBF2685-083C-9C42-D827-D957A4063EC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Freeform 50">
                <a:extLst>
                  <a:ext uri="{FF2B5EF4-FFF2-40B4-BE49-F238E27FC236}">
                    <a16:creationId xmlns:a16="http://schemas.microsoft.com/office/drawing/2014/main" id="{F9BB8157-E200-5993-B0A5-99CE0A700F5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Freeform 51">
                <a:extLst>
                  <a:ext uri="{FF2B5EF4-FFF2-40B4-BE49-F238E27FC236}">
                    <a16:creationId xmlns:a16="http://schemas.microsoft.com/office/drawing/2014/main" id="{52F83032-EC46-FE97-A8C6-EFDE4962C7C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43" name="Freeform 52">
                <a:extLst>
                  <a:ext uri="{FF2B5EF4-FFF2-40B4-BE49-F238E27FC236}">
                    <a16:creationId xmlns:a16="http://schemas.microsoft.com/office/drawing/2014/main" id="{F202F8AD-0F58-08C8-C115-9B280DA41F2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6BCABEF-F343-F381-DCBA-ECE6804C1DAB}"/>
                </a:ext>
              </a:extLst>
            </p:cNvPr>
            <p:cNvSpPr txBox="1"/>
            <p:nvPr/>
          </p:nvSpPr>
          <p:spPr>
            <a:xfrm>
              <a:off x="15301" y="-154129"/>
              <a:ext cx="5782398" cy="579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训练结果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BCCACE56-B713-731B-19F8-EF34240DF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737"/>
          <a:stretch>
            <a:fillRect/>
          </a:stretch>
        </p:blipFill>
        <p:spPr>
          <a:xfrm>
            <a:off x="6484362" y="1336161"/>
            <a:ext cx="2255130" cy="25200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28129498-B6CD-00E2-5A7E-B7C7136107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82"/>
          <a:stretch>
            <a:fillRect/>
          </a:stretch>
        </p:blipFill>
        <p:spPr>
          <a:xfrm>
            <a:off x="8832039" y="1336161"/>
            <a:ext cx="2475936" cy="2520000"/>
          </a:xfrm>
          <a:prstGeom prst="rect">
            <a:avLst/>
          </a:prstGeom>
        </p:spPr>
      </p:pic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CE1FC9B-69BF-A204-E096-B579223EB19B}"/>
              </a:ext>
            </a:extLst>
          </p:cNvPr>
          <p:cNvSpPr/>
          <p:nvPr/>
        </p:nvSpPr>
        <p:spPr>
          <a:xfrm>
            <a:off x="7807686" y="3296681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3D32B0B-97EB-B6CC-0B14-9D4C347A181E}"/>
              </a:ext>
            </a:extLst>
          </p:cNvPr>
          <p:cNvSpPr/>
          <p:nvPr/>
        </p:nvSpPr>
        <p:spPr>
          <a:xfrm>
            <a:off x="10229402" y="3288000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CFA5B15-3791-2F03-CD42-2B4FEBD023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7263"/>
          <a:stretch>
            <a:fillRect/>
          </a:stretch>
        </p:blipFill>
        <p:spPr>
          <a:xfrm>
            <a:off x="6567197" y="4018551"/>
            <a:ext cx="2089459" cy="243874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477CF259-D233-8F61-924F-E01CB767BA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924"/>
          <a:stretch>
            <a:fillRect/>
          </a:stretch>
        </p:blipFill>
        <p:spPr>
          <a:xfrm>
            <a:off x="8832039" y="4018551"/>
            <a:ext cx="2302621" cy="2438740"/>
          </a:xfrm>
          <a:prstGeom prst="rect">
            <a:avLst/>
          </a:prstGeom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0D4CD016-D001-155C-F52A-77D909D8BA6A}"/>
              </a:ext>
            </a:extLst>
          </p:cNvPr>
          <p:cNvSpPr/>
          <p:nvPr/>
        </p:nvSpPr>
        <p:spPr>
          <a:xfrm>
            <a:off x="7447260" y="6058404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62B11F88-E795-FE22-6753-87364182F640}"/>
              </a:ext>
            </a:extLst>
          </p:cNvPr>
          <p:cNvSpPr/>
          <p:nvPr/>
        </p:nvSpPr>
        <p:spPr>
          <a:xfrm>
            <a:off x="9910487" y="6058404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0C753853-C794-E557-B040-810378403B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5784"/>
          <a:stretch>
            <a:fillRect/>
          </a:stretch>
        </p:blipFill>
        <p:spPr>
          <a:xfrm>
            <a:off x="379668" y="1189231"/>
            <a:ext cx="2487017" cy="282932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A11D9168-ECD9-DB42-217C-69DD3094E3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980"/>
          <a:stretch>
            <a:fillRect/>
          </a:stretch>
        </p:blipFill>
        <p:spPr>
          <a:xfrm>
            <a:off x="2724492" y="1189231"/>
            <a:ext cx="2690842" cy="2829320"/>
          </a:xfrm>
          <a:prstGeom prst="rect">
            <a:avLst/>
          </a:prstGeom>
        </p:spPr>
      </p:pic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0F5607F-88B9-4DDE-3F5A-AE1A904B3FA9}"/>
              </a:ext>
            </a:extLst>
          </p:cNvPr>
          <p:cNvSpPr/>
          <p:nvPr/>
        </p:nvSpPr>
        <p:spPr>
          <a:xfrm>
            <a:off x="4304663" y="3418950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3C955448-407C-B5A4-38D5-6A62C93C5101}"/>
              </a:ext>
            </a:extLst>
          </p:cNvPr>
          <p:cNvSpPr/>
          <p:nvPr/>
        </p:nvSpPr>
        <p:spPr>
          <a:xfrm>
            <a:off x="1949066" y="3418950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6BD33D2-43EC-C5D9-D722-B770470D463B}"/>
              </a:ext>
            </a:extLst>
          </p:cNvPr>
          <p:cNvSpPr/>
          <p:nvPr/>
        </p:nvSpPr>
        <p:spPr>
          <a:xfrm>
            <a:off x="2853890" y="3457413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E7794887-B21B-88BF-94CE-40B814A86CAA}"/>
              </a:ext>
            </a:extLst>
          </p:cNvPr>
          <p:cNvSpPr/>
          <p:nvPr/>
        </p:nvSpPr>
        <p:spPr>
          <a:xfrm>
            <a:off x="498293" y="3457413"/>
            <a:ext cx="691761" cy="4820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717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B62F-3BAF-6E0A-E73B-0EFFD02E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A310D20-B96D-1BA6-6F39-5FE156832B36}"/>
              </a:ext>
            </a:extLst>
          </p:cNvPr>
          <p:cNvGrpSpPr/>
          <p:nvPr/>
        </p:nvGrpSpPr>
        <p:grpSpPr>
          <a:xfrm>
            <a:off x="507985" y="1000147"/>
            <a:ext cx="5287827" cy="5434054"/>
            <a:chOff x="3296222" y="2460521"/>
            <a:chExt cx="6163434" cy="295106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4F357E9-B58B-9292-85E8-6C0E3BA38601}"/>
                </a:ext>
              </a:extLst>
            </p:cNvPr>
            <p:cNvSpPr/>
            <p:nvPr/>
          </p:nvSpPr>
          <p:spPr>
            <a:xfrm>
              <a:off x="3296222" y="2460521"/>
              <a:ext cx="6163434" cy="295106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7FF441D-F45D-708C-3600-A225203D8557}"/>
                </a:ext>
              </a:extLst>
            </p:cNvPr>
            <p:cNvSpPr txBox="1"/>
            <p:nvPr/>
          </p:nvSpPr>
          <p:spPr>
            <a:xfrm>
              <a:off x="3868454" y="2606316"/>
              <a:ext cx="5018969" cy="2657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t">
                <a:lnSpc>
                  <a:spcPct val="150000"/>
                </a:lnSpc>
              </a:pPr>
              <a:r>
                <a:rPr lang="zh-CN" altLang="en-US" sz="2400" b="1" dirty="0">
                  <a:latin typeface="+mj-lt"/>
                  <a:ea typeface="黑体" panose="02010609060101010101" pitchFamily="49" charset="-122"/>
                </a:rPr>
                <a:t>引入注意力机制</a:t>
              </a:r>
              <a:endParaRPr lang="en-US" altLang="zh-CN" sz="2400" b="1" dirty="0">
                <a:latin typeface="+mj-lt"/>
                <a:ea typeface="黑体" panose="02010609060101010101" pitchFamily="49" charset="-122"/>
              </a:endParaRPr>
            </a:p>
            <a:p>
              <a:pPr algn="ctr" fontAlgn="t">
                <a:lnSpc>
                  <a:spcPct val="150000"/>
                </a:lnSpc>
              </a:pPr>
              <a:endParaRPr lang="en-US" altLang="zh-CN" sz="24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目前整个</a:t>
              </a:r>
              <a:r>
                <a:rPr lang="en-US" altLang="zh-CN" sz="2000" b="1" dirty="0">
                  <a:latin typeface="+mj-lt"/>
                  <a:ea typeface="黑体" panose="02010609060101010101" pitchFamily="49" charset="-122"/>
                </a:rPr>
                <a:t>DC-CGAN</a:t>
              </a: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模型在特征细节的生成上还存在极大进步空间，引入注意力机制可以增强其局部特征细节的生成能力。</a:t>
              </a:r>
              <a:endParaRPr lang="en-US" altLang="zh-CN" sz="20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endParaRPr lang="en-US" altLang="zh-CN" sz="20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同时，生成器在训练时的表现还不够稳定，优化生成器的结构可以使训练效率更高。</a:t>
              </a:r>
              <a:endParaRPr lang="en-US" altLang="zh-CN" sz="2000" b="1" dirty="0"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C9DA79-846F-18D0-76F3-F75006DC03E8}"/>
              </a:ext>
            </a:extLst>
          </p:cNvPr>
          <p:cNvGrpSpPr/>
          <p:nvPr/>
        </p:nvGrpSpPr>
        <p:grpSpPr>
          <a:xfrm>
            <a:off x="-1887" y="-129041"/>
            <a:ext cx="12192000" cy="682376"/>
            <a:chOff x="0" y="-154129"/>
            <a:chExt cx="12192000" cy="68237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722ACC-559B-DEEA-DB2A-295FAA6FF30F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8" name="jwc_logo">
              <a:extLst>
                <a:ext uri="{FF2B5EF4-FFF2-40B4-BE49-F238E27FC236}">
                  <a16:creationId xmlns:a16="http://schemas.microsoft.com/office/drawing/2014/main" id="{0D07649E-EC8F-655C-DAEA-470E9E99A9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10" name="Freeform 34">
                <a:extLst>
                  <a:ext uri="{FF2B5EF4-FFF2-40B4-BE49-F238E27FC236}">
                    <a16:creationId xmlns:a16="http://schemas.microsoft.com/office/drawing/2014/main" id="{DB5F6BBC-1F1F-5E22-384F-6281B70D0D7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Freeform 35">
                <a:extLst>
                  <a:ext uri="{FF2B5EF4-FFF2-40B4-BE49-F238E27FC236}">
                    <a16:creationId xmlns:a16="http://schemas.microsoft.com/office/drawing/2014/main" id="{108B5F36-7F33-8BB3-DADF-AE98A793AA3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Freeform 36">
                <a:extLst>
                  <a:ext uri="{FF2B5EF4-FFF2-40B4-BE49-F238E27FC236}">
                    <a16:creationId xmlns:a16="http://schemas.microsoft.com/office/drawing/2014/main" id="{FFF13FC8-2C4F-6EF7-A788-43537077FFA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37">
                <a:extLst>
                  <a:ext uri="{FF2B5EF4-FFF2-40B4-BE49-F238E27FC236}">
                    <a16:creationId xmlns:a16="http://schemas.microsoft.com/office/drawing/2014/main" id="{BE3920E4-C190-8612-4F7B-871BA2BCA33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38">
                <a:extLst>
                  <a:ext uri="{FF2B5EF4-FFF2-40B4-BE49-F238E27FC236}">
                    <a16:creationId xmlns:a16="http://schemas.microsoft.com/office/drawing/2014/main" id="{C008A31C-480D-AF4C-E745-ADFCDBE4600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39">
                <a:extLst>
                  <a:ext uri="{FF2B5EF4-FFF2-40B4-BE49-F238E27FC236}">
                    <a16:creationId xmlns:a16="http://schemas.microsoft.com/office/drawing/2014/main" id="{620BC6FD-DFFA-9E3F-A1CC-BB1BA48264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40">
                <a:extLst>
                  <a:ext uri="{FF2B5EF4-FFF2-40B4-BE49-F238E27FC236}">
                    <a16:creationId xmlns:a16="http://schemas.microsoft.com/office/drawing/2014/main" id="{464647B1-B9DB-70E6-942F-D0B6A3C530E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41">
                <a:extLst>
                  <a:ext uri="{FF2B5EF4-FFF2-40B4-BE49-F238E27FC236}">
                    <a16:creationId xmlns:a16="http://schemas.microsoft.com/office/drawing/2014/main" id="{6CA90425-BE48-767F-7A55-3B13863C4EC3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42">
                <a:extLst>
                  <a:ext uri="{FF2B5EF4-FFF2-40B4-BE49-F238E27FC236}">
                    <a16:creationId xmlns:a16="http://schemas.microsoft.com/office/drawing/2014/main" id="{7D82F056-A7B3-1DBF-07E3-C2402FDD34B6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43">
                <a:extLst>
                  <a:ext uri="{FF2B5EF4-FFF2-40B4-BE49-F238E27FC236}">
                    <a16:creationId xmlns:a16="http://schemas.microsoft.com/office/drawing/2014/main" id="{0C59DB34-7BE6-C6E0-6592-B8167DE6A7C0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4">
                <a:extLst>
                  <a:ext uri="{FF2B5EF4-FFF2-40B4-BE49-F238E27FC236}">
                    <a16:creationId xmlns:a16="http://schemas.microsoft.com/office/drawing/2014/main" id="{11294D8D-2F49-6EC0-582A-5387D007B4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5">
                <a:extLst>
                  <a:ext uri="{FF2B5EF4-FFF2-40B4-BE49-F238E27FC236}">
                    <a16:creationId xmlns:a16="http://schemas.microsoft.com/office/drawing/2014/main" id="{AFB58B5E-CDB9-0913-DDBD-E233C82FD79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46">
                <a:extLst>
                  <a:ext uri="{FF2B5EF4-FFF2-40B4-BE49-F238E27FC236}">
                    <a16:creationId xmlns:a16="http://schemas.microsoft.com/office/drawing/2014/main" id="{6DF2FC1D-C9D6-38BB-7B12-C363AD4287E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47">
                <a:extLst>
                  <a:ext uri="{FF2B5EF4-FFF2-40B4-BE49-F238E27FC236}">
                    <a16:creationId xmlns:a16="http://schemas.microsoft.com/office/drawing/2014/main" id="{232D8922-15F2-1C0A-D600-74A63ED30A1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48">
                <a:extLst>
                  <a:ext uri="{FF2B5EF4-FFF2-40B4-BE49-F238E27FC236}">
                    <a16:creationId xmlns:a16="http://schemas.microsoft.com/office/drawing/2014/main" id="{5E879311-8EB0-21F9-58D3-C6AFA492A50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Freeform 49">
                <a:extLst>
                  <a:ext uri="{FF2B5EF4-FFF2-40B4-BE49-F238E27FC236}">
                    <a16:creationId xmlns:a16="http://schemas.microsoft.com/office/drawing/2014/main" id="{C911E78D-95B5-F4D3-FD21-BA1722B1DC3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Freeform 50">
                <a:extLst>
                  <a:ext uri="{FF2B5EF4-FFF2-40B4-BE49-F238E27FC236}">
                    <a16:creationId xmlns:a16="http://schemas.microsoft.com/office/drawing/2014/main" id="{B23A03AB-1F66-2B8A-C8C2-09F26D10933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Freeform 51">
                <a:extLst>
                  <a:ext uri="{FF2B5EF4-FFF2-40B4-BE49-F238E27FC236}">
                    <a16:creationId xmlns:a16="http://schemas.microsoft.com/office/drawing/2014/main" id="{D908BB1C-5C16-8FF8-85C3-E4C2ED26447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Freeform 52">
                <a:extLst>
                  <a:ext uri="{FF2B5EF4-FFF2-40B4-BE49-F238E27FC236}">
                    <a16:creationId xmlns:a16="http://schemas.microsoft.com/office/drawing/2014/main" id="{28DF50F7-453D-2714-BFDF-44BFB4495E7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D49588-9456-6F2F-40BF-E5AA9227FD6A}"/>
                </a:ext>
              </a:extLst>
            </p:cNvPr>
            <p:cNvSpPr txBox="1"/>
            <p:nvPr/>
          </p:nvSpPr>
          <p:spPr>
            <a:xfrm>
              <a:off x="15301" y="-154129"/>
              <a:ext cx="5782398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rPr>
                <a:t>展望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E5C9330-5061-05F0-76EA-9FB66B1D4E47}"/>
              </a:ext>
            </a:extLst>
          </p:cNvPr>
          <p:cNvGrpSpPr/>
          <p:nvPr/>
        </p:nvGrpSpPr>
        <p:grpSpPr>
          <a:xfrm>
            <a:off x="6094113" y="998410"/>
            <a:ext cx="5287827" cy="5434054"/>
            <a:chOff x="3296222" y="2460521"/>
            <a:chExt cx="6163434" cy="2951064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0E683A4-2411-93D6-4477-85168DADA681}"/>
                </a:ext>
              </a:extLst>
            </p:cNvPr>
            <p:cNvSpPr/>
            <p:nvPr/>
          </p:nvSpPr>
          <p:spPr>
            <a:xfrm>
              <a:off x="3296222" y="2460521"/>
              <a:ext cx="6163434" cy="295106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281CE70-F0FA-0BCC-A48D-8BA3878689A9}"/>
                </a:ext>
              </a:extLst>
            </p:cNvPr>
            <p:cNvSpPr txBox="1"/>
            <p:nvPr/>
          </p:nvSpPr>
          <p:spPr>
            <a:xfrm>
              <a:off x="3639922" y="2607259"/>
              <a:ext cx="5599598" cy="2657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t">
                <a:lnSpc>
                  <a:spcPct val="150000"/>
                </a:lnSpc>
              </a:pPr>
              <a:r>
                <a:rPr lang="zh-CN" altLang="en-US" sz="2400" b="1" dirty="0">
                  <a:latin typeface="+mj-lt"/>
                  <a:ea typeface="黑体" panose="02010609060101010101" pitchFamily="49" charset="-122"/>
                </a:rPr>
                <a:t>优化损失函数和训练逻辑</a:t>
              </a:r>
              <a:endParaRPr lang="en-US" altLang="zh-CN" sz="2400" b="1" dirty="0">
                <a:latin typeface="+mj-lt"/>
                <a:ea typeface="黑体" panose="02010609060101010101" pitchFamily="49" charset="-122"/>
              </a:endParaRPr>
            </a:p>
            <a:p>
              <a:pPr algn="just" fontAlgn="t">
                <a:lnSpc>
                  <a:spcPct val="150000"/>
                </a:lnSpc>
              </a:pPr>
              <a:endParaRPr lang="en-US" altLang="zh-CN" sz="24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目前</a:t>
              </a:r>
              <a:r>
                <a:rPr lang="en-US" altLang="zh-CN" sz="2000" b="1" dirty="0">
                  <a:latin typeface="+mj-lt"/>
                  <a:ea typeface="黑体" panose="02010609060101010101" pitchFamily="49" charset="-122"/>
                </a:rPr>
                <a:t>DC-CGAN</a:t>
              </a: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模型在训练时仅使用简单的梯度下降，在对抗训练中容易发生振荡，优化能力弱。通过引入梯度惩罚和动态更新参数可以使训练更加平稳高效。</a:t>
              </a:r>
              <a:endParaRPr lang="en-US" altLang="zh-CN" sz="20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endParaRPr lang="en-US" altLang="zh-CN" sz="2000" b="1" dirty="0">
                <a:latin typeface="+mj-lt"/>
                <a:ea typeface="黑体" panose="02010609060101010101" pitchFamily="49" charset="-122"/>
              </a:endParaRPr>
            </a:p>
            <a:p>
              <a:pPr indent="457200" algn="just" fontAlgn="t">
                <a:lnSpc>
                  <a:spcPct val="150000"/>
                </a:lnSpc>
              </a:pPr>
              <a:r>
                <a:rPr lang="zh-CN" altLang="en-US" sz="2000" b="1" dirty="0">
                  <a:latin typeface="+mj-lt"/>
                  <a:ea typeface="黑体" panose="02010609060101010101" pitchFamily="49" charset="-122"/>
                </a:rPr>
                <a:t>同时，像素级修复生成器的训练效果较差，还需要进一步探索网络结构和训练参数等。</a:t>
              </a:r>
              <a:endParaRPr lang="en-US" altLang="zh-CN" b="1" dirty="0">
                <a:latin typeface="+mj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80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3B83-9E1D-6440-007C-37E78F35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4A64387-E747-063A-1404-AFAD4AB70E68}"/>
              </a:ext>
            </a:extLst>
          </p:cNvPr>
          <p:cNvGrpSpPr/>
          <p:nvPr/>
        </p:nvGrpSpPr>
        <p:grpSpPr>
          <a:xfrm>
            <a:off x="-1887" y="7070"/>
            <a:ext cx="12192000" cy="546265"/>
            <a:chOff x="0" y="-18018"/>
            <a:chExt cx="12192000" cy="5462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1920F86-2298-26A6-3B22-531F7F1FF8B7}"/>
                </a:ext>
              </a:extLst>
            </p:cNvPr>
            <p:cNvSpPr/>
            <p:nvPr/>
          </p:nvSpPr>
          <p:spPr>
            <a:xfrm>
              <a:off x="0" y="-18018"/>
              <a:ext cx="12192000" cy="546265"/>
            </a:xfrm>
            <a:prstGeom prst="rect">
              <a:avLst/>
            </a:prstGeom>
            <a:solidFill>
              <a:srgbClr val="2643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</a:endParaRPr>
            </a:p>
          </p:txBody>
        </p:sp>
        <p:grpSp>
          <p:nvGrpSpPr>
            <p:cNvPr id="4" name="jwc_logo">
              <a:extLst>
                <a:ext uri="{FF2B5EF4-FFF2-40B4-BE49-F238E27FC236}">
                  <a16:creationId xmlns:a16="http://schemas.microsoft.com/office/drawing/2014/main" id="{B62EB3B9-0198-FD73-9D61-58FD9643D9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68273" y="38432"/>
              <a:ext cx="2708490" cy="461724"/>
              <a:chOff x="8729725" y="4570716"/>
              <a:chExt cx="2830513" cy="477838"/>
            </a:xfrm>
            <a:solidFill>
              <a:schemeClr val="bg1"/>
            </a:solidFill>
          </p:grpSpPr>
          <p:sp>
            <p:nvSpPr>
              <p:cNvPr id="6" name="Freeform 34">
                <a:extLst>
                  <a:ext uri="{FF2B5EF4-FFF2-40B4-BE49-F238E27FC236}">
                    <a16:creationId xmlns:a16="http://schemas.microsoft.com/office/drawing/2014/main" id="{AA53E702-443D-575C-32E8-F24AAA1844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945366"/>
                <a:ext cx="1363663" cy="101600"/>
              </a:xfrm>
              <a:custGeom>
                <a:avLst/>
                <a:gdLst>
                  <a:gd name="T0" fmla="*/ 15 w 915"/>
                  <a:gd name="T1" fmla="*/ 51 h 68"/>
                  <a:gd name="T2" fmla="*/ 14 w 915"/>
                  <a:gd name="T3" fmla="*/ 11 h 68"/>
                  <a:gd name="T4" fmla="*/ 35 w 915"/>
                  <a:gd name="T5" fmla="*/ 4 h 68"/>
                  <a:gd name="T6" fmla="*/ 77 w 915"/>
                  <a:gd name="T7" fmla="*/ 51 h 68"/>
                  <a:gd name="T8" fmla="*/ 74 w 915"/>
                  <a:gd name="T9" fmla="*/ 51 h 68"/>
                  <a:gd name="T10" fmla="*/ 57 w 915"/>
                  <a:gd name="T11" fmla="*/ 21 h 68"/>
                  <a:gd name="T12" fmla="*/ 108 w 915"/>
                  <a:gd name="T13" fmla="*/ 0 h 68"/>
                  <a:gd name="T14" fmla="*/ 104 w 915"/>
                  <a:gd name="T15" fmla="*/ 32 h 68"/>
                  <a:gd name="T16" fmla="*/ 134 w 915"/>
                  <a:gd name="T17" fmla="*/ 21 h 68"/>
                  <a:gd name="T18" fmla="*/ 155 w 915"/>
                  <a:gd name="T19" fmla="*/ 21 h 68"/>
                  <a:gd name="T20" fmla="*/ 187 w 915"/>
                  <a:gd name="T21" fmla="*/ 46 h 68"/>
                  <a:gd name="T22" fmla="*/ 169 w 915"/>
                  <a:gd name="T23" fmla="*/ 29 h 68"/>
                  <a:gd name="T24" fmla="*/ 221 w 915"/>
                  <a:gd name="T25" fmla="*/ 24 h 68"/>
                  <a:gd name="T26" fmla="*/ 198 w 915"/>
                  <a:gd name="T27" fmla="*/ 52 h 68"/>
                  <a:gd name="T28" fmla="*/ 209 w 915"/>
                  <a:gd name="T29" fmla="*/ 18 h 68"/>
                  <a:gd name="T30" fmla="*/ 247 w 915"/>
                  <a:gd name="T31" fmla="*/ 51 h 68"/>
                  <a:gd name="T32" fmla="*/ 244 w 915"/>
                  <a:gd name="T33" fmla="*/ 42 h 68"/>
                  <a:gd name="T34" fmla="*/ 271 w 915"/>
                  <a:gd name="T35" fmla="*/ 1 h 68"/>
                  <a:gd name="T36" fmla="*/ 276 w 915"/>
                  <a:gd name="T37" fmla="*/ 51 h 68"/>
                  <a:gd name="T38" fmla="*/ 259 w 915"/>
                  <a:gd name="T39" fmla="*/ 22 h 68"/>
                  <a:gd name="T40" fmla="*/ 301 w 915"/>
                  <a:gd name="T41" fmla="*/ 46 h 68"/>
                  <a:gd name="T42" fmla="*/ 292 w 915"/>
                  <a:gd name="T43" fmla="*/ 7 h 68"/>
                  <a:gd name="T44" fmla="*/ 333 w 915"/>
                  <a:gd name="T45" fmla="*/ 20 h 68"/>
                  <a:gd name="T46" fmla="*/ 309 w 915"/>
                  <a:gd name="T47" fmla="*/ 67 h 68"/>
                  <a:gd name="T48" fmla="*/ 305 w 915"/>
                  <a:gd name="T49" fmla="*/ 19 h 68"/>
                  <a:gd name="T50" fmla="*/ 379 w 915"/>
                  <a:gd name="T51" fmla="*/ 18 h 68"/>
                  <a:gd name="T52" fmla="*/ 415 w 915"/>
                  <a:gd name="T53" fmla="*/ 44 h 68"/>
                  <a:gd name="T54" fmla="*/ 403 w 915"/>
                  <a:gd name="T55" fmla="*/ 21 h 68"/>
                  <a:gd name="T56" fmla="*/ 425 w 915"/>
                  <a:gd name="T57" fmla="*/ 5 h 68"/>
                  <a:gd name="T58" fmla="*/ 475 w 915"/>
                  <a:gd name="T59" fmla="*/ 19 h 68"/>
                  <a:gd name="T60" fmla="*/ 465 w 915"/>
                  <a:gd name="T61" fmla="*/ 54 h 68"/>
                  <a:gd name="T62" fmla="*/ 471 w 915"/>
                  <a:gd name="T63" fmla="*/ 48 h 68"/>
                  <a:gd name="T64" fmla="*/ 474 w 915"/>
                  <a:gd name="T65" fmla="*/ 4 h 68"/>
                  <a:gd name="T66" fmla="*/ 516 w 915"/>
                  <a:gd name="T67" fmla="*/ 28 h 68"/>
                  <a:gd name="T68" fmla="*/ 517 w 915"/>
                  <a:gd name="T69" fmla="*/ 40 h 68"/>
                  <a:gd name="T70" fmla="*/ 537 w 915"/>
                  <a:gd name="T71" fmla="*/ 49 h 68"/>
                  <a:gd name="T72" fmla="*/ 528 w 915"/>
                  <a:gd name="T73" fmla="*/ 23 h 68"/>
                  <a:gd name="T74" fmla="*/ 565 w 915"/>
                  <a:gd name="T75" fmla="*/ 53 h 68"/>
                  <a:gd name="T76" fmla="*/ 563 w 915"/>
                  <a:gd name="T77" fmla="*/ 21 h 68"/>
                  <a:gd name="T78" fmla="*/ 620 w 915"/>
                  <a:gd name="T79" fmla="*/ 52 h 68"/>
                  <a:gd name="T80" fmla="*/ 596 w 915"/>
                  <a:gd name="T81" fmla="*/ 49 h 68"/>
                  <a:gd name="T82" fmla="*/ 587 w 915"/>
                  <a:gd name="T83" fmla="*/ 22 h 68"/>
                  <a:gd name="T84" fmla="*/ 642 w 915"/>
                  <a:gd name="T85" fmla="*/ 17 h 68"/>
                  <a:gd name="T86" fmla="*/ 643 w 915"/>
                  <a:gd name="T87" fmla="*/ 48 h 68"/>
                  <a:gd name="T88" fmla="*/ 667 w 915"/>
                  <a:gd name="T89" fmla="*/ 49 h 68"/>
                  <a:gd name="T90" fmla="*/ 671 w 915"/>
                  <a:gd name="T91" fmla="*/ 23 h 68"/>
                  <a:gd name="T92" fmla="*/ 726 w 915"/>
                  <a:gd name="T93" fmla="*/ 20 h 68"/>
                  <a:gd name="T94" fmla="*/ 739 w 915"/>
                  <a:gd name="T95" fmla="*/ 29 h 68"/>
                  <a:gd name="T96" fmla="*/ 731 w 915"/>
                  <a:gd name="T97" fmla="*/ 33 h 68"/>
                  <a:gd name="T98" fmla="*/ 778 w 915"/>
                  <a:gd name="T99" fmla="*/ 45 h 68"/>
                  <a:gd name="T100" fmla="*/ 771 w 915"/>
                  <a:gd name="T101" fmla="*/ 24 h 68"/>
                  <a:gd name="T102" fmla="*/ 753 w 915"/>
                  <a:gd name="T103" fmla="*/ 45 h 68"/>
                  <a:gd name="T104" fmla="*/ 803 w 915"/>
                  <a:gd name="T105" fmla="*/ 54 h 68"/>
                  <a:gd name="T106" fmla="*/ 816 w 915"/>
                  <a:gd name="T107" fmla="*/ 0 h 68"/>
                  <a:gd name="T108" fmla="*/ 812 w 915"/>
                  <a:gd name="T109" fmla="*/ 29 h 68"/>
                  <a:gd name="T110" fmla="*/ 881 w 915"/>
                  <a:gd name="T111" fmla="*/ 10 h 68"/>
                  <a:gd name="T112" fmla="*/ 859 w 915"/>
                  <a:gd name="T113" fmla="*/ 49 h 68"/>
                  <a:gd name="T114" fmla="*/ 903 w 915"/>
                  <a:gd name="T115" fmla="*/ 48 h 68"/>
                  <a:gd name="T116" fmla="*/ 891 w 915"/>
                  <a:gd name="T117" fmla="*/ 3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15" h="68">
                    <a:moveTo>
                      <a:pt x="35" y="4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49" y="4"/>
                      <a:pt x="47" y="5"/>
                      <a:pt x="46" y="6"/>
                    </a:cubicBezTo>
                    <a:cubicBezTo>
                      <a:pt x="46" y="7"/>
                      <a:pt x="45" y="9"/>
                      <a:pt x="45" y="1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7"/>
                      <a:pt x="45" y="41"/>
                      <a:pt x="44" y="43"/>
                    </a:cubicBezTo>
                    <a:cubicBezTo>
                      <a:pt x="43" y="46"/>
                      <a:pt x="41" y="49"/>
                      <a:pt x="38" y="51"/>
                    </a:cubicBezTo>
                    <a:cubicBezTo>
                      <a:pt x="35" y="53"/>
                      <a:pt x="31" y="53"/>
                      <a:pt x="27" y="53"/>
                    </a:cubicBezTo>
                    <a:cubicBezTo>
                      <a:pt x="21" y="53"/>
                      <a:pt x="17" y="53"/>
                      <a:pt x="15" y="51"/>
                    </a:cubicBezTo>
                    <a:cubicBezTo>
                      <a:pt x="12" y="49"/>
                      <a:pt x="10" y="46"/>
                      <a:pt x="9" y="43"/>
                    </a:cubicBezTo>
                    <a:cubicBezTo>
                      <a:pt x="8" y="41"/>
                      <a:pt x="7" y="37"/>
                      <a:pt x="7" y="3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6" y="5"/>
                    </a:cubicBezTo>
                    <a:cubicBezTo>
                      <a:pt x="5" y="4"/>
                      <a:pt x="4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7" y="3"/>
                      <a:pt x="15" y="4"/>
                      <a:pt x="15" y="5"/>
                    </a:cubicBezTo>
                    <a:cubicBezTo>
                      <a:pt x="14" y="6"/>
                      <a:pt x="14" y="8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5"/>
                      <a:pt x="14" y="37"/>
                      <a:pt x="14" y="40"/>
                    </a:cubicBezTo>
                    <a:cubicBezTo>
                      <a:pt x="15" y="43"/>
                      <a:pt x="15" y="45"/>
                      <a:pt x="16" y="46"/>
                    </a:cubicBezTo>
                    <a:cubicBezTo>
                      <a:pt x="17" y="48"/>
                      <a:pt x="19" y="49"/>
                      <a:pt x="20" y="50"/>
                    </a:cubicBezTo>
                    <a:cubicBezTo>
                      <a:pt x="22" y="51"/>
                      <a:pt x="24" y="51"/>
                      <a:pt x="27" y="51"/>
                    </a:cubicBezTo>
                    <a:cubicBezTo>
                      <a:pt x="30" y="51"/>
                      <a:pt x="33" y="50"/>
                      <a:pt x="35" y="49"/>
                    </a:cubicBezTo>
                    <a:cubicBezTo>
                      <a:pt x="37" y="47"/>
                      <a:pt x="39" y="46"/>
                      <a:pt x="40" y="43"/>
                    </a:cubicBezTo>
                    <a:cubicBezTo>
                      <a:pt x="41" y="41"/>
                      <a:pt x="41" y="37"/>
                      <a:pt x="41" y="3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9"/>
                      <a:pt x="41" y="7"/>
                      <a:pt x="40" y="6"/>
                    </a:cubicBezTo>
                    <a:cubicBezTo>
                      <a:pt x="39" y="5"/>
                      <a:pt x="38" y="4"/>
                      <a:pt x="36" y="4"/>
                    </a:cubicBezTo>
                    <a:cubicBezTo>
                      <a:pt x="35" y="4"/>
                      <a:pt x="35" y="4"/>
                      <a:pt x="35" y="4"/>
                    </a:cubicBezTo>
                    <a:close/>
                    <a:moveTo>
                      <a:pt x="69" y="25"/>
                    </a:moveTo>
                    <a:cubicBezTo>
                      <a:pt x="73" y="20"/>
                      <a:pt x="76" y="18"/>
                      <a:pt x="79" y="18"/>
                    </a:cubicBezTo>
                    <a:cubicBezTo>
                      <a:pt x="81" y="18"/>
                      <a:pt x="83" y="18"/>
                      <a:pt x="84" y="19"/>
                    </a:cubicBezTo>
                    <a:cubicBezTo>
                      <a:pt x="85" y="20"/>
                      <a:pt x="87" y="21"/>
                      <a:pt x="87" y="23"/>
                    </a:cubicBezTo>
                    <a:cubicBezTo>
                      <a:pt x="88" y="25"/>
                      <a:pt x="88" y="27"/>
                      <a:pt x="88" y="30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7"/>
                      <a:pt x="88" y="48"/>
                      <a:pt x="89" y="49"/>
                    </a:cubicBezTo>
                    <a:cubicBezTo>
                      <a:pt x="89" y="50"/>
                      <a:pt x="89" y="50"/>
                      <a:pt x="90" y="51"/>
                    </a:cubicBezTo>
                    <a:cubicBezTo>
                      <a:pt x="90" y="51"/>
                      <a:pt x="91" y="51"/>
                      <a:pt x="93" y="51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1"/>
                      <a:pt x="80" y="51"/>
                      <a:pt x="81" y="50"/>
                    </a:cubicBezTo>
                    <a:cubicBezTo>
                      <a:pt x="82" y="50"/>
                      <a:pt x="82" y="49"/>
                      <a:pt x="82" y="48"/>
                    </a:cubicBezTo>
                    <a:cubicBezTo>
                      <a:pt x="82" y="48"/>
                      <a:pt x="82" y="47"/>
                      <a:pt x="82" y="45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82" y="27"/>
                      <a:pt x="82" y="25"/>
                      <a:pt x="81" y="24"/>
                    </a:cubicBezTo>
                    <a:cubicBezTo>
                      <a:pt x="80" y="23"/>
                      <a:pt x="79" y="22"/>
                      <a:pt x="77" y="22"/>
                    </a:cubicBezTo>
                    <a:cubicBezTo>
                      <a:pt x="74" y="22"/>
                      <a:pt x="71" y="23"/>
                      <a:pt x="69" y="27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9" y="47"/>
                      <a:pt x="69" y="48"/>
                      <a:pt x="69" y="49"/>
                    </a:cubicBezTo>
                    <a:cubicBezTo>
                      <a:pt x="69" y="50"/>
                      <a:pt x="70" y="50"/>
                      <a:pt x="70" y="51"/>
                    </a:cubicBezTo>
                    <a:cubicBezTo>
                      <a:pt x="71" y="51"/>
                      <a:pt x="72" y="51"/>
                      <a:pt x="74" y="51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8" y="51"/>
                      <a:pt x="58" y="51"/>
                      <a:pt x="58" y="51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1"/>
                      <a:pt x="61" y="51"/>
                      <a:pt x="62" y="50"/>
                    </a:cubicBezTo>
                    <a:cubicBezTo>
                      <a:pt x="62" y="49"/>
                      <a:pt x="63" y="47"/>
                      <a:pt x="63" y="45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8"/>
                      <a:pt x="63" y="25"/>
                      <a:pt x="62" y="24"/>
                    </a:cubicBezTo>
                    <a:cubicBezTo>
                      <a:pt x="62" y="23"/>
                      <a:pt x="62" y="23"/>
                      <a:pt x="61" y="22"/>
                    </a:cubicBezTo>
                    <a:cubicBezTo>
                      <a:pt x="61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7" y="21"/>
                      <a:pt x="57" y="21"/>
                      <a:pt x="57" y="21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69" y="25"/>
                      <a:pt x="69" y="25"/>
                      <a:pt x="69" y="25"/>
                    </a:cubicBezTo>
                    <a:close/>
                    <a:moveTo>
                      <a:pt x="108" y="0"/>
                    </a:move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2"/>
                      <a:pt x="111" y="3"/>
                      <a:pt x="111" y="4"/>
                    </a:cubicBezTo>
                    <a:cubicBezTo>
                      <a:pt x="111" y="5"/>
                      <a:pt x="111" y="6"/>
                      <a:pt x="110" y="7"/>
                    </a:cubicBezTo>
                    <a:cubicBezTo>
                      <a:pt x="109" y="7"/>
                      <a:pt x="109" y="8"/>
                      <a:pt x="108" y="8"/>
                    </a:cubicBezTo>
                    <a:cubicBezTo>
                      <a:pt x="107" y="8"/>
                      <a:pt x="106" y="7"/>
                      <a:pt x="105" y="7"/>
                    </a:cubicBezTo>
                    <a:cubicBezTo>
                      <a:pt x="105" y="6"/>
                      <a:pt x="104" y="5"/>
                      <a:pt x="104" y="4"/>
                    </a:cubicBezTo>
                    <a:cubicBezTo>
                      <a:pt x="104" y="3"/>
                      <a:pt x="105" y="2"/>
                      <a:pt x="105" y="1"/>
                    </a:cubicBezTo>
                    <a:cubicBezTo>
                      <a:pt x="106" y="0"/>
                      <a:pt x="107" y="0"/>
                      <a:pt x="108" y="0"/>
                    </a:cubicBezTo>
                    <a:close/>
                    <a:moveTo>
                      <a:pt x="111" y="18"/>
                    </a:moveTo>
                    <a:cubicBezTo>
                      <a:pt x="111" y="45"/>
                      <a:pt x="111" y="45"/>
                      <a:pt x="111" y="45"/>
                    </a:cubicBezTo>
                    <a:cubicBezTo>
                      <a:pt x="111" y="47"/>
                      <a:pt x="111" y="49"/>
                      <a:pt x="111" y="49"/>
                    </a:cubicBezTo>
                    <a:cubicBezTo>
                      <a:pt x="111" y="50"/>
                      <a:pt x="112" y="51"/>
                      <a:pt x="112" y="51"/>
                    </a:cubicBezTo>
                    <a:cubicBezTo>
                      <a:pt x="113" y="51"/>
                      <a:pt x="114" y="51"/>
                      <a:pt x="115" y="51"/>
                    </a:cubicBezTo>
                    <a:cubicBezTo>
                      <a:pt x="115" y="53"/>
                      <a:pt x="115" y="53"/>
                      <a:pt x="115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101" y="51"/>
                      <a:pt x="102" y="51"/>
                      <a:pt x="103" y="51"/>
                    </a:cubicBezTo>
                    <a:cubicBezTo>
                      <a:pt x="103" y="51"/>
                      <a:pt x="103" y="50"/>
                      <a:pt x="104" y="49"/>
                    </a:cubicBezTo>
                    <a:cubicBezTo>
                      <a:pt x="104" y="49"/>
                      <a:pt x="104" y="47"/>
                      <a:pt x="104" y="45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8"/>
                      <a:pt x="104" y="26"/>
                      <a:pt x="104" y="25"/>
                    </a:cubicBezTo>
                    <a:cubicBezTo>
                      <a:pt x="104" y="24"/>
                      <a:pt x="103" y="23"/>
                      <a:pt x="103" y="23"/>
                    </a:cubicBezTo>
                    <a:cubicBezTo>
                      <a:pt x="103" y="23"/>
                      <a:pt x="102" y="23"/>
                      <a:pt x="101" y="23"/>
                    </a:cubicBezTo>
                    <a:cubicBezTo>
                      <a:pt x="101" y="23"/>
                      <a:pt x="100" y="23"/>
                      <a:pt x="99" y="23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11" y="18"/>
                      <a:pt x="111" y="18"/>
                      <a:pt x="111" y="18"/>
                    </a:cubicBezTo>
                    <a:close/>
                    <a:moveTo>
                      <a:pt x="122" y="19"/>
                    </a:moveTo>
                    <a:cubicBezTo>
                      <a:pt x="137" y="19"/>
                      <a:pt x="137" y="19"/>
                      <a:pt x="137" y="19"/>
                    </a:cubicBezTo>
                    <a:cubicBezTo>
                      <a:pt x="137" y="20"/>
                      <a:pt x="137" y="20"/>
                      <a:pt x="137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35" y="20"/>
                      <a:pt x="134" y="20"/>
                      <a:pt x="134" y="21"/>
                    </a:cubicBezTo>
                    <a:cubicBezTo>
                      <a:pt x="133" y="21"/>
                      <a:pt x="133" y="22"/>
                      <a:pt x="133" y="23"/>
                    </a:cubicBezTo>
                    <a:cubicBezTo>
                      <a:pt x="133" y="23"/>
                      <a:pt x="133" y="25"/>
                      <a:pt x="134" y="26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9" y="25"/>
                      <a:pt x="149" y="25"/>
                      <a:pt x="149" y="25"/>
                    </a:cubicBezTo>
                    <a:cubicBezTo>
                      <a:pt x="149" y="24"/>
                      <a:pt x="150" y="23"/>
                      <a:pt x="150" y="22"/>
                    </a:cubicBezTo>
                    <a:cubicBezTo>
                      <a:pt x="150" y="21"/>
                      <a:pt x="150" y="21"/>
                      <a:pt x="149" y="21"/>
                    </a:cubicBezTo>
                    <a:cubicBezTo>
                      <a:pt x="149" y="21"/>
                      <a:pt x="149" y="20"/>
                      <a:pt x="149" y="20"/>
                    </a:cubicBezTo>
                    <a:cubicBezTo>
                      <a:pt x="148" y="20"/>
                      <a:pt x="147" y="20"/>
                      <a:pt x="146" y="20"/>
                    </a:cubicBezTo>
                    <a:cubicBezTo>
                      <a:pt x="146" y="19"/>
                      <a:pt x="146" y="19"/>
                      <a:pt x="146" y="19"/>
                    </a:cubicBezTo>
                    <a:cubicBezTo>
                      <a:pt x="157" y="19"/>
                      <a:pt x="157" y="19"/>
                      <a:pt x="157" y="19"/>
                    </a:cubicBezTo>
                    <a:cubicBezTo>
                      <a:pt x="157" y="20"/>
                      <a:pt x="157" y="20"/>
                      <a:pt x="157" y="20"/>
                    </a:cubicBezTo>
                    <a:cubicBezTo>
                      <a:pt x="156" y="20"/>
                      <a:pt x="155" y="20"/>
                      <a:pt x="155" y="21"/>
                    </a:cubicBezTo>
                    <a:cubicBezTo>
                      <a:pt x="154" y="21"/>
                      <a:pt x="153" y="23"/>
                      <a:pt x="152" y="24"/>
                    </a:cubicBezTo>
                    <a:cubicBezTo>
                      <a:pt x="141" y="53"/>
                      <a:pt x="141" y="53"/>
                      <a:pt x="141" y="53"/>
                    </a:cubicBezTo>
                    <a:cubicBezTo>
                      <a:pt x="139" y="53"/>
                      <a:pt x="139" y="53"/>
                      <a:pt x="139" y="53"/>
                    </a:cubicBezTo>
                    <a:cubicBezTo>
                      <a:pt x="127" y="25"/>
                      <a:pt x="127" y="25"/>
                      <a:pt x="127" y="25"/>
                    </a:cubicBezTo>
                    <a:cubicBezTo>
                      <a:pt x="127" y="23"/>
                      <a:pt x="126" y="22"/>
                      <a:pt x="126" y="22"/>
                    </a:cubicBezTo>
                    <a:cubicBezTo>
                      <a:pt x="125" y="21"/>
                      <a:pt x="125" y="21"/>
                      <a:pt x="124" y="20"/>
                    </a:cubicBezTo>
                    <a:cubicBezTo>
                      <a:pt x="123" y="20"/>
                      <a:pt x="123" y="20"/>
                      <a:pt x="121" y="19"/>
                    </a:cubicBezTo>
                    <a:cubicBezTo>
                      <a:pt x="122" y="19"/>
                      <a:pt x="122" y="19"/>
                      <a:pt x="122" y="19"/>
                    </a:cubicBezTo>
                    <a:close/>
                    <a:moveTo>
                      <a:pt x="169" y="31"/>
                    </a:moveTo>
                    <a:cubicBezTo>
                      <a:pt x="169" y="37"/>
                      <a:pt x="170" y="40"/>
                      <a:pt x="173" y="43"/>
                    </a:cubicBezTo>
                    <a:cubicBezTo>
                      <a:pt x="175" y="46"/>
                      <a:pt x="178" y="48"/>
                      <a:pt x="181" y="48"/>
                    </a:cubicBezTo>
                    <a:cubicBezTo>
                      <a:pt x="183" y="48"/>
                      <a:pt x="185" y="47"/>
                      <a:pt x="187" y="46"/>
                    </a:cubicBezTo>
                    <a:cubicBezTo>
                      <a:pt x="188" y="45"/>
                      <a:pt x="189" y="43"/>
                      <a:pt x="191" y="39"/>
                    </a:cubicBezTo>
                    <a:cubicBezTo>
                      <a:pt x="192" y="40"/>
                      <a:pt x="192" y="40"/>
                      <a:pt x="192" y="40"/>
                    </a:cubicBezTo>
                    <a:cubicBezTo>
                      <a:pt x="191" y="43"/>
                      <a:pt x="190" y="47"/>
                      <a:pt x="187" y="49"/>
                    </a:cubicBezTo>
                    <a:cubicBezTo>
                      <a:pt x="185" y="52"/>
                      <a:pt x="182" y="53"/>
                      <a:pt x="178" y="53"/>
                    </a:cubicBezTo>
                    <a:cubicBezTo>
                      <a:pt x="174" y="53"/>
                      <a:pt x="171" y="52"/>
                      <a:pt x="168" y="49"/>
                    </a:cubicBezTo>
                    <a:cubicBezTo>
                      <a:pt x="165" y="45"/>
                      <a:pt x="164" y="41"/>
                      <a:pt x="164" y="36"/>
                    </a:cubicBezTo>
                    <a:cubicBezTo>
                      <a:pt x="164" y="30"/>
                      <a:pt x="166" y="25"/>
                      <a:pt x="169" y="22"/>
                    </a:cubicBezTo>
                    <a:cubicBezTo>
                      <a:pt x="171" y="19"/>
                      <a:pt x="175" y="17"/>
                      <a:pt x="179" y="17"/>
                    </a:cubicBezTo>
                    <a:cubicBezTo>
                      <a:pt x="183" y="17"/>
                      <a:pt x="186" y="19"/>
                      <a:pt x="189" y="21"/>
                    </a:cubicBezTo>
                    <a:cubicBezTo>
                      <a:pt x="191" y="23"/>
                      <a:pt x="192" y="27"/>
                      <a:pt x="192" y="31"/>
                    </a:cubicBezTo>
                    <a:cubicBezTo>
                      <a:pt x="169" y="31"/>
                      <a:pt x="169" y="31"/>
                      <a:pt x="169" y="31"/>
                    </a:cubicBezTo>
                    <a:close/>
                    <a:moveTo>
                      <a:pt x="169" y="29"/>
                    </a:moveTo>
                    <a:cubicBezTo>
                      <a:pt x="184" y="29"/>
                      <a:pt x="184" y="29"/>
                      <a:pt x="184" y="29"/>
                    </a:cubicBezTo>
                    <a:cubicBezTo>
                      <a:pt x="184" y="27"/>
                      <a:pt x="184" y="26"/>
                      <a:pt x="183" y="25"/>
                    </a:cubicBezTo>
                    <a:cubicBezTo>
                      <a:pt x="183" y="24"/>
                      <a:pt x="182" y="23"/>
                      <a:pt x="181" y="22"/>
                    </a:cubicBezTo>
                    <a:cubicBezTo>
                      <a:pt x="179" y="21"/>
                      <a:pt x="178" y="21"/>
                      <a:pt x="177" y="21"/>
                    </a:cubicBezTo>
                    <a:cubicBezTo>
                      <a:pt x="175" y="21"/>
                      <a:pt x="173" y="21"/>
                      <a:pt x="172" y="23"/>
                    </a:cubicBezTo>
                    <a:cubicBezTo>
                      <a:pt x="170" y="24"/>
                      <a:pt x="169" y="27"/>
                      <a:pt x="169" y="29"/>
                    </a:cubicBezTo>
                    <a:close/>
                    <a:moveTo>
                      <a:pt x="209" y="18"/>
                    </a:moveTo>
                    <a:cubicBezTo>
                      <a:pt x="209" y="25"/>
                      <a:pt x="209" y="25"/>
                      <a:pt x="209" y="25"/>
                    </a:cubicBezTo>
                    <a:cubicBezTo>
                      <a:pt x="212" y="20"/>
                      <a:pt x="215" y="18"/>
                      <a:pt x="218" y="18"/>
                    </a:cubicBezTo>
                    <a:cubicBezTo>
                      <a:pt x="219" y="18"/>
                      <a:pt x="220" y="18"/>
                      <a:pt x="221" y="19"/>
                    </a:cubicBezTo>
                    <a:cubicBezTo>
                      <a:pt x="222" y="20"/>
                      <a:pt x="222" y="21"/>
                      <a:pt x="222" y="22"/>
                    </a:cubicBezTo>
                    <a:cubicBezTo>
                      <a:pt x="222" y="23"/>
                      <a:pt x="222" y="23"/>
                      <a:pt x="221" y="24"/>
                    </a:cubicBezTo>
                    <a:cubicBezTo>
                      <a:pt x="221" y="25"/>
                      <a:pt x="220" y="25"/>
                      <a:pt x="219" y="25"/>
                    </a:cubicBezTo>
                    <a:cubicBezTo>
                      <a:pt x="218" y="25"/>
                      <a:pt x="217" y="25"/>
                      <a:pt x="216" y="24"/>
                    </a:cubicBezTo>
                    <a:cubicBezTo>
                      <a:pt x="215" y="23"/>
                      <a:pt x="214" y="23"/>
                      <a:pt x="214" y="23"/>
                    </a:cubicBezTo>
                    <a:cubicBezTo>
                      <a:pt x="213" y="23"/>
                      <a:pt x="213" y="23"/>
                      <a:pt x="213" y="24"/>
                    </a:cubicBezTo>
                    <a:cubicBezTo>
                      <a:pt x="211" y="25"/>
                      <a:pt x="211" y="27"/>
                      <a:pt x="209" y="29"/>
                    </a:cubicBezTo>
                    <a:cubicBezTo>
                      <a:pt x="209" y="45"/>
                      <a:pt x="209" y="45"/>
                      <a:pt x="209" y="45"/>
                    </a:cubicBezTo>
                    <a:cubicBezTo>
                      <a:pt x="209" y="47"/>
                      <a:pt x="210" y="49"/>
                      <a:pt x="210" y="50"/>
                    </a:cubicBezTo>
                    <a:cubicBezTo>
                      <a:pt x="211" y="51"/>
                      <a:pt x="211" y="51"/>
                      <a:pt x="212" y="51"/>
                    </a:cubicBezTo>
                    <a:cubicBezTo>
                      <a:pt x="213" y="52"/>
                      <a:pt x="214" y="52"/>
                      <a:pt x="215" y="52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198" y="53"/>
                      <a:pt x="198" y="53"/>
                      <a:pt x="198" y="53"/>
                    </a:cubicBezTo>
                    <a:cubicBezTo>
                      <a:pt x="198" y="52"/>
                      <a:pt x="198" y="52"/>
                      <a:pt x="198" y="52"/>
                    </a:cubicBezTo>
                    <a:cubicBezTo>
                      <a:pt x="200" y="52"/>
                      <a:pt x="201" y="52"/>
                      <a:pt x="202" y="51"/>
                    </a:cubicBezTo>
                    <a:cubicBezTo>
                      <a:pt x="202" y="51"/>
                      <a:pt x="203" y="50"/>
                      <a:pt x="203" y="49"/>
                    </a:cubicBezTo>
                    <a:cubicBezTo>
                      <a:pt x="203" y="49"/>
                      <a:pt x="203" y="48"/>
                      <a:pt x="203" y="46"/>
                    </a:cubicBezTo>
                    <a:cubicBezTo>
                      <a:pt x="203" y="33"/>
                      <a:pt x="203" y="33"/>
                      <a:pt x="203" y="33"/>
                    </a:cubicBezTo>
                    <a:cubicBezTo>
                      <a:pt x="203" y="29"/>
                      <a:pt x="203" y="26"/>
                      <a:pt x="203" y="25"/>
                    </a:cubicBezTo>
                    <a:cubicBezTo>
                      <a:pt x="203" y="25"/>
                      <a:pt x="202" y="24"/>
                      <a:pt x="202" y="24"/>
                    </a:cubicBezTo>
                    <a:cubicBezTo>
                      <a:pt x="201" y="23"/>
                      <a:pt x="201" y="23"/>
                      <a:pt x="200" y="23"/>
                    </a:cubicBezTo>
                    <a:cubicBezTo>
                      <a:pt x="199" y="23"/>
                      <a:pt x="199" y="23"/>
                      <a:pt x="198" y="24"/>
                    </a:cubicBezTo>
                    <a:cubicBezTo>
                      <a:pt x="197" y="23"/>
                      <a:pt x="197" y="23"/>
                      <a:pt x="197" y="23"/>
                    </a:cubicBezTo>
                    <a:cubicBezTo>
                      <a:pt x="207" y="19"/>
                      <a:pt x="207" y="19"/>
                      <a:pt x="207" y="19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9" y="18"/>
                      <a:pt x="209" y="18"/>
                      <a:pt x="209" y="18"/>
                    </a:cubicBezTo>
                    <a:close/>
                    <a:moveTo>
                      <a:pt x="249" y="18"/>
                    </a:moveTo>
                    <a:cubicBezTo>
                      <a:pt x="249" y="29"/>
                      <a:pt x="249" y="29"/>
                      <a:pt x="249" y="29"/>
                    </a:cubicBezTo>
                    <a:cubicBezTo>
                      <a:pt x="247" y="29"/>
                      <a:pt x="247" y="29"/>
                      <a:pt x="247" y="29"/>
                    </a:cubicBezTo>
                    <a:cubicBezTo>
                      <a:pt x="247" y="26"/>
                      <a:pt x="245" y="23"/>
                      <a:pt x="244" y="22"/>
                    </a:cubicBezTo>
                    <a:cubicBezTo>
                      <a:pt x="242" y="21"/>
                      <a:pt x="241" y="20"/>
                      <a:pt x="238" y="20"/>
                    </a:cubicBezTo>
                    <a:cubicBezTo>
                      <a:pt x="237" y="20"/>
                      <a:pt x="235" y="20"/>
                      <a:pt x="234" y="21"/>
                    </a:cubicBezTo>
                    <a:cubicBezTo>
                      <a:pt x="233" y="22"/>
                      <a:pt x="233" y="23"/>
                      <a:pt x="233" y="24"/>
                    </a:cubicBezTo>
                    <a:cubicBezTo>
                      <a:pt x="233" y="25"/>
                      <a:pt x="233" y="27"/>
                      <a:pt x="234" y="28"/>
                    </a:cubicBezTo>
                    <a:cubicBezTo>
                      <a:pt x="235" y="29"/>
                      <a:pt x="236" y="30"/>
                      <a:pt x="238" y="31"/>
                    </a:cubicBezTo>
                    <a:cubicBezTo>
                      <a:pt x="243" y="34"/>
                      <a:pt x="243" y="34"/>
                      <a:pt x="243" y="34"/>
                    </a:cubicBezTo>
                    <a:cubicBezTo>
                      <a:pt x="248" y="36"/>
                      <a:pt x="251" y="39"/>
                      <a:pt x="251" y="43"/>
                    </a:cubicBezTo>
                    <a:cubicBezTo>
                      <a:pt x="251" y="47"/>
                      <a:pt x="249" y="49"/>
                      <a:pt x="247" y="51"/>
                    </a:cubicBezTo>
                    <a:cubicBezTo>
                      <a:pt x="245" y="53"/>
                      <a:pt x="243" y="54"/>
                      <a:pt x="240" y="54"/>
                    </a:cubicBezTo>
                    <a:cubicBezTo>
                      <a:pt x="238" y="54"/>
                      <a:pt x="235" y="53"/>
                      <a:pt x="233" y="53"/>
                    </a:cubicBezTo>
                    <a:cubicBezTo>
                      <a:pt x="232" y="52"/>
                      <a:pt x="231" y="52"/>
                      <a:pt x="231" y="52"/>
                    </a:cubicBezTo>
                    <a:cubicBezTo>
                      <a:pt x="231" y="52"/>
                      <a:pt x="230" y="53"/>
                      <a:pt x="230" y="53"/>
                    </a:cubicBezTo>
                    <a:cubicBezTo>
                      <a:pt x="229" y="53"/>
                      <a:pt x="229" y="53"/>
                      <a:pt x="229" y="53"/>
                    </a:cubicBezTo>
                    <a:cubicBezTo>
                      <a:pt x="229" y="41"/>
                      <a:pt x="229" y="41"/>
                      <a:pt x="229" y="41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31" y="45"/>
                      <a:pt x="232" y="47"/>
                      <a:pt x="234" y="49"/>
                    </a:cubicBezTo>
                    <a:cubicBezTo>
                      <a:pt x="236" y="51"/>
                      <a:pt x="238" y="52"/>
                      <a:pt x="240" y="52"/>
                    </a:cubicBezTo>
                    <a:cubicBezTo>
                      <a:pt x="242" y="52"/>
                      <a:pt x="243" y="51"/>
                      <a:pt x="244" y="50"/>
                    </a:cubicBezTo>
                    <a:cubicBezTo>
                      <a:pt x="245" y="49"/>
                      <a:pt x="246" y="48"/>
                      <a:pt x="246" y="47"/>
                    </a:cubicBezTo>
                    <a:cubicBezTo>
                      <a:pt x="246" y="45"/>
                      <a:pt x="245" y="43"/>
                      <a:pt x="244" y="42"/>
                    </a:cubicBezTo>
                    <a:cubicBezTo>
                      <a:pt x="243" y="41"/>
                      <a:pt x="241" y="39"/>
                      <a:pt x="237" y="38"/>
                    </a:cubicBezTo>
                    <a:cubicBezTo>
                      <a:pt x="234" y="36"/>
                      <a:pt x="232" y="35"/>
                      <a:pt x="231" y="33"/>
                    </a:cubicBezTo>
                    <a:cubicBezTo>
                      <a:pt x="229" y="31"/>
                      <a:pt x="229" y="30"/>
                      <a:pt x="229" y="28"/>
                    </a:cubicBezTo>
                    <a:cubicBezTo>
                      <a:pt x="229" y="25"/>
                      <a:pt x="230" y="23"/>
                      <a:pt x="232" y="21"/>
                    </a:cubicBezTo>
                    <a:cubicBezTo>
                      <a:pt x="234" y="19"/>
                      <a:pt x="236" y="18"/>
                      <a:pt x="239" y="18"/>
                    </a:cubicBezTo>
                    <a:cubicBezTo>
                      <a:pt x="240" y="18"/>
                      <a:pt x="242" y="18"/>
                      <a:pt x="244" y="19"/>
                    </a:cubicBezTo>
                    <a:cubicBezTo>
                      <a:pt x="245" y="19"/>
                      <a:pt x="246" y="19"/>
                      <a:pt x="246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47" y="19"/>
                      <a:pt x="247" y="18"/>
                      <a:pt x="248" y="17"/>
                    </a:cubicBezTo>
                    <a:cubicBezTo>
                      <a:pt x="249" y="18"/>
                      <a:pt x="249" y="18"/>
                      <a:pt x="249" y="18"/>
                    </a:cubicBezTo>
                    <a:close/>
                    <a:moveTo>
                      <a:pt x="268" y="0"/>
                    </a:moveTo>
                    <a:cubicBezTo>
                      <a:pt x="269" y="0"/>
                      <a:pt x="270" y="0"/>
                      <a:pt x="271" y="1"/>
                    </a:cubicBezTo>
                    <a:cubicBezTo>
                      <a:pt x="271" y="2"/>
                      <a:pt x="272" y="3"/>
                      <a:pt x="272" y="4"/>
                    </a:cubicBezTo>
                    <a:cubicBezTo>
                      <a:pt x="272" y="5"/>
                      <a:pt x="271" y="6"/>
                      <a:pt x="271" y="7"/>
                    </a:cubicBezTo>
                    <a:cubicBezTo>
                      <a:pt x="270" y="7"/>
                      <a:pt x="269" y="8"/>
                      <a:pt x="268" y="8"/>
                    </a:cubicBezTo>
                    <a:cubicBezTo>
                      <a:pt x="267" y="8"/>
                      <a:pt x="266" y="7"/>
                      <a:pt x="266" y="7"/>
                    </a:cubicBezTo>
                    <a:cubicBezTo>
                      <a:pt x="265" y="6"/>
                      <a:pt x="265" y="5"/>
                      <a:pt x="265" y="4"/>
                    </a:cubicBezTo>
                    <a:cubicBezTo>
                      <a:pt x="265" y="3"/>
                      <a:pt x="265" y="2"/>
                      <a:pt x="266" y="1"/>
                    </a:cubicBezTo>
                    <a:cubicBezTo>
                      <a:pt x="266" y="0"/>
                      <a:pt x="267" y="0"/>
                      <a:pt x="268" y="0"/>
                    </a:cubicBezTo>
                    <a:close/>
                    <a:moveTo>
                      <a:pt x="271" y="18"/>
                    </a:moveTo>
                    <a:cubicBezTo>
                      <a:pt x="271" y="45"/>
                      <a:pt x="271" y="45"/>
                      <a:pt x="271" y="45"/>
                    </a:cubicBezTo>
                    <a:cubicBezTo>
                      <a:pt x="271" y="47"/>
                      <a:pt x="271" y="49"/>
                      <a:pt x="271" y="49"/>
                    </a:cubicBezTo>
                    <a:cubicBezTo>
                      <a:pt x="272" y="50"/>
                      <a:pt x="272" y="51"/>
                      <a:pt x="273" y="51"/>
                    </a:cubicBezTo>
                    <a:cubicBezTo>
                      <a:pt x="273" y="51"/>
                      <a:pt x="274" y="51"/>
                      <a:pt x="276" y="51"/>
                    </a:cubicBezTo>
                    <a:cubicBezTo>
                      <a:pt x="276" y="53"/>
                      <a:pt x="276" y="53"/>
                      <a:pt x="276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0" y="51"/>
                      <a:pt x="260" y="51"/>
                      <a:pt x="260" y="51"/>
                    </a:cubicBezTo>
                    <a:cubicBezTo>
                      <a:pt x="261" y="51"/>
                      <a:pt x="263" y="51"/>
                      <a:pt x="263" y="51"/>
                    </a:cubicBezTo>
                    <a:cubicBezTo>
                      <a:pt x="263" y="51"/>
                      <a:pt x="264" y="50"/>
                      <a:pt x="264" y="49"/>
                    </a:cubicBezTo>
                    <a:cubicBezTo>
                      <a:pt x="265" y="49"/>
                      <a:pt x="265" y="47"/>
                      <a:pt x="265" y="45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65" y="28"/>
                      <a:pt x="265" y="26"/>
                      <a:pt x="264" y="25"/>
                    </a:cubicBezTo>
                    <a:cubicBezTo>
                      <a:pt x="264" y="24"/>
                      <a:pt x="264" y="23"/>
                      <a:pt x="263" y="23"/>
                    </a:cubicBezTo>
                    <a:cubicBezTo>
                      <a:pt x="263" y="23"/>
                      <a:pt x="263" y="23"/>
                      <a:pt x="262" y="23"/>
                    </a:cubicBezTo>
                    <a:cubicBezTo>
                      <a:pt x="261" y="23"/>
                      <a:pt x="260" y="23"/>
                      <a:pt x="259" y="23"/>
                    </a:cubicBezTo>
                    <a:cubicBezTo>
                      <a:pt x="259" y="22"/>
                      <a:pt x="259" y="22"/>
                      <a:pt x="259" y="22"/>
                    </a:cubicBezTo>
                    <a:cubicBezTo>
                      <a:pt x="269" y="18"/>
                      <a:pt x="269" y="18"/>
                      <a:pt x="269" y="18"/>
                    </a:cubicBezTo>
                    <a:cubicBezTo>
                      <a:pt x="271" y="18"/>
                      <a:pt x="271" y="18"/>
                      <a:pt x="271" y="18"/>
                    </a:cubicBezTo>
                    <a:close/>
                    <a:moveTo>
                      <a:pt x="293" y="7"/>
                    </a:moveTo>
                    <a:cubicBezTo>
                      <a:pt x="293" y="19"/>
                      <a:pt x="293" y="19"/>
                      <a:pt x="293" y="19"/>
                    </a:cubicBezTo>
                    <a:cubicBezTo>
                      <a:pt x="301" y="19"/>
                      <a:pt x="301" y="19"/>
                      <a:pt x="301" y="19"/>
                    </a:cubicBezTo>
                    <a:cubicBezTo>
                      <a:pt x="301" y="21"/>
                      <a:pt x="301" y="21"/>
                      <a:pt x="301" y="21"/>
                    </a:cubicBezTo>
                    <a:cubicBezTo>
                      <a:pt x="293" y="21"/>
                      <a:pt x="293" y="21"/>
                      <a:pt x="293" y="21"/>
                    </a:cubicBezTo>
                    <a:cubicBezTo>
                      <a:pt x="293" y="43"/>
                      <a:pt x="293" y="43"/>
                      <a:pt x="293" y="43"/>
                    </a:cubicBezTo>
                    <a:cubicBezTo>
                      <a:pt x="293" y="45"/>
                      <a:pt x="294" y="47"/>
                      <a:pt x="294" y="48"/>
                    </a:cubicBezTo>
                    <a:cubicBezTo>
                      <a:pt x="295" y="49"/>
                      <a:pt x="295" y="49"/>
                      <a:pt x="297" y="49"/>
                    </a:cubicBezTo>
                    <a:cubicBezTo>
                      <a:pt x="297" y="49"/>
                      <a:pt x="298" y="49"/>
                      <a:pt x="299" y="48"/>
                    </a:cubicBezTo>
                    <a:cubicBezTo>
                      <a:pt x="300" y="48"/>
                      <a:pt x="300" y="47"/>
                      <a:pt x="301" y="46"/>
                    </a:cubicBezTo>
                    <a:cubicBezTo>
                      <a:pt x="302" y="46"/>
                      <a:pt x="302" y="46"/>
                      <a:pt x="302" y="46"/>
                    </a:cubicBezTo>
                    <a:cubicBezTo>
                      <a:pt x="301" y="48"/>
                      <a:pt x="300" y="50"/>
                      <a:pt x="298" y="51"/>
                    </a:cubicBezTo>
                    <a:cubicBezTo>
                      <a:pt x="297" y="53"/>
                      <a:pt x="295" y="53"/>
                      <a:pt x="293" y="53"/>
                    </a:cubicBezTo>
                    <a:cubicBezTo>
                      <a:pt x="292" y="53"/>
                      <a:pt x="291" y="53"/>
                      <a:pt x="290" y="53"/>
                    </a:cubicBezTo>
                    <a:cubicBezTo>
                      <a:pt x="289" y="52"/>
                      <a:pt x="288" y="51"/>
                      <a:pt x="288" y="50"/>
                    </a:cubicBezTo>
                    <a:cubicBezTo>
                      <a:pt x="287" y="49"/>
                      <a:pt x="287" y="47"/>
                      <a:pt x="287" y="44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2" y="21"/>
                      <a:pt x="282" y="21"/>
                      <a:pt x="282" y="21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283" y="20"/>
                      <a:pt x="285" y="19"/>
                      <a:pt x="286" y="17"/>
                    </a:cubicBezTo>
                    <a:cubicBezTo>
                      <a:pt x="287" y="16"/>
                      <a:pt x="288" y="15"/>
                      <a:pt x="289" y="13"/>
                    </a:cubicBezTo>
                    <a:cubicBezTo>
                      <a:pt x="290" y="12"/>
                      <a:pt x="291" y="10"/>
                      <a:pt x="292" y="7"/>
                    </a:cubicBezTo>
                    <a:cubicBezTo>
                      <a:pt x="293" y="7"/>
                      <a:pt x="293" y="7"/>
                      <a:pt x="293" y="7"/>
                    </a:cubicBezTo>
                    <a:close/>
                    <a:moveTo>
                      <a:pt x="306" y="19"/>
                    </a:moveTo>
                    <a:cubicBezTo>
                      <a:pt x="321" y="19"/>
                      <a:pt x="321" y="19"/>
                      <a:pt x="321" y="19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20"/>
                      <a:pt x="320" y="20"/>
                      <a:pt x="320" y="20"/>
                    </a:cubicBezTo>
                    <a:cubicBezTo>
                      <a:pt x="319" y="20"/>
                      <a:pt x="318" y="20"/>
                      <a:pt x="318" y="21"/>
                    </a:cubicBezTo>
                    <a:cubicBezTo>
                      <a:pt x="317" y="21"/>
                      <a:pt x="317" y="22"/>
                      <a:pt x="317" y="22"/>
                    </a:cubicBezTo>
                    <a:cubicBezTo>
                      <a:pt x="317" y="23"/>
                      <a:pt x="317" y="25"/>
                      <a:pt x="318" y="26"/>
                    </a:cubicBezTo>
                    <a:cubicBezTo>
                      <a:pt x="326" y="43"/>
                      <a:pt x="326" y="43"/>
                      <a:pt x="326" y="43"/>
                    </a:cubicBezTo>
                    <a:cubicBezTo>
                      <a:pt x="333" y="25"/>
                      <a:pt x="333" y="25"/>
                      <a:pt x="333" y="25"/>
                    </a:cubicBezTo>
                    <a:cubicBezTo>
                      <a:pt x="334" y="23"/>
                      <a:pt x="334" y="23"/>
                      <a:pt x="334" y="21"/>
                    </a:cubicBezTo>
                    <a:cubicBezTo>
                      <a:pt x="334" y="21"/>
                      <a:pt x="334" y="21"/>
                      <a:pt x="333" y="20"/>
                    </a:cubicBezTo>
                    <a:cubicBezTo>
                      <a:pt x="333" y="20"/>
                      <a:pt x="333" y="20"/>
                      <a:pt x="333" y="19"/>
                    </a:cubicBezTo>
                    <a:cubicBezTo>
                      <a:pt x="332" y="19"/>
                      <a:pt x="331" y="19"/>
                      <a:pt x="331" y="19"/>
                    </a:cubicBezTo>
                    <a:cubicBezTo>
                      <a:pt x="331" y="18"/>
                      <a:pt x="331" y="18"/>
                      <a:pt x="331" y="18"/>
                    </a:cubicBezTo>
                    <a:cubicBezTo>
                      <a:pt x="341" y="18"/>
                      <a:pt x="341" y="18"/>
                      <a:pt x="341" y="18"/>
                    </a:cubicBezTo>
                    <a:cubicBezTo>
                      <a:pt x="341" y="19"/>
                      <a:pt x="341" y="19"/>
                      <a:pt x="341" y="19"/>
                    </a:cubicBezTo>
                    <a:cubicBezTo>
                      <a:pt x="341" y="19"/>
                      <a:pt x="340" y="19"/>
                      <a:pt x="339" y="19"/>
                    </a:cubicBezTo>
                    <a:cubicBezTo>
                      <a:pt x="339" y="20"/>
                      <a:pt x="338" y="20"/>
                      <a:pt x="338" y="21"/>
                    </a:cubicBezTo>
                    <a:cubicBezTo>
                      <a:pt x="337" y="21"/>
                      <a:pt x="337" y="22"/>
                      <a:pt x="337" y="24"/>
                    </a:cubicBezTo>
                    <a:cubicBezTo>
                      <a:pt x="323" y="58"/>
                      <a:pt x="323" y="58"/>
                      <a:pt x="323" y="58"/>
                    </a:cubicBezTo>
                    <a:cubicBezTo>
                      <a:pt x="322" y="61"/>
                      <a:pt x="321" y="63"/>
                      <a:pt x="318" y="65"/>
                    </a:cubicBezTo>
                    <a:cubicBezTo>
                      <a:pt x="316" y="67"/>
                      <a:pt x="314" y="68"/>
                      <a:pt x="312" y="68"/>
                    </a:cubicBezTo>
                    <a:cubicBezTo>
                      <a:pt x="311" y="68"/>
                      <a:pt x="310" y="67"/>
                      <a:pt x="309" y="67"/>
                    </a:cubicBezTo>
                    <a:cubicBezTo>
                      <a:pt x="308" y="66"/>
                      <a:pt x="307" y="65"/>
                      <a:pt x="307" y="64"/>
                    </a:cubicBezTo>
                    <a:cubicBezTo>
                      <a:pt x="307" y="63"/>
                      <a:pt x="308" y="62"/>
                      <a:pt x="308" y="61"/>
                    </a:cubicBezTo>
                    <a:cubicBezTo>
                      <a:pt x="309" y="61"/>
                      <a:pt x="310" y="61"/>
                      <a:pt x="311" y="61"/>
                    </a:cubicBezTo>
                    <a:cubicBezTo>
                      <a:pt x="312" y="61"/>
                      <a:pt x="313" y="61"/>
                      <a:pt x="314" y="61"/>
                    </a:cubicBezTo>
                    <a:cubicBezTo>
                      <a:pt x="315" y="62"/>
                      <a:pt x="316" y="62"/>
                      <a:pt x="316" y="62"/>
                    </a:cubicBezTo>
                    <a:cubicBezTo>
                      <a:pt x="317" y="62"/>
                      <a:pt x="317" y="61"/>
                      <a:pt x="318" y="61"/>
                    </a:cubicBezTo>
                    <a:cubicBezTo>
                      <a:pt x="319" y="60"/>
                      <a:pt x="320" y="58"/>
                      <a:pt x="321" y="56"/>
                    </a:cubicBezTo>
                    <a:cubicBezTo>
                      <a:pt x="323" y="50"/>
                      <a:pt x="323" y="50"/>
                      <a:pt x="323" y="50"/>
                    </a:cubicBezTo>
                    <a:cubicBezTo>
                      <a:pt x="311" y="25"/>
                      <a:pt x="311" y="25"/>
                      <a:pt x="311" y="25"/>
                    </a:cubicBezTo>
                    <a:cubicBezTo>
                      <a:pt x="311" y="24"/>
                      <a:pt x="311" y="23"/>
                      <a:pt x="310" y="22"/>
                    </a:cubicBezTo>
                    <a:cubicBezTo>
                      <a:pt x="309" y="21"/>
                      <a:pt x="309" y="20"/>
                      <a:pt x="308" y="20"/>
                    </a:cubicBezTo>
                    <a:cubicBezTo>
                      <a:pt x="308" y="20"/>
                      <a:pt x="307" y="19"/>
                      <a:pt x="305" y="19"/>
                    </a:cubicBezTo>
                    <a:cubicBezTo>
                      <a:pt x="306" y="19"/>
                      <a:pt x="306" y="19"/>
                      <a:pt x="306" y="19"/>
                    </a:cubicBezTo>
                    <a:close/>
                    <a:moveTo>
                      <a:pt x="379" y="18"/>
                    </a:moveTo>
                    <a:cubicBezTo>
                      <a:pt x="383" y="18"/>
                      <a:pt x="387" y="20"/>
                      <a:pt x="391" y="24"/>
                    </a:cubicBezTo>
                    <a:cubicBezTo>
                      <a:pt x="393" y="27"/>
                      <a:pt x="395" y="31"/>
                      <a:pt x="395" y="35"/>
                    </a:cubicBezTo>
                    <a:cubicBezTo>
                      <a:pt x="395" y="39"/>
                      <a:pt x="394" y="41"/>
                      <a:pt x="393" y="45"/>
                    </a:cubicBezTo>
                    <a:cubicBezTo>
                      <a:pt x="391" y="48"/>
                      <a:pt x="389" y="50"/>
                      <a:pt x="387" y="52"/>
                    </a:cubicBezTo>
                    <a:cubicBezTo>
                      <a:pt x="385" y="53"/>
                      <a:pt x="382" y="54"/>
                      <a:pt x="379" y="54"/>
                    </a:cubicBezTo>
                    <a:cubicBezTo>
                      <a:pt x="374" y="54"/>
                      <a:pt x="370" y="52"/>
                      <a:pt x="367" y="48"/>
                    </a:cubicBezTo>
                    <a:cubicBezTo>
                      <a:pt x="365" y="45"/>
                      <a:pt x="363" y="41"/>
                      <a:pt x="363" y="37"/>
                    </a:cubicBezTo>
                    <a:cubicBezTo>
                      <a:pt x="363" y="33"/>
                      <a:pt x="364" y="30"/>
                      <a:pt x="366" y="27"/>
                    </a:cubicBezTo>
                    <a:cubicBezTo>
                      <a:pt x="367" y="24"/>
                      <a:pt x="369" y="22"/>
                      <a:pt x="372" y="21"/>
                    </a:cubicBezTo>
                    <a:cubicBezTo>
                      <a:pt x="373" y="19"/>
                      <a:pt x="376" y="18"/>
                      <a:pt x="379" y="18"/>
                    </a:cubicBezTo>
                    <a:close/>
                    <a:moveTo>
                      <a:pt x="377" y="20"/>
                    </a:moveTo>
                    <a:cubicBezTo>
                      <a:pt x="376" y="20"/>
                      <a:pt x="375" y="21"/>
                      <a:pt x="373" y="21"/>
                    </a:cubicBezTo>
                    <a:cubicBezTo>
                      <a:pt x="372" y="22"/>
                      <a:pt x="371" y="23"/>
                      <a:pt x="370" y="25"/>
                    </a:cubicBezTo>
                    <a:cubicBezTo>
                      <a:pt x="369" y="27"/>
                      <a:pt x="369" y="30"/>
                      <a:pt x="369" y="33"/>
                    </a:cubicBezTo>
                    <a:cubicBezTo>
                      <a:pt x="369" y="38"/>
                      <a:pt x="370" y="42"/>
                      <a:pt x="372" y="46"/>
                    </a:cubicBezTo>
                    <a:cubicBezTo>
                      <a:pt x="374" y="49"/>
                      <a:pt x="376" y="51"/>
                      <a:pt x="379" y="51"/>
                    </a:cubicBezTo>
                    <a:cubicBezTo>
                      <a:pt x="382" y="51"/>
                      <a:pt x="384" y="50"/>
                      <a:pt x="385" y="48"/>
                    </a:cubicBezTo>
                    <a:cubicBezTo>
                      <a:pt x="387" y="46"/>
                      <a:pt x="387" y="43"/>
                      <a:pt x="387" y="38"/>
                    </a:cubicBezTo>
                    <a:cubicBezTo>
                      <a:pt x="387" y="32"/>
                      <a:pt x="386" y="27"/>
                      <a:pt x="384" y="24"/>
                    </a:cubicBezTo>
                    <a:cubicBezTo>
                      <a:pt x="382" y="21"/>
                      <a:pt x="380" y="20"/>
                      <a:pt x="377" y="20"/>
                    </a:cubicBezTo>
                    <a:close/>
                    <a:moveTo>
                      <a:pt x="415" y="21"/>
                    </a:moveTo>
                    <a:cubicBezTo>
                      <a:pt x="415" y="44"/>
                      <a:pt x="415" y="44"/>
                      <a:pt x="415" y="44"/>
                    </a:cubicBezTo>
                    <a:cubicBezTo>
                      <a:pt x="415" y="47"/>
                      <a:pt x="416" y="49"/>
                      <a:pt x="416" y="50"/>
                    </a:cubicBezTo>
                    <a:cubicBezTo>
                      <a:pt x="417" y="51"/>
                      <a:pt x="418" y="51"/>
                      <a:pt x="420" y="51"/>
                    </a:cubicBezTo>
                    <a:cubicBezTo>
                      <a:pt x="423" y="51"/>
                      <a:pt x="423" y="51"/>
                      <a:pt x="423" y="51"/>
                    </a:cubicBezTo>
                    <a:cubicBezTo>
                      <a:pt x="423" y="53"/>
                      <a:pt x="423" y="53"/>
                      <a:pt x="423" y="53"/>
                    </a:cubicBezTo>
                    <a:cubicBezTo>
                      <a:pt x="403" y="53"/>
                      <a:pt x="403" y="53"/>
                      <a:pt x="403" y="53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405" y="51"/>
                      <a:pt x="405" y="51"/>
                      <a:pt x="405" y="51"/>
                    </a:cubicBezTo>
                    <a:cubicBezTo>
                      <a:pt x="406" y="51"/>
                      <a:pt x="407" y="51"/>
                      <a:pt x="408" y="51"/>
                    </a:cubicBezTo>
                    <a:cubicBezTo>
                      <a:pt x="409" y="50"/>
                      <a:pt x="409" y="49"/>
                      <a:pt x="409" y="49"/>
                    </a:cubicBezTo>
                    <a:cubicBezTo>
                      <a:pt x="410" y="48"/>
                      <a:pt x="410" y="46"/>
                      <a:pt x="410" y="44"/>
                    </a:cubicBezTo>
                    <a:cubicBezTo>
                      <a:pt x="410" y="21"/>
                      <a:pt x="410" y="21"/>
                      <a:pt x="410" y="21"/>
                    </a:cubicBezTo>
                    <a:cubicBezTo>
                      <a:pt x="403" y="21"/>
                      <a:pt x="403" y="21"/>
                      <a:pt x="403" y="21"/>
                    </a:cubicBezTo>
                    <a:cubicBezTo>
                      <a:pt x="403" y="19"/>
                      <a:pt x="403" y="19"/>
                      <a:pt x="403" y="19"/>
                    </a:cubicBezTo>
                    <a:cubicBezTo>
                      <a:pt x="410" y="19"/>
                      <a:pt x="410" y="19"/>
                      <a:pt x="410" y="19"/>
                    </a:cubicBezTo>
                    <a:cubicBezTo>
                      <a:pt x="410" y="16"/>
                      <a:pt x="410" y="16"/>
                      <a:pt x="410" y="16"/>
                    </a:cubicBezTo>
                    <a:cubicBezTo>
                      <a:pt x="410" y="13"/>
                      <a:pt x="410" y="10"/>
                      <a:pt x="411" y="7"/>
                    </a:cubicBezTo>
                    <a:cubicBezTo>
                      <a:pt x="413" y="5"/>
                      <a:pt x="414" y="3"/>
                      <a:pt x="416" y="2"/>
                    </a:cubicBezTo>
                    <a:cubicBezTo>
                      <a:pt x="418" y="0"/>
                      <a:pt x="421" y="0"/>
                      <a:pt x="423" y="0"/>
                    </a:cubicBezTo>
                    <a:cubicBezTo>
                      <a:pt x="426" y="0"/>
                      <a:pt x="428" y="1"/>
                      <a:pt x="430" y="2"/>
                    </a:cubicBezTo>
                    <a:cubicBezTo>
                      <a:pt x="431" y="3"/>
                      <a:pt x="432" y="5"/>
                      <a:pt x="432" y="6"/>
                    </a:cubicBezTo>
                    <a:cubicBezTo>
                      <a:pt x="432" y="7"/>
                      <a:pt x="432" y="7"/>
                      <a:pt x="431" y="8"/>
                    </a:cubicBezTo>
                    <a:cubicBezTo>
                      <a:pt x="431" y="9"/>
                      <a:pt x="430" y="9"/>
                      <a:pt x="429" y="9"/>
                    </a:cubicBezTo>
                    <a:cubicBezTo>
                      <a:pt x="429" y="9"/>
                      <a:pt x="428" y="8"/>
                      <a:pt x="428" y="8"/>
                    </a:cubicBezTo>
                    <a:cubicBezTo>
                      <a:pt x="427" y="7"/>
                      <a:pt x="427" y="7"/>
                      <a:pt x="425" y="5"/>
                    </a:cubicBezTo>
                    <a:cubicBezTo>
                      <a:pt x="425" y="4"/>
                      <a:pt x="424" y="3"/>
                      <a:pt x="423" y="2"/>
                    </a:cubicBezTo>
                    <a:cubicBezTo>
                      <a:pt x="422" y="2"/>
                      <a:pt x="421" y="1"/>
                      <a:pt x="421" y="1"/>
                    </a:cubicBezTo>
                    <a:cubicBezTo>
                      <a:pt x="419" y="1"/>
                      <a:pt x="419" y="2"/>
                      <a:pt x="418" y="2"/>
                    </a:cubicBezTo>
                    <a:cubicBezTo>
                      <a:pt x="417" y="3"/>
                      <a:pt x="417" y="4"/>
                      <a:pt x="416" y="5"/>
                    </a:cubicBezTo>
                    <a:cubicBezTo>
                      <a:pt x="416" y="6"/>
                      <a:pt x="416" y="9"/>
                      <a:pt x="416" y="15"/>
                    </a:cubicBezTo>
                    <a:cubicBezTo>
                      <a:pt x="416" y="17"/>
                      <a:pt x="416" y="17"/>
                      <a:pt x="416" y="17"/>
                    </a:cubicBezTo>
                    <a:cubicBezTo>
                      <a:pt x="424" y="17"/>
                      <a:pt x="424" y="17"/>
                      <a:pt x="424" y="17"/>
                    </a:cubicBezTo>
                    <a:cubicBezTo>
                      <a:pt x="424" y="21"/>
                      <a:pt x="424" y="21"/>
                      <a:pt x="424" y="21"/>
                    </a:cubicBezTo>
                    <a:cubicBezTo>
                      <a:pt x="415" y="21"/>
                      <a:pt x="415" y="21"/>
                      <a:pt x="415" y="21"/>
                    </a:cubicBezTo>
                    <a:close/>
                    <a:moveTo>
                      <a:pt x="477" y="1"/>
                    </a:moveTo>
                    <a:cubicBezTo>
                      <a:pt x="477" y="19"/>
                      <a:pt x="477" y="19"/>
                      <a:pt x="477" y="19"/>
                    </a:cubicBezTo>
                    <a:cubicBezTo>
                      <a:pt x="475" y="19"/>
                      <a:pt x="475" y="19"/>
                      <a:pt x="475" y="19"/>
                    </a:cubicBezTo>
                    <a:cubicBezTo>
                      <a:pt x="475" y="15"/>
                      <a:pt x="474" y="13"/>
                      <a:pt x="473" y="11"/>
                    </a:cubicBezTo>
                    <a:cubicBezTo>
                      <a:pt x="472" y="9"/>
                      <a:pt x="470" y="7"/>
                      <a:pt x="468" y="6"/>
                    </a:cubicBezTo>
                    <a:cubicBezTo>
                      <a:pt x="466" y="5"/>
                      <a:pt x="464" y="4"/>
                      <a:pt x="462" y="4"/>
                    </a:cubicBezTo>
                    <a:cubicBezTo>
                      <a:pt x="459" y="4"/>
                      <a:pt x="457" y="5"/>
                      <a:pt x="456" y="7"/>
                    </a:cubicBezTo>
                    <a:cubicBezTo>
                      <a:pt x="454" y="8"/>
                      <a:pt x="453" y="10"/>
                      <a:pt x="453" y="12"/>
                    </a:cubicBezTo>
                    <a:cubicBezTo>
                      <a:pt x="453" y="13"/>
                      <a:pt x="454" y="15"/>
                      <a:pt x="455" y="16"/>
                    </a:cubicBezTo>
                    <a:cubicBezTo>
                      <a:pt x="457" y="18"/>
                      <a:pt x="460" y="20"/>
                      <a:pt x="465" y="23"/>
                    </a:cubicBezTo>
                    <a:cubicBezTo>
                      <a:pt x="470" y="26"/>
                      <a:pt x="473" y="28"/>
                      <a:pt x="475" y="29"/>
                    </a:cubicBezTo>
                    <a:cubicBezTo>
                      <a:pt x="476" y="31"/>
                      <a:pt x="477" y="32"/>
                      <a:pt x="479" y="34"/>
                    </a:cubicBezTo>
                    <a:cubicBezTo>
                      <a:pt x="479" y="36"/>
                      <a:pt x="480" y="38"/>
                      <a:pt x="480" y="40"/>
                    </a:cubicBezTo>
                    <a:cubicBezTo>
                      <a:pt x="480" y="44"/>
                      <a:pt x="478" y="47"/>
                      <a:pt x="475" y="50"/>
                    </a:cubicBezTo>
                    <a:cubicBezTo>
                      <a:pt x="473" y="53"/>
                      <a:pt x="469" y="54"/>
                      <a:pt x="465" y="54"/>
                    </a:cubicBezTo>
                    <a:cubicBezTo>
                      <a:pt x="463" y="54"/>
                      <a:pt x="462" y="54"/>
                      <a:pt x="461" y="53"/>
                    </a:cubicBezTo>
                    <a:cubicBezTo>
                      <a:pt x="460" y="53"/>
                      <a:pt x="458" y="53"/>
                      <a:pt x="456" y="52"/>
                    </a:cubicBezTo>
                    <a:cubicBezTo>
                      <a:pt x="454" y="51"/>
                      <a:pt x="453" y="51"/>
                      <a:pt x="452" y="51"/>
                    </a:cubicBezTo>
                    <a:cubicBezTo>
                      <a:pt x="451" y="51"/>
                      <a:pt x="451" y="51"/>
                      <a:pt x="450" y="51"/>
                    </a:cubicBezTo>
                    <a:cubicBezTo>
                      <a:pt x="450" y="52"/>
                      <a:pt x="450" y="53"/>
                      <a:pt x="449" y="54"/>
                    </a:cubicBezTo>
                    <a:cubicBezTo>
                      <a:pt x="448" y="54"/>
                      <a:pt x="448" y="54"/>
                      <a:pt x="448" y="54"/>
                    </a:cubicBezTo>
                    <a:cubicBezTo>
                      <a:pt x="448" y="37"/>
                      <a:pt x="448" y="37"/>
                      <a:pt x="448" y="37"/>
                    </a:cubicBezTo>
                    <a:cubicBezTo>
                      <a:pt x="449" y="37"/>
                      <a:pt x="449" y="37"/>
                      <a:pt x="449" y="37"/>
                    </a:cubicBezTo>
                    <a:cubicBezTo>
                      <a:pt x="450" y="40"/>
                      <a:pt x="451" y="43"/>
                      <a:pt x="452" y="45"/>
                    </a:cubicBezTo>
                    <a:cubicBezTo>
                      <a:pt x="453" y="46"/>
                      <a:pt x="455" y="48"/>
                      <a:pt x="457" y="49"/>
                    </a:cubicBezTo>
                    <a:cubicBezTo>
                      <a:pt x="459" y="50"/>
                      <a:pt x="461" y="51"/>
                      <a:pt x="464" y="51"/>
                    </a:cubicBezTo>
                    <a:cubicBezTo>
                      <a:pt x="467" y="51"/>
                      <a:pt x="469" y="50"/>
                      <a:pt x="471" y="48"/>
                    </a:cubicBezTo>
                    <a:cubicBezTo>
                      <a:pt x="473" y="47"/>
                      <a:pt x="473" y="45"/>
                      <a:pt x="473" y="43"/>
                    </a:cubicBezTo>
                    <a:cubicBezTo>
                      <a:pt x="473" y="41"/>
                      <a:pt x="473" y="40"/>
                      <a:pt x="473" y="39"/>
                    </a:cubicBezTo>
                    <a:cubicBezTo>
                      <a:pt x="472" y="38"/>
                      <a:pt x="471" y="37"/>
                      <a:pt x="469" y="35"/>
                    </a:cubicBezTo>
                    <a:cubicBezTo>
                      <a:pt x="469" y="35"/>
                      <a:pt x="466" y="33"/>
                      <a:pt x="462" y="31"/>
                    </a:cubicBezTo>
                    <a:cubicBezTo>
                      <a:pt x="458" y="28"/>
                      <a:pt x="455" y="26"/>
                      <a:pt x="453" y="25"/>
                    </a:cubicBezTo>
                    <a:cubicBezTo>
                      <a:pt x="451" y="23"/>
                      <a:pt x="450" y="22"/>
                      <a:pt x="449" y="20"/>
                    </a:cubicBezTo>
                    <a:cubicBezTo>
                      <a:pt x="448" y="19"/>
                      <a:pt x="448" y="17"/>
                      <a:pt x="448" y="15"/>
                    </a:cubicBezTo>
                    <a:cubicBezTo>
                      <a:pt x="448" y="11"/>
                      <a:pt x="449" y="8"/>
                      <a:pt x="452" y="5"/>
                    </a:cubicBezTo>
                    <a:cubicBezTo>
                      <a:pt x="455" y="3"/>
                      <a:pt x="458" y="1"/>
                      <a:pt x="462" y="1"/>
                    </a:cubicBezTo>
                    <a:cubicBezTo>
                      <a:pt x="464" y="1"/>
                      <a:pt x="467" y="2"/>
                      <a:pt x="470" y="3"/>
                    </a:cubicBezTo>
                    <a:cubicBezTo>
                      <a:pt x="471" y="4"/>
                      <a:pt x="472" y="4"/>
                      <a:pt x="473" y="4"/>
                    </a:cubicBezTo>
                    <a:cubicBezTo>
                      <a:pt x="473" y="4"/>
                      <a:pt x="474" y="4"/>
                      <a:pt x="474" y="4"/>
                    </a:cubicBezTo>
                    <a:cubicBezTo>
                      <a:pt x="475" y="3"/>
                      <a:pt x="475" y="3"/>
                      <a:pt x="475" y="1"/>
                    </a:cubicBezTo>
                    <a:cubicBezTo>
                      <a:pt x="477" y="1"/>
                      <a:pt x="477" y="1"/>
                      <a:pt x="477" y="1"/>
                    </a:cubicBezTo>
                    <a:close/>
                    <a:moveTo>
                      <a:pt x="517" y="40"/>
                    </a:moveTo>
                    <a:cubicBezTo>
                      <a:pt x="517" y="44"/>
                      <a:pt x="515" y="48"/>
                      <a:pt x="512" y="50"/>
                    </a:cubicBezTo>
                    <a:cubicBezTo>
                      <a:pt x="510" y="53"/>
                      <a:pt x="507" y="54"/>
                      <a:pt x="504" y="54"/>
                    </a:cubicBezTo>
                    <a:cubicBezTo>
                      <a:pt x="500" y="54"/>
                      <a:pt x="497" y="52"/>
                      <a:pt x="494" y="49"/>
                    </a:cubicBezTo>
                    <a:cubicBezTo>
                      <a:pt x="491" y="46"/>
                      <a:pt x="490" y="41"/>
                      <a:pt x="490" y="36"/>
                    </a:cubicBezTo>
                    <a:cubicBezTo>
                      <a:pt x="490" y="31"/>
                      <a:pt x="492" y="26"/>
                      <a:pt x="495" y="23"/>
                    </a:cubicBezTo>
                    <a:cubicBezTo>
                      <a:pt x="498" y="19"/>
                      <a:pt x="501" y="17"/>
                      <a:pt x="506" y="17"/>
                    </a:cubicBezTo>
                    <a:cubicBezTo>
                      <a:pt x="509" y="17"/>
                      <a:pt x="512" y="18"/>
                      <a:pt x="514" y="20"/>
                    </a:cubicBezTo>
                    <a:cubicBezTo>
                      <a:pt x="516" y="22"/>
                      <a:pt x="517" y="24"/>
                      <a:pt x="517" y="26"/>
                    </a:cubicBezTo>
                    <a:cubicBezTo>
                      <a:pt x="517" y="27"/>
                      <a:pt x="517" y="27"/>
                      <a:pt x="516" y="28"/>
                    </a:cubicBezTo>
                    <a:cubicBezTo>
                      <a:pt x="516" y="29"/>
                      <a:pt x="515" y="29"/>
                      <a:pt x="514" y="29"/>
                    </a:cubicBezTo>
                    <a:cubicBezTo>
                      <a:pt x="512" y="29"/>
                      <a:pt x="511" y="29"/>
                      <a:pt x="511" y="27"/>
                    </a:cubicBezTo>
                    <a:cubicBezTo>
                      <a:pt x="510" y="27"/>
                      <a:pt x="510" y="26"/>
                      <a:pt x="510" y="25"/>
                    </a:cubicBezTo>
                    <a:cubicBezTo>
                      <a:pt x="510" y="23"/>
                      <a:pt x="509" y="22"/>
                      <a:pt x="508" y="21"/>
                    </a:cubicBezTo>
                    <a:cubicBezTo>
                      <a:pt x="507" y="21"/>
                      <a:pt x="506" y="20"/>
                      <a:pt x="505" y="20"/>
                    </a:cubicBezTo>
                    <a:cubicBezTo>
                      <a:pt x="502" y="20"/>
                      <a:pt x="500" y="21"/>
                      <a:pt x="499" y="23"/>
                    </a:cubicBezTo>
                    <a:cubicBezTo>
                      <a:pt x="497" y="25"/>
                      <a:pt x="496" y="29"/>
                      <a:pt x="496" y="33"/>
                    </a:cubicBezTo>
                    <a:cubicBezTo>
                      <a:pt x="496" y="37"/>
                      <a:pt x="497" y="40"/>
                      <a:pt x="499" y="43"/>
                    </a:cubicBezTo>
                    <a:cubicBezTo>
                      <a:pt x="501" y="47"/>
                      <a:pt x="503" y="48"/>
                      <a:pt x="507" y="48"/>
                    </a:cubicBezTo>
                    <a:cubicBezTo>
                      <a:pt x="509" y="48"/>
                      <a:pt x="511" y="47"/>
                      <a:pt x="513" y="46"/>
                    </a:cubicBezTo>
                    <a:cubicBezTo>
                      <a:pt x="514" y="45"/>
                      <a:pt x="515" y="43"/>
                      <a:pt x="517" y="40"/>
                    </a:cubicBezTo>
                    <a:cubicBezTo>
                      <a:pt x="517" y="40"/>
                      <a:pt x="517" y="40"/>
                      <a:pt x="517" y="40"/>
                    </a:cubicBezTo>
                    <a:close/>
                    <a:moveTo>
                      <a:pt x="534" y="0"/>
                    </a:moveTo>
                    <a:cubicBezTo>
                      <a:pt x="535" y="0"/>
                      <a:pt x="536" y="0"/>
                      <a:pt x="537" y="1"/>
                    </a:cubicBezTo>
                    <a:cubicBezTo>
                      <a:pt x="537" y="2"/>
                      <a:pt x="538" y="3"/>
                      <a:pt x="538" y="4"/>
                    </a:cubicBezTo>
                    <a:cubicBezTo>
                      <a:pt x="538" y="5"/>
                      <a:pt x="537" y="6"/>
                      <a:pt x="537" y="7"/>
                    </a:cubicBezTo>
                    <a:cubicBezTo>
                      <a:pt x="536" y="7"/>
                      <a:pt x="535" y="8"/>
                      <a:pt x="534" y="8"/>
                    </a:cubicBezTo>
                    <a:cubicBezTo>
                      <a:pt x="533" y="8"/>
                      <a:pt x="532" y="7"/>
                      <a:pt x="532" y="7"/>
                    </a:cubicBezTo>
                    <a:cubicBezTo>
                      <a:pt x="531" y="6"/>
                      <a:pt x="531" y="5"/>
                      <a:pt x="531" y="4"/>
                    </a:cubicBezTo>
                    <a:cubicBezTo>
                      <a:pt x="531" y="3"/>
                      <a:pt x="531" y="2"/>
                      <a:pt x="532" y="1"/>
                    </a:cubicBezTo>
                    <a:cubicBezTo>
                      <a:pt x="532" y="0"/>
                      <a:pt x="533" y="0"/>
                      <a:pt x="534" y="0"/>
                    </a:cubicBezTo>
                    <a:close/>
                    <a:moveTo>
                      <a:pt x="537" y="18"/>
                    </a:moveTo>
                    <a:cubicBezTo>
                      <a:pt x="537" y="45"/>
                      <a:pt x="537" y="45"/>
                      <a:pt x="537" y="45"/>
                    </a:cubicBezTo>
                    <a:cubicBezTo>
                      <a:pt x="537" y="47"/>
                      <a:pt x="537" y="49"/>
                      <a:pt x="537" y="49"/>
                    </a:cubicBezTo>
                    <a:cubicBezTo>
                      <a:pt x="538" y="50"/>
                      <a:pt x="538" y="51"/>
                      <a:pt x="539" y="51"/>
                    </a:cubicBezTo>
                    <a:cubicBezTo>
                      <a:pt x="539" y="51"/>
                      <a:pt x="540" y="51"/>
                      <a:pt x="542" y="51"/>
                    </a:cubicBezTo>
                    <a:cubicBezTo>
                      <a:pt x="542" y="53"/>
                      <a:pt x="542" y="53"/>
                      <a:pt x="542" y="53"/>
                    </a:cubicBezTo>
                    <a:cubicBezTo>
                      <a:pt x="526" y="53"/>
                      <a:pt x="526" y="53"/>
                      <a:pt x="526" y="53"/>
                    </a:cubicBezTo>
                    <a:cubicBezTo>
                      <a:pt x="526" y="51"/>
                      <a:pt x="526" y="51"/>
                      <a:pt x="526" y="51"/>
                    </a:cubicBezTo>
                    <a:cubicBezTo>
                      <a:pt x="527" y="51"/>
                      <a:pt x="529" y="51"/>
                      <a:pt x="529" y="51"/>
                    </a:cubicBezTo>
                    <a:cubicBezTo>
                      <a:pt x="529" y="51"/>
                      <a:pt x="530" y="50"/>
                      <a:pt x="530" y="49"/>
                    </a:cubicBezTo>
                    <a:cubicBezTo>
                      <a:pt x="531" y="49"/>
                      <a:pt x="531" y="47"/>
                      <a:pt x="531" y="45"/>
                    </a:cubicBezTo>
                    <a:cubicBezTo>
                      <a:pt x="531" y="32"/>
                      <a:pt x="531" y="32"/>
                      <a:pt x="531" y="32"/>
                    </a:cubicBezTo>
                    <a:cubicBezTo>
                      <a:pt x="531" y="28"/>
                      <a:pt x="531" y="26"/>
                      <a:pt x="530" y="25"/>
                    </a:cubicBezTo>
                    <a:cubicBezTo>
                      <a:pt x="530" y="24"/>
                      <a:pt x="530" y="23"/>
                      <a:pt x="529" y="23"/>
                    </a:cubicBezTo>
                    <a:cubicBezTo>
                      <a:pt x="529" y="23"/>
                      <a:pt x="529" y="23"/>
                      <a:pt x="528" y="23"/>
                    </a:cubicBezTo>
                    <a:cubicBezTo>
                      <a:pt x="527" y="23"/>
                      <a:pt x="526" y="23"/>
                      <a:pt x="525" y="23"/>
                    </a:cubicBezTo>
                    <a:cubicBezTo>
                      <a:pt x="525" y="22"/>
                      <a:pt x="525" y="22"/>
                      <a:pt x="525" y="22"/>
                    </a:cubicBezTo>
                    <a:cubicBezTo>
                      <a:pt x="535" y="18"/>
                      <a:pt x="535" y="18"/>
                      <a:pt x="535" y="18"/>
                    </a:cubicBezTo>
                    <a:cubicBezTo>
                      <a:pt x="537" y="18"/>
                      <a:pt x="537" y="18"/>
                      <a:pt x="537" y="18"/>
                    </a:cubicBezTo>
                    <a:close/>
                    <a:moveTo>
                      <a:pt x="555" y="31"/>
                    </a:moveTo>
                    <a:cubicBezTo>
                      <a:pt x="555" y="37"/>
                      <a:pt x="557" y="40"/>
                      <a:pt x="559" y="43"/>
                    </a:cubicBezTo>
                    <a:cubicBezTo>
                      <a:pt x="561" y="46"/>
                      <a:pt x="564" y="48"/>
                      <a:pt x="567" y="48"/>
                    </a:cubicBezTo>
                    <a:cubicBezTo>
                      <a:pt x="569" y="48"/>
                      <a:pt x="571" y="47"/>
                      <a:pt x="573" y="46"/>
                    </a:cubicBezTo>
                    <a:cubicBezTo>
                      <a:pt x="575" y="45"/>
                      <a:pt x="576" y="43"/>
                      <a:pt x="577" y="39"/>
                    </a:cubicBezTo>
                    <a:cubicBezTo>
                      <a:pt x="578" y="40"/>
                      <a:pt x="578" y="40"/>
                      <a:pt x="578" y="40"/>
                    </a:cubicBezTo>
                    <a:cubicBezTo>
                      <a:pt x="578" y="43"/>
                      <a:pt x="576" y="47"/>
                      <a:pt x="574" y="49"/>
                    </a:cubicBezTo>
                    <a:cubicBezTo>
                      <a:pt x="571" y="52"/>
                      <a:pt x="568" y="53"/>
                      <a:pt x="565" y="53"/>
                    </a:cubicBezTo>
                    <a:cubicBezTo>
                      <a:pt x="561" y="53"/>
                      <a:pt x="557" y="52"/>
                      <a:pt x="555" y="49"/>
                    </a:cubicBezTo>
                    <a:cubicBezTo>
                      <a:pt x="552" y="45"/>
                      <a:pt x="551" y="41"/>
                      <a:pt x="551" y="36"/>
                    </a:cubicBezTo>
                    <a:cubicBezTo>
                      <a:pt x="551" y="30"/>
                      <a:pt x="552" y="25"/>
                      <a:pt x="555" y="22"/>
                    </a:cubicBezTo>
                    <a:cubicBezTo>
                      <a:pt x="558" y="19"/>
                      <a:pt x="561" y="17"/>
                      <a:pt x="566" y="17"/>
                    </a:cubicBezTo>
                    <a:cubicBezTo>
                      <a:pt x="569" y="17"/>
                      <a:pt x="573" y="19"/>
                      <a:pt x="575" y="21"/>
                    </a:cubicBezTo>
                    <a:cubicBezTo>
                      <a:pt x="577" y="23"/>
                      <a:pt x="579" y="27"/>
                      <a:pt x="579" y="31"/>
                    </a:cubicBezTo>
                    <a:cubicBezTo>
                      <a:pt x="555" y="31"/>
                      <a:pt x="555" y="31"/>
                      <a:pt x="555" y="31"/>
                    </a:cubicBezTo>
                    <a:close/>
                    <a:moveTo>
                      <a:pt x="555" y="29"/>
                    </a:moveTo>
                    <a:cubicBezTo>
                      <a:pt x="571" y="29"/>
                      <a:pt x="571" y="29"/>
                      <a:pt x="571" y="29"/>
                    </a:cubicBezTo>
                    <a:cubicBezTo>
                      <a:pt x="571" y="27"/>
                      <a:pt x="570" y="26"/>
                      <a:pt x="570" y="25"/>
                    </a:cubicBezTo>
                    <a:cubicBezTo>
                      <a:pt x="569" y="24"/>
                      <a:pt x="568" y="23"/>
                      <a:pt x="567" y="22"/>
                    </a:cubicBezTo>
                    <a:cubicBezTo>
                      <a:pt x="566" y="21"/>
                      <a:pt x="565" y="21"/>
                      <a:pt x="563" y="21"/>
                    </a:cubicBezTo>
                    <a:cubicBezTo>
                      <a:pt x="561" y="21"/>
                      <a:pt x="560" y="21"/>
                      <a:pt x="558" y="23"/>
                    </a:cubicBezTo>
                    <a:cubicBezTo>
                      <a:pt x="557" y="24"/>
                      <a:pt x="555" y="27"/>
                      <a:pt x="555" y="29"/>
                    </a:cubicBezTo>
                    <a:close/>
                    <a:moveTo>
                      <a:pt x="595" y="25"/>
                    </a:moveTo>
                    <a:cubicBezTo>
                      <a:pt x="599" y="20"/>
                      <a:pt x="603" y="18"/>
                      <a:pt x="606" y="18"/>
                    </a:cubicBezTo>
                    <a:cubicBezTo>
                      <a:pt x="608" y="18"/>
                      <a:pt x="609" y="18"/>
                      <a:pt x="611" y="19"/>
                    </a:cubicBezTo>
                    <a:cubicBezTo>
                      <a:pt x="612" y="20"/>
                      <a:pt x="613" y="21"/>
                      <a:pt x="614" y="23"/>
                    </a:cubicBezTo>
                    <a:cubicBezTo>
                      <a:pt x="615" y="25"/>
                      <a:pt x="615" y="27"/>
                      <a:pt x="615" y="30"/>
                    </a:cubicBezTo>
                    <a:cubicBezTo>
                      <a:pt x="615" y="45"/>
                      <a:pt x="615" y="45"/>
                      <a:pt x="615" y="45"/>
                    </a:cubicBezTo>
                    <a:cubicBezTo>
                      <a:pt x="615" y="47"/>
                      <a:pt x="615" y="48"/>
                      <a:pt x="615" y="49"/>
                    </a:cubicBezTo>
                    <a:cubicBezTo>
                      <a:pt x="616" y="50"/>
                      <a:pt x="616" y="50"/>
                      <a:pt x="617" y="51"/>
                    </a:cubicBezTo>
                    <a:cubicBezTo>
                      <a:pt x="617" y="51"/>
                      <a:pt x="618" y="51"/>
                      <a:pt x="620" y="51"/>
                    </a:cubicBezTo>
                    <a:cubicBezTo>
                      <a:pt x="620" y="52"/>
                      <a:pt x="620" y="52"/>
                      <a:pt x="620" y="52"/>
                    </a:cubicBezTo>
                    <a:cubicBezTo>
                      <a:pt x="604" y="52"/>
                      <a:pt x="604" y="52"/>
                      <a:pt x="604" y="52"/>
                    </a:cubicBezTo>
                    <a:cubicBezTo>
                      <a:pt x="604" y="51"/>
                      <a:pt x="604" y="51"/>
                      <a:pt x="604" y="51"/>
                    </a:cubicBezTo>
                    <a:cubicBezTo>
                      <a:pt x="605" y="51"/>
                      <a:pt x="605" y="51"/>
                      <a:pt x="605" y="51"/>
                    </a:cubicBezTo>
                    <a:cubicBezTo>
                      <a:pt x="606" y="51"/>
                      <a:pt x="607" y="51"/>
                      <a:pt x="608" y="50"/>
                    </a:cubicBezTo>
                    <a:cubicBezTo>
                      <a:pt x="609" y="50"/>
                      <a:pt x="609" y="49"/>
                      <a:pt x="609" y="48"/>
                    </a:cubicBezTo>
                    <a:cubicBezTo>
                      <a:pt x="609" y="48"/>
                      <a:pt x="609" y="47"/>
                      <a:pt x="609" y="45"/>
                    </a:cubicBezTo>
                    <a:cubicBezTo>
                      <a:pt x="609" y="31"/>
                      <a:pt x="609" y="31"/>
                      <a:pt x="609" y="31"/>
                    </a:cubicBezTo>
                    <a:cubicBezTo>
                      <a:pt x="609" y="27"/>
                      <a:pt x="609" y="25"/>
                      <a:pt x="608" y="24"/>
                    </a:cubicBezTo>
                    <a:cubicBezTo>
                      <a:pt x="607" y="23"/>
                      <a:pt x="606" y="22"/>
                      <a:pt x="604" y="22"/>
                    </a:cubicBezTo>
                    <a:cubicBezTo>
                      <a:pt x="601" y="22"/>
                      <a:pt x="598" y="23"/>
                      <a:pt x="595" y="27"/>
                    </a:cubicBezTo>
                    <a:cubicBezTo>
                      <a:pt x="595" y="45"/>
                      <a:pt x="595" y="45"/>
                      <a:pt x="595" y="45"/>
                    </a:cubicBezTo>
                    <a:cubicBezTo>
                      <a:pt x="595" y="47"/>
                      <a:pt x="595" y="48"/>
                      <a:pt x="596" y="49"/>
                    </a:cubicBezTo>
                    <a:cubicBezTo>
                      <a:pt x="596" y="50"/>
                      <a:pt x="597" y="50"/>
                      <a:pt x="597" y="51"/>
                    </a:cubicBezTo>
                    <a:cubicBezTo>
                      <a:pt x="597" y="51"/>
                      <a:pt x="599" y="51"/>
                      <a:pt x="601" y="51"/>
                    </a:cubicBezTo>
                    <a:cubicBezTo>
                      <a:pt x="601" y="52"/>
                      <a:pt x="601" y="52"/>
                      <a:pt x="601" y="52"/>
                    </a:cubicBezTo>
                    <a:cubicBezTo>
                      <a:pt x="585" y="52"/>
                      <a:pt x="585" y="52"/>
                      <a:pt x="585" y="52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5" y="51"/>
                      <a:pt x="585" y="51"/>
                      <a:pt x="585" y="51"/>
                    </a:cubicBezTo>
                    <a:cubicBezTo>
                      <a:pt x="587" y="51"/>
                      <a:pt x="588" y="51"/>
                      <a:pt x="589" y="50"/>
                    </a:cubicBezTo>
                    <a:cubicBezTo>
                      <a:pt x="589" y="49"/>
                      <a:pt x="589" y="47"/>
                      <a:pt x="589" y="45"/>
                    </a:cubicBezTo>
                    <a:cubicBezTo>
                      <a:pt x="589" y="32"/>
                      <a:pt x="589" y="32"/>
                      <a:pt x="589" y="32"/>
                    </a:cubicBezTo>
                    <a:cubicBezTo>
                      <a:pt x="589" y="28"/>
                      <a:pt x="589" y="25"/>
                      <a:pt x="589" y="24"/>
                    </a:cubicBezTo>
                    <a:cubicBezTo>
                      <a:pt x="589" y="23"/>
                      <a:pt x="589" y="23"/>
                      <a:pt x="588" y="22"/>
                    </a:cubicBezTo>
                    <a:cubicBezTo>
                      <a:pt x="588" y="22"/>
                      <a:pt x="587" y="22"/>
                      <a:pt x="587" y="22"/>
                    </a:cubicBezTo>
                    <a:cubicBezTo>
                      <a:pt x="586" y="22"/>
                      <a:pt x="585" y="22"/>
                      <a:pt x="584" y="22"/>
                    </a:cubicBezTo>
                    <a:cubicBezTo>
                      <a:pt x="584" y="21"/>
                      <a:pt x="584" y="21"/>
                      <a:pt x="584" y="21"/>
                    </a:cubicBezTo>
                    <a:cubicBezTo>
                      <a:pt x="594" y="17"/>
                      <a:pt x="594" y="17"/>
                      <a:pt x="594" y="17"/>
                    </a:cubicBezTo>
                    <a:cubicBezTo>
                      <a:pt x="595" y="17"/>
                      <a:pt x="595" y="17"/>
                      <a:pt x="595" y="17"/>
                    </a:cubicBezTo>
                    <a:cubicBezTo>
                      <a:pt x="595" y="25"/>
                      <a:pt x="595" y="25"/>
                      <a:pt x="595" y="25"/>
                    </a:cubicBezTo>
                    <a:close/>
                    <a:moveTo>
                      <a:pt x="654" y="40"/>
                    </a:moveTo>
                    <a:cubicBezTo>
                      <a:pt x="653" y="44"/>
                      <a:pt x="651" y="48"/>
                      <a:pt x="649" y="50"/>
                    </a:cubicBezTo>
                    <a:cubicBezTo>
                      <a:pt x="646" y="53"/>
                      <a:pt x="643" y="54"/>
                      <a:pt x="640" y="54"/>
                    </a:cubicBezTo>
                    <a:cubicBezTo>
                      <a:pt x="637" y="54"/>
                      <a:pt x="633" y="52"/>
                      <a:pt x="631" y="49"/>
                    </a:cubicBezTo>
                    <a:cubicBezTo>
                      <a:pt x="628" y="46"/>
                      <a:pt x="627" y="41"/>
                      <a:pt x="627" y="36"/>
                    </a:cubicBezTo>
                    <a:cubicBezTo>
                      <a:pt x="627" y="31"/>
                      <a:pt x="628" y="26"/>
                      <a:pt x="631" y="23"/>
                    </a:cubicBezTo>
                    <a:cubicBezTo>
                      <a:pt x="634" y="19"/>
                      <a:pt x="638" y="17"/>
                      <a:pt x="642" y="17"/>
                    </a:cubicBezTo>
                    <a:cubicBezTo>
                      <a:pt x="645" y="17"/>
                      <a:pt x="648" y="18"/>
                      <a:pt x="650" y="20"/>
                    </a:cubicBezTo>
                    <a:cubicBezTo>
                      <a:pt x="652" y="22"/>
                      <a:pt x="653" y="24"/>
                      <a:pt x="653" y="26"/>
                    </a:cubicBezTo>
                    <a:cubicBezTo>
                      <a:pt x="653" y="27"/>
                      <a:pt x="653" y="27"/>
                      <a:pt x="653" y="28"/>
                    </a:cubicBezTo>
                    <a:cubicBezTo>
                      <a:pt x="652" y="29"/>
                      <a:pt x="651" y="29"/>
                      <a:pt x="650" y="29"/>
                    </a:cubicBezTo>
                    <a:cubicBezTo>
                      <a:pt x="649" y="29"/>
                      <a:pt x="648" y="29"/>
                      <a:pt x="647" y="27"/>
                    </a:cubicBezTo>
                    <a:cubicBezTo>
                      <a:pt x="647" y="27"/>
                      <a:pt x="646" y="26"/>
                      <a:pt x="646" y="25"/>
                    </a:cubicBezTo>
                    <a:cubicBezTo>
                      <a:pt x="646" y="23"/>
                      <a:pt x="645" y="22"/>
                      <a:pt x="645" y="21"/>
                    </a:cubicBezTo>
                    <a:cubicBezTo>
                      <a:pt x="644" y="21"/>
                      <a:pt x="643" y="20"/>
                      <a:pt x="641" y="20"/>
                    </a:cubicBezTo>
                    <a:cubicBezTo>
                      <a:pt x="639" y="20"/>
                      <a:pt x="637" y="21"/>
                      <a:pt x="635" y="23"/>
                    </a:cubicBezTo>
                    <a:cubicBezTo>
                      <a:pt x="633" y="25"/>
                      <a:pt x="633" y="29"/>
                      <a:pt x="633" y="33"/>
                    </a:cubicBezTo>
                    <a:cubicBezTo>
                      <a:pt x="633" y="37"/>
                      <a:pt x="633" y="40"/>
                      <a:pt x="635" y="43"/>
                    </a:cubicBezTo>
                    <a:cubicBezTo>
                      <a:pt x="637" y="47"/>
                      <a:pt x="640" y="48"/>
                      <a:pt x="643" y="48"/>
                    </a:cubicBezTo>
                    <a:cubicBezTo>
                      <a:pt x="645" y="48"/>
                      <a:pt x="647" y="47"/>
                      <a:pt x="649" y="46"/>
                    </a:cubicBezTo>
                    <a:cubicBezTo>
                      <a:pt x="651" y="45"/>
                      <a:pt x="652" y="43"/>
                      <a:pt x="654" y="40"/>
                    </a:cubicBezTo>
                    <a:cubicBezTo>
                      <a:pt x="654" y="40"/>
                      <a:pt x="654" y="40"/>
                      <a:pt x="654" y="40"/>
                    </a:cubicBezTo>
                    <a:close/>
                    <a:moveTo>
                      <a:pt x="668" y="31"/>
                    </a:moveTo>
                    <a:cubicBezTo>
                      <a:pt x="668" y="37"/>
                      <a:pt x="669" y="40"/>
                      <a:pt x="671" y="43"/>
                    </a:cubicBezTo>
                    <a:cubicBezTo>
                      <a:pt x="674" y="46"/>
                      <a:pt x="677" y="48"/>
                      <a:pt x="680" y="48"/>
                    </a:cubicBezTo>
                    <a:cubicBezTo>
                      <a:pt x="682" y="48"/>
                      <a:pt x="684" y="47"/>
                      <a:pt x="685" y="46"/>
                    </a:cubicBezTo>
                    <a:cubicBezTo>
                      <a:pt x="687" y="45"/>
                      <a:pt x="688" y="43"/>
                      <a:pt x="689" y="39"/>
                    </a:cubicBezTo>
                    <a:cubicBezTo>
                      <a:pt x="691" y="40"/>
                      <a:pt x="691" y="40"/>
                      <a:pt x="691" y="40"/>
                    </a:cubicBezTo>
                    <a:cubicBezTo>
                      <a:pt x="690" y="43"/>
                      <a:pt x="689" y="47"/>
                      <a:pt x="686" y="49"/>
                    </a:cubicBezTo>
                    <a:cubicBezTo>
                      <a:pt x="684" y="52"/>
                      <a:pt x="681" y="53"/>
                      <a:pt x="677" y="53"/>
                    </a:cubicBezTo>
                    <a:cubicBezTo>
                      <a:pt x="673" y="53"/>
                      <a:pt x="670" y="52"/>
                      <a:pt x="667" y="49"/>
                    </a:cubicBezTo>
                    <a:cubicBezTo>
                      <a:pt x="664" y="45"/>
                      <a:pt x="663" y="41"/>
                      <a:pt x="663" y="36"/>
                    </a:cubicBezTo>
                    <a:cubicBezTo>
                      <a:pt x="663" y="30"/>
                      <a:pt x="665" y="25"/>
                      <a:pt x="667" y="22"/>
                    </a:cubicBezTo>
                    <a:cubicBezTo>
                      <a:pt x="670" y="19"/>
                      <a:pt x="674" y="17"/>
                      <a:pt x="678" y="17"/>
                    </a:cubicBezTo>
                    <a:cubicBezTo>
                      <a:pt x="682" y="17"/>
                      <a:pt x="685" y="19"/>
                      <a:pt x="687" y="21"/>
                    </a:cubicBezTo>
                    <a:cubicBezTo>
                      <a:pt x="690" y="23"/>
                      <a:pt x="691" y="27"/>
                      <a:pt x="691" y="31"/>
                    </a:cubicBezTo>
                    <a:cubicBezTo>
                      <a:pt x="668" y="31"/>
                      <a:pt x="668" y="31"/>
                      <a:pt x="668" y="31"/>
                    </a:cubicBezTo>
                    <a:close/>
                    <a:moveTo>
                      <a:pt x="668" y="29"/>
                    </a:moveTo>
                    <a:cubicBezTo>
                      <a:pt x="683" y="29"/>
                      <a:pt x="683" y="29"/>
                      <a:pt x="683" y="29"/>
                    </a:cubicBezTo>
                    <a:cubicBezTo>
                      <a:pt x="683" y="27"/>
                      <a:pt x="683" y="26"/>
                      <a:pt x="682" y="25"/>
                    </a:cubicBezTo>
                    <a:cubicBezTo>
                      <a:pt x="682" y="24"/>
                      <a:pt x="681" y="23"/>
                      <a:pt x="679" y="22"/>
                    </a:cubicBezTo>
                    <a:cubicBezTo>
                      <a:pt x="678" y="21"/>
                      <a:pt x="677" y="21"/>
                      <a:pt x="676" y="21"/>
                    </a:cubicBezTo>
                    <a:cubicBezTo>
                      <a:pt x="674" y="21"/>
                      <a:pt x="672" y="21"/>
                      <a:pt x="671" y="23"/>
                    </a:cubicBezTo>
                    <a:cubicBezTo>
                      <a:pt x="669" y="24"/>
                      <a:pt x="668" y="27"/>
                      <a:pt x="668" y="29"/>
                    </a:cubicBezTo>
                    <a:close/>
                    <a:moveTo>
                      <a:pt x="731" y="48"/>
                    </a:moveTo>
                    <a:cubicBezTo>
                      <a:pt x="728" y="51"/>
                      <a:pt x="726" y="52"/>
                      <a:pt x="725" y="53"/>
                    </a:cubicBezTo>
                    <a:cubicBezTo>
                      <a:pt x="724" y="53"/>
                      <a:pt x="722" y="53"/>
                      <a:pt x="721" y="53"/>
                    </a:cubicBezTo>
                    <a:cubicBezTo>
                      <a:pt x="719" y="53"/>
                      <a:pt x="717" y="53"/>
                      <a:pt x="715" y="51"/>
                    </a:cubicBezTo>
                    <a:cubicBezTo>
                      <a:pt x="714" y="49"/>
                      <a:pt x="713" y="47"/>
                      <a:pt x="713" y="45"/>
                    </a:cubicBezTo>
                    <a:cubicBezTo>
                      <a:pt x="713" y="43"/>
                      <a:pt x="714" y="41"/>
                      <a:pt x="715" y="40"/>
                    </a:cubicBezTo>
                    <a:cubicBezTo>
                      <a:pt x="715" y="39"/>
                      <a:pt x="717" y="37"/>
                      <a:pt x="720" y="35"/>
                    </a:cubicBezTo>
                    <a:cubicBezTo>
                      <a:pt x="722" y="34"/>
                      <a:pt x="726" y="32"/>
                      <a:pt x="732" y="30"/>
                    </a:cubicBezTo>
                    <a:cubicBezTo>
                      <a:pt x="732" y="29"/>
                      <a:pt x="732" y="29"/>
                      <a:pt x="732" y="29"/>
                    </a:cubicBezTo>
                    <a:cubicBezTo>
                      <a:pt x="732" y="25"/>
                      <a:pt x="731" y="23"/>
                      <a:pt x="730" y="22"/>
                    </a:cubicBezTo>
                    <a:cubicBezTo>
                      <a:pt x="729" y="21"/>
                      <a:pt x="728" y="20"/>
                      <a:pt x="726" y="20"/>
                    </a:cubicBezTo>
                    <a:cubicBezTo>
                      <a:pt x="724" y="20"/>
                      <a:pt x="723" y="20"/>
                      <a:pt x="722" y="21"/>
                    </a:cubicBezTo>
                    <a:cubicBezTo>
                      <a:pt x="721" y="22"/>
                      <a:pt x="721" y="23"/>
                      <a:pt x="721" y="24"/>
                    </a:cubicBezTo>
                    <a:cubicBezTo>
                      <a:pt x="721" y="26"/>
                      <a:pt x="721" y="26"/>
                      <a:pt x="721" y="26"/>
                    </a:cubicBezTo>
                    <a:cubicBezTo>
                      <a:pt x="721" y="27"/>
                      <a:pt x="721" y="28"/>
                      <a:pt x="720" y="29"/>
                    </a:cubicBezTo>
                    <a:cubicBezTo>
                      <a:pt x="720" y="29"/>
                      <a:pt x="719" y="29"/>
                      <a:pt x="718" y="29"/>
                    </a:cubicBezTo>
                    <a:cubicBezTo>
                      <a:pt x="717" y="29"/>
                      <a:pt x="717" y="29"/>
                      <a:pt x="716" y="29"/>
                    </a:cubicBezTo>
                    <a:cubicBezTo>
                      <a:pt x="716" y="28"/>
                      <a:pt x="715" y="27"/>
                      <a:pt x="715" y="26"/>
                    </a:cubicBezTo>
                    <a:cubicBezTo>
                      <a:pt x="715" y="24"/>
                      <a:pt x="717" y="22"/>
                      <a:pt x="719" y="20"/>
                    </a:cubicBezTo>
                    <a:cubicBezTo>
                      <a:pt x="721" y="18"/>
                      <a:pt x="724" y="17"/>
                      <a:pt x="727" y="17"/>
                    </a:cubicBezTo>
                    <a:cubicBezTo>
                      <a:pt x="730" y="17"/>
                      <a:pt x="733" y="17"/>
                      <a:pt x="735" y="19"/>
                    </a:cubicBezTo>
                    <a:cubicBezTo>
                      <a:pt x="736" y="19"/>
                      <a:pt x="737" y="21"/>
                      <a:pt x="738" y="22"/>
                    </a:cubicBezTo>
                    <a:cubicBezTo>
                      <a:pt x="738" y="23"/>
                      <a:pt x="739" y="25"/>
                      <a:pt x="739" y="29"/>
                    </a:cubicBezTo>
                    <a:cubicBezTo>
                      <a:pt x="739" y="40"/>
                      <a:pt x="739" y="40"/>
                      <a:pt x="739" y="40"/>
                    </a:cubicBezTo>
                    <a:cubicBezTo>
                      <a:pt x="739" y="43"/>
                      <a:pt x="739" y="45"/>
                      <a:pt x="739" y="46"/>
                    </a:cubicBezTo>
                    <a:cubicBezTo>
                      <a:pt x="739" y="47"/>
                      <a:pt x="739" y="47"/>
                      <a:pt x="739" y="48"/>
                    </a:cubicBezTo>
                    <a:cubicBezTo>
                      <a:pt x="739" y="48"/>
                      <a:pt x="739" y="48"/>
                      <a:pt x="740" y="48"/>
                    </a:cubicBezTo>
                    <a:cubicBezTo>
                      <a:pt x="740" y="48"/>
                      <a:pt x="741" y="48"/>
                      <a:pt x="741" y="48"/>
                    </a:cubicBezTo>
                    <a:cubicBezTo>
                      <a:pt x="741" y="47"/>
                      <a:pt x="743" y="47"/>
                      <a:pt x="744" y="45"/>
                    </a:cubicBezTo>
                    <a:cubicBezTo>
                      <a:pt x="744" y="47"/>
                      <a:pt x="744" y="47"/>
                      <a:pt x="744" y="47"/>
                    </a:cubicBezTo>
                    <a:cubicBezTo>
                      <a:pt x="741" y="51"/>
                      <a:pt x="739" y="53"/>
                      <a:pt x="736" y="53"/>
                    </a:cubicBezTo>
                    <a:cubicBezTo>
                      <a:pt x="735" y="53"/>
                      <a:pt x="734" y="52"/>
                      <a:pt x="733" y="51"/>
                    </a:cubicBezTo>
                    <a:cubicBezTo>
                      <a:pt x="732" y="51"/>
                      <a:pt x="731" y="50"/>
                      <a:pt x="731" y="48"/>
                    </a:cubicBezTo>
                    <a:close/>
                    <a:moveTo>
                      <a:pt x="731" y="45"/>
                    </a:moveTo>
                    <a:cubicBezTo>
                      <a:pt x="731" y="33"/>
                      <a:pt x="731" y="33"/>
                      <a:pt x="731" y="33"/>
                    </a:cubicBezTo>
                    <a:cubicBezTo>
                      <a:pt x="728" y="34"/>
                      <a:pt x="725" y="35"/>
                      <a:pt x="725" y="36"/>
                    </a:cubicBezTo>
                    <a:cubicBezTo>
                      <a:pt x="723" y="37"/>
                      <a:pt x="721" y="38"/>
                      <a:pt x="721" y="39"/>
                    </a:cubicBezTo>
                    <a:cubicBezTo>
                      <a:pt x="720" y="41"/>
                      <a:pt x="719" y="42"/>
                      <a:pt x="719" y="43"/>
                    </a:cubicBezTo>
                    <a:cubicBezTo>
                      <a:pt x="719" y="45"/>
                      <a:pt x="720" y="47"/>
                      <a:pt x="721" y="48"/>
                    </a:cubicBezTo>
                    <a:cubicBezTo>
                      <a:pt x="722" y="49"/>
                      <a:pt x="723" y="49"/>
                      <a:pt x="725" y="49"/>
                    </a:cubicBezTo>
                    <a:cubicBezTo>
                      <a:pt x="726" y="49"/>
                      <a:pt x="729" y="48"/>
                      <a:pt x="731" y="45"/>
                    </a:cubicBezTo>
                    <a:close/>
                    <a:moveTo>
                      <a:pt x="759" y="25"/>
                    </a:moveTo>
                    <a:cubicBezTo>
                      <a:pt x="763" y="20"/>
                      <a:pt x="766" y="18"/>
                      <a:pt x="769" y="18"/>
                    </a:cubicBezTo>
                    <a:cubicBezTo>
                      <a:pt x="771" y="18"/>
                      <a:pt x="773" y="18"/>
                      <a:pt x="774" y="19"/>
                    </a:cubicBezTo>
                    <a:cubicBezTo>
                      <a:pt x="775" y="20"/>
                      <a:pt x="777" y="21"/>
                      <a:pt x="777" y="23"/>
                    </a:cubicBezTo>
                    <a:cubicBezTo>
                      <a:pt x="778" y="25"/>
                      <a:pt x="778" y="27"/>
                      <a:pt x="778" y="30"/>
                    </a:cubicBezTo>
                    <a:cubicBezTo>
                      <a:pt x="778" y="45"/>
                      <a:pt x="778" y="45"/>
                      <a:pt x="778" y="45"/>
                    </a:cubicBezTo>
                    <a:cubicBezTo>
                      <a:pt x="778" y="47"/>
                      <a:pt x="778" y="48"/>
                      <a:pt x="779" y="49"/>
                    </a:cubicBezTo>
                    <a:cubicBezTo>
                      <a:pt x="779" y="50"/>
                      <a:pt x="779" y="50"/>
                      <a:pt x="780" y="51"/>
                    </a:cubicBezTo>
                    <a:cubicBezTo>
                      <a:pt x="780" y="51"/>
                      <a:pt x="781" y="51"/>
                      <a:pt x="783" y="51"/>
                    </a:cubicBezTo>
                    <a:cubicBezTo>
                      <a:pt x="783" y="52"/>
                      <a:pt x="783" y="52"/>
                      <a:pt x="783" y="52"/>
                    </a:cubicBezTo>
                    <a:cubicBezTo>
                      <a:pt x="767" y="52"/>
                      <a:pt x="767" y="52"/>
                      <a:pt x="767" y="52"/>
                    </a:cubicBezTo>
                    <a:cubicBezTo>
                      <a:pt x="767" y="51"/>
                      <a:pt x="767" y="51"/>
                      <a:pt x="767" y="51"/>
                    </a:cubicBezTo>
                    <a:cubicBezTo>
                      <a:pt x="768" y="51"/>
                      <a:pt x="768" y="51"/>
                      <a:pt x="768" y="51"/>
                    </a:cubicBezTo>
                    <a:cubicBezTo>
                      <a:pt x="769" y="51"/>
                      <a:pt x="770" y="51"/>
                      <a:pt x="771" y="50"/>
                    </a:cubicBezTo>
                    <a:cubicBezTo>
                      <a:pt x="772" y="50"/>
                      <a:pt x="772" y="49"/>
                      <a:pt x="772" y="48"/>
                    </a:cubicBezTo>
                    <a:cubicBezTo>
                      <a:pt x="772" y="48"/>
                      <a:pt x="772" y="47"/>
                      <a:pt x="772" y="45"/>
                    </a:cubicBezTo>
                    <a:cubicBezTo>
                      <a:pt x="772" y="31"/>
                      <a:pt x="772" y="31"/>
                      <a:pt x="772" y="31"/>
                    </a:cubicBezTo>
                    <a:cubicBezTo>
                      <a:pt x="772" y="27"/>
                      <a:pt x="772" y="25"/>
                      <a:pt x="771" y="24"/>
                    </a:cubicBezTo>
                    <a:cubicBezTo>
                      <a:pt x="770" y="23"/>
                      <a:pt x="769" y="22"/>
                      <a:pt x="767" y="22"/>
                    </a:cubicBezTo>
                    <a:cubicBezTo>
                      <a:pt x="764" y="22"/>
                      <a:pt x="761" y="23"/>
                      <a:pt x="759" y="27"/>
                    </a:cubicBezTo>
                    <a:cubicBezTo>
                      <a:pt x="759" y="45"/>
                      <a:pt x="759" y="45"/>
                      <a:pt x="759" y="45"/>
                    </a:cubicBezTo>
                    <a:cubicBezTo>
                      <a:pt x="759" y="47"/>
                      <a:pt x="759" y="48"/>
                      <a:pt x="759" y="49"/>
                    </a:cubicBezTo>
                    <a:cubicBezTo>
                      <a:pt x="759" y="50"/>
                      <a:pt x="760" y="50"/>
                      <a:pt x="760" y="51"/>
                    </a:cubicBezTo>
                    <a:cubicBezTo>
                      <a:pt x="761" y="51"/>
                      <a:pt x="762" y="51"/>
                      <a:pt x="764" y="51"/>
                    </a:cubicBezTo>
                    <a:cubicBezTo>
                      <a:pt x="764" y="52"/>
                      <a:pt x="764" y="52"/>
                      <a:pt x="764" y="52"/>
                    </a:cubicBezTo>
                    <a:cubicBezTo>
                      <a:pt x="748" y="52"/>
                      <a:pt x="748" y="52"/>
                      <a:pt x="748" y="52"/>
                    </a:cubicBezTo>
                    <a:cubicBezTo>
                      <a:pt x="748" y="51"/>
                      <a:pt x="748" y="51"/>
                      <a:pt x="748" y="51"/>
                    </a:cubicBezTo>
                    <a:cubicBezTo>
                      <a:pt x="749" y="51"/>
                      <a:pt x="749" y="51"/>
                      <a:pt x="749" y="51"/>
                    </a:cubicBezTo>
                    <a:cubicBezTo>
                      <a:pt x="750" y="51"/>
                      <a:pt x="751" y="51"/>
                      <a:pt x="752" y="50"/>
                    </a:cubicBezTo>
                    <a:cubicBezTo>
                      <a:pt x="752" y="49"/>
                      <a:pt x="753" y="47"/>
                      <a:pt x="753" y="45"/>
                    </a:cubicBezTo>
                    <a:cubicBezTo>
                      <a:pt x="753" y="32"/>
                      <a:pt x="753" y="32"/>
                      <a:pt x="753" y="32"/>
                    </a:cubicBezTo>
                    <a:cubicBezTo>
                      <a:pt x="753" y="28"/>
                      <a:pt x="753" y="25"/>
                      <a:pt x="752" y="24"/>
                    </a:cubicBezTo>
                    <a:cubicBezTo>
                      <a:pt x="752" y="23"/>
                      <a:pt x="752" y="23"/>
                      <a:pt x="751" y="22"/>
                    </a:cubicBezTo>
                    <a:cubicBezTo>
                      <a:pt x="751" y="22"/>
                      <a:pt x="751" y="22"/>
                      <a:pt x="750" y="22"/>
                    </a:cubicBezTo>
                    <a:cubicBezTo>
                      <a:pt x="749" y="22"/>
                      <a:pt x="748" y="22"/>
                      <a:pt x="747" y="22"/>
                    </a:cubicBezTo>
                    <a:cubicBezTo>
                      <a:pt x="747" y="21"/>
                      <a:pt x="747" y="21"/>
                      <a:pt x="747" y="21"/>
                    </a:cubicBezTo>
                    <a:cubicBezTo>
                      <a:pt x="757" y="17"/>
                      <a:pt x="757" y="17"/>
                      <a:pt x="757" y="17"/>
                    </a:cubicBezTo>
                    <a:cubicBezTo>
                      <a:pt x="759" y="17"/>
                      <a:pt x="759" y="17"/>
                      <a:pt x="759" y="17"/>
                    </a:cubicBezTo>
                    <a:cubicBezTo>
                      <a:pt x="759" y="25"/>
                      <a:pt x="759" y="25"/>
                      <a:pt x="759" y="25"/>
                    </a:cubicBezTo>
                    <a:close/>
                    <a:moveTo>
                      <a:pt x="812" y="49"/>
                    </a:moveTo>
                    <a:cubicBezTo>
                      <a:pt x="811" y="51"/>
                      <a:pt x="809" y="52"/>
                      <a:pt x="807" y="53"/>
                    </a:cubicBezTo>
                    <a:cubicBezTo>
                      <a:pt x="806" y="53"/>
                      <a:pt x="804" y="54"/>
                      <a:pt x="803" y="54"/>
                    </a:cubicBezTo>
                    <a:cubicBezTo>
                      <a:pt x="799" y="54"/>
                      <a:pt x="796" y="52"/>
                      <a:pt x="793" y="49"/>
                    </a:cubicBezTo>
                    <a:cubicBezTo>
                      <a:pt x="791" y="46"/>
                      <a:pt x="789" y="42"/>
                      <a:pt x="789" y="37"/>
                    </a:cubicBezTo>
                    <a:cubicBezTo>
                      <a:pt x="789" y="32"/>
                      <a:pt x="791" y="28"/>
                      <a:pt x="794" y="24"/>
                    </a:cubicBezTo>
                    <a:cubicBezTo>
                      <a:pt x="797" y="20"/>
                      <a:pt x="801" y="18"/>
                      <a:pt x="805" y="18"/>
                    </a:cubicBezTo>
                    <a:cubicBezTo>
                      <a:pt x="808" y="18"/>
                      <a:pt x="810" y="19"/>
                      <a:pt x="812" y="21"/>
                    </a:cubicBezTo>
                    <a:cubicBezTo>
                      <a:pt x="812" y="14"/>
                      <a:pt x="812" y="14"/>
                      <a:pt x="812" y="14"/>
                    </a:cubicBezTo>
                    <a:cubicBezTo>
                      <a:pt x="812" y="10"/>
                      <a:pt x="812" y="8"/>
                      <a:pt x="812" y="7"/>
                    </a:cubicBezTo>
                    <a:cubicBezTo>
                      <a:pt x="812" y="6"/>
                      <a:pt x="811" y="5"/>
                      <a:pt x="811" y="5"/>
                    </a:cubicBezTo>
                    <a:cubicBezTo>
                      <a:pt x="811" y="5"/>
                      <a:pt x="810" y="5"/>
                      <a:pt x="809" y="5"/>
                    </a:cubicBezTo>
                    <a:cubicBezTo>
                      <a:pt x="809" y="5"/>
                      <a:pt x="808" y="5"/>
                      <a:pt x="807" y="5"/>
                    </a:cubicBezTo>
                    <a:cubicBezTo>
                      <a:pt x="807" y="4"/>
                      <a:pt x="807" y="4"/>
                      <a:pt x="807" y="4"/>
                    </a:cubicBezTo>
                    <a:cubicBezTo>
                      <a:pt x="816" y="0"/>
                      <a:pt x="816" y="0"/>
                      <a:pt x="816" y="0"/>
                    </a:cubicBezTo>
                    <a:cubicBezTo>
                      <a:pt x="818" y="0"/>
                      <a:pt x="818" y="0"/>
                      <a:pt x="818" y="0"/>
                    </a:cubicBezTo>
                    <a:cubicBezTo>
                      <a:pt x="818" y="39"/>
                      <a:pt x="818" y="39"/>
                      <a:pt x="818" y="39"/>
                    </a:cubicBezTo>
                    <a:cubicBezTo>
                      <a:pt x="818" y="43"/>
                      <a:pt x="818" y="45"/>
                      <a:pt x="818" y="46"/>
                    </a:cubicBezTo>
                    <a:cubicBezTo>
                      <a:pt x="818" y="47"/>
                      <a:pt x="819" y="48"/>
                      <a:pt x="819" y="48"/>
                    </a:cubicBezTo>
                    <a:cubicBezTo>
                      <a:pt x="819" y="49"/>
                      <a:pt x="820" y="49"/>
                      <a:pt x="820" y="49"/>
                    </a:cubicBezTo>
                    <a:cubicBezTo>
                      <a:pt x="821" y="49"/>
                      <a:pt x="822" y="48"/>
                      <a:pt x="823" y="48"/>
                    </a:cubicBezTo>
                    <a:cubicBezTo>
                      <a:pt x="823" y="49"/>
                      <a:pt x="823" y="49"/>
                      <a:pt x="823" y="49"/>
                    </a:cubicBezTo>
                    <a:cubicBezTo>
                      <a:pt x="813" y="53"/>
                      <a:pt x="813" y="53"/>
                      <a:pt x="813" y="53"/>
                    </a:cubicBezTo>
                    <a:cubicBezTo>
                      <a:pt x="812" y="53"/>
                      <a:pt x="812" y="53"/>
                      <a:pt x="812" y="53"/>
                    </a:cubicBezTo>
                    <a:cubicBezTo>
                      <a:pt x="812" y="49"/>
                      <a:pt x="812" y="49"/>
                      <a:pt x="812" y="49"/>
                    </a:cubicBezTo>
                    <a:close/>
                    <a:moveTo>
                      <a:pt x="812" y="46"/>
                    </a:moveTo>
                    <a:cubicBezTo>
                      <a:pt x="812" y="29"/>
                      <a:pt x="812" y="29"/>
                      <a:pt x="812" y="29"/>
                    </a:cubicBezTo>
                    <a:cubicBezTo>
                      <a:pt x="812" y="27"/>
                      <a:pt x="812" y="25"/>
                      <a:pt x="811" y="24"/>
                    </a:cubicBezTo>
                    <a:cubicBezTo>
                      <a:pt x="810" y="23"/>
                      <a:pt x="809" y="22"/>
                      <a:pt x="808" y="21"/>
                    </a:cubicBezTo>
                    <a:cubicBezTo>
                      <a:pt x="807" y="20"/>
                      <a:pt x="806" y="20"/>
                      <a:pt x="805" y="20"/>
                    </a:cubicBezTo>
                    <a:cubicBezTo>
                      <a:pt x="803" y="20"/>
                      <a:pt x="801" y="21"/>
                      <a:pt x="799" y="23"/>
                    </a:cubicBezTo>
                    <a:cubicBezTo>
                      <a:pt x="797" y="25"/>
                      <a:pt x="796" y="29"/>
                      <a:pt x="796" y="34"/>
                    </a:cubicBezTo>
                    <a:cubicBezTo>
                      <a:pt x="796" y="39"/>
                      <a:pt x="797" y="43"/>
                      <a:pt x="799" y="45"/>
                    </a:cubicBezTo>
                    <a:cubicBezTo>
                      <a:pt x="801" y="48"/>
                      <a:pt x="803" y="49"/>
                      <a:pt x="806" y="49"/>
                    </a:cubicBezTo>
                    <a:cubicBezTo>
                      <a:pt x="808" y="50"/>
                      <a:pt x="810" y="49"/>
                      <a:pt x="812" y="46"/>
                    </a:cubicBezTo>
                    <a:close/>
                    <a:moveTo>
                      <a:pt x="883" y="3"/>
                    </a:moveTo>
                    <a:cubicBezTo>
                      <a:pt x="883" y="14"/>
                      <a:pt x="883" y="14"/>
                      <a:pt x="883" y="14"/>
                    </a:cubicBezTo>
                    <a:cubicBezTo>
                      <a:pt x="882" y="14"/>
                      <a:pt x="882" y="14"/>
                      <a:pt x="882" y="14"/>
                    </a:cubicBezTo>
                    <a:cubicBezTo>
                      <a:pt x="882" y="12"/>
                      <a:pt x="881" y="11"/>
                      <a:pt x="881" y="10"/>
                    </a:cubicBezTo>
                    <a:cubicBezTo>
                      <a:pt x="880" y="8"/>
                      <a:pt x="879" y="7"/>
                      <a:pt x="878" y="7"/>
                    </a:cubicBezTo>
                    <a:cubicBezTo>
                      <a:pt x="877" y="6"/>
                      <a:pt x="875" y="5"/>
                      <a:pt x="873" y="5"/>
                    </a:cubicBezTo>
                    <a:cubicBezTo>
                      <a:pt x="867" y="5"/>
                      <a:pt x="867" y="5"/>
                      <a:pt x="867" y="5"/>
                    </a:cubicBezTo>
                    <a:cubicBezTo>
                      <a:pt x="867" y="44"/>
                      <a:pt x="867" y="44"/>
                      <a:pt x="867" y="44"/>
                    </a:cubicBezTo>
                    <a:cubicBezTo>
                      <a:pt x="867" y="47"/>
                      <a:pt x="867" y="49"/>
                      <a:pt x="867" y="49"/>
                    </a:cubicBezTo>
                    <a:cubicBezTo>
                      <a:pt x="868" y="51"/>
                      <a:pt x="870" y="51"/>
                      <a:pt x="871" y="51"/>
                    </a:cubicBezTo>
                    <a:cubicBezTo>
                      <a:pt x="873" y="51"/>
                      <a:pt x="873" y="51"/>
                      <a:pt x="873" y="51"/>
                    </a:cubicBezTo>
                    <a:cubicBezTo>
                      <a:pt x="873" y="52"/>
                      <a:pt x="873" y="52"/>
                      <a:pt x="873" y="52"/>
                    </a:cubicBezTo>
                    <a:cubicBezTo>
                      <a:pt x="853" y="52"/>
                      <a:pt x="853" y="52"/>
                      <a:pt x="853" y="52"/>
                    </a:cubicBezTo>
                    <a:cubicBezTo>
                      <a:pt x="853" y="51"/>
                      <a:pt x="853" y="51"/>
                      <a:pt x="853" y="51"/>
                    </a:cubicBezTo>
                    <a:cubicBezTo>
                      <a:pt x="854" y="51"/>
                      <a:pt x="854" y="51"/>
                      <a:pt x="854" y="51"/>
                    </a:cubicBezTo>
                    <a:cubicBezTo>
                      <a:pt x="856" y="51"/>
                      <a:pt x="858" y="50"/>
                      <a:pt x="859" y="49"/>
                    </a:cubicBezTo>
                    <a:cubicBezTo>
                      <a:pt x="859" y="48"/>
                      <a:pt x="859" y="47"/>
                      <a:pt x="859" y="43"/>
                    </a:cubicBezTo>
                    <a:cubicBezTo>
                      <a:pt x="859" y="5"/>
                      <a:pt x="859" y="5"/>
                      <a:pt x="859" y="5"/>
                    </a:cubicBezTo>
                    <a:cubicBezTo>
                      <a:pt x="853" y="5"/>
                      <a:pt x="853" y="5"/>
                      <a:pt x="853" y="5"/>
                    </a:cubicBezTo>
                    <a:cubicBezTo>
                      <a:pt x="851" y="5"/>
                      <a:pt x="849" y="5"/>
                      <a:pt x="849" y="6"/>
                    </a:cubicBezTo>
                    <a:cubicBezTo>
                      <a:pt x="847" y="6"/>
                      <a:pt x="846" y="7"/>
                      <a:pt x="845" y="9"/>
                    </a:cubicBezTo>
                    <a:cubicBezTo>
                      <a:pt x="845" y="10"/>
                      <a:pt x="844" y="12"/>
                      <a:pt x="844" y="14"/>
                    </a:cubicBezTo>
                    <a:cubicBezTo>
                      <a:pt x="843" y="14"/>
                      <a:pt x="843" y="14"/>
                      <a:pt x="843" y="14"/>
                    </a:cubicBezTo>
                    <a:cubicBezTo>
                      <a:pt x="843" y="3"/>
                      <a:pt x="843" y="3"/>
                      <a:pt x="843" y="3"/>
                    </a:cubicBezTo>
                    <a:cubicBezTo>
                      <a:pt x="883" y="3"/>
                      <a:pt x="883" y="3"/>
                      <a:pt x="883" y="3"/>
                    </a:cubicBezTo>
                    <a:close/>
                    <a:moveTo>
                      <a:pt x="891" y="31"/>
                    </a:moveTo>
                    <a:cubicBezTo>
                      <a:pt x="891" y="37"/>
                      <a:pt x="893" y="40"/>
                      <a:pt x="895" y="43"/>
                    </a:cubicBezTo>
                    <a:cubicBezTo>
                      <a:pt x="897" y="46"/>
                      <a:pt x="900" y="48"/>
                      <a:pt x="903" y="48"/>
                    </a:cubicBezTo>
                    <a:cubicBezTo>
                      <a:pt x="905" y="48"/>
                      <a:pt x="907" y="47"/>
                      <a:pt x="909" y="46"/>
                    </a:cubicBezTo>
                    <a:cubicBezTo>
                      <a:pt x="911" y="45"/>
                      <a:pt x="912" y="43"/>
                      <a:pt x="913" y="39"/>
                    </a:cubicBezTo>
                    <a:cubicBezTo>
                      <a:pt x="914" y="40"/>
                      <a:pt x="914" y="40"/>
                      <a:pt x="914" y="40"/>
                    </a:cubicBezTo>
                    <a:cubicBezTo>
                      <a:pt x="914" y="43"/>
                      <a:pt x="912" y="47"/>
                      <a:pt x="910" y="49"/>
                    </a:cubicBezTo>
                    <a:cubicBezTo>
                      <a:pt x="907" y="52"/>
                      <a:pt x="904" y="53"/>
                      <a:pt x="901" y="53"/>
                    </a:cubicBezTo>
                    <a:cubicBezTo>
                      <a:pt x="897" y="53"/>
                      <a:pt x="893" y="52"/>
                      <a:pt x="891" y="49"/>
                    </a:cubicBezTo>
                    <a:cubicBezTo>
                      <a:pt x="888" y="45"/>
                      <a:pt x="887" y="41"/>
                      <a:pt x="887" y="36"/>
                    </a:cubicBezTo>
                    <a:cubicBezTo>
                      <a:pt x="887" y="30"/>
                      <a:pt x="888" y="25"/>
                      <a:pt x="891" y="22"/>
                    </a:cubicBezTo>
                    <a:cubicBezTo>
                      <a:pt x="894" y="19"/>
                      <a:pt x="897" y="17"/>
                      <a:pt x="902" y="17"/>
                    </a:cubicBezTo>
                    <a:cubicBezTo>
                      <a:pt x="905" y="17"/>
                      <a:pt x="909" y="19"/>
                      <a:pt x="911" y="21"/>
                    </a:cubicBezTo>
                    <a:cubicBezTo>
                      <a:pt x="913" y="23"/>
                      <a:pt x="915" y="27"/>
                      <a:pt x="915" y="31"/>
                    </a:cubicBezTo>
                    <a:cubicBezTo>
                      <a:pt x="891" y="31"/>
                      <a:pt x="891" y="31"/>
                      <a:pt x="891" y="31"/>
                    </a:cubicBezTo>
                    <a:close/>
                    <a:moveTo>
                      <a:pt x="891" y="29"/>
                    </a:moveTo>
                    <a:cubicBezTo>
                      <a:pt x="907" y="29"/>
                      <a:pt x="907" y="29"/>
                      <a:pt x="907" y="29"/>
                    </a:cubicBezTo>
                    <a:cubicBezTo>
                      <a:pt x="907" y="27"/>
                      <a:pt x="906" y="26"/>
                      <a:pt x="906" y="25"/>
                    </a:cubicBezTo>
                    <a:cubicBezTo>
                      <a:pt x="905" y="24"/>
                      <a:pt x="904" y="23"/>
                      <a:pt x="903" y="22"/>
                    </a:cubicBezTo>
                    <a:cubicBezTo>
                      <a:pt x="902" y="21"/>
                      <a:pt x="901" y="21"/>
                      <a:pt x="899" y="21"/>
                    </a:cubicBezTo>
                    <a:cubicBezTo>
                      <a:pt x="897" y="21"/>
                      <a:pt x="896" y="21"/>
                      <a:pt x="894" y="23"/>
                    </a:cubicBezTo>
                    <a:cubicBezTo>
                      <a:pt x="893" y="24"/>
                      <a:pt x="892" y="27"/>
                      <a:pt x="89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7" name="Freeform 35">
                <a:extLst>
                  <a:ext uri="{FF2B5EF4-FFF2-40B4-BE49-F238E27FC236}">
                    <a16:creationId xmlns:a16="http://schemas.microsoft.com/office/drawing/2014/main" id="{EB52C2DE-0E39-4983-4184-A68D1FAA8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679175" y="4943779"/>
                <a:ext cx="873125" cy="103188"/>
              </a:xfrm>
              <a:custGeom>
                <a:avLst/>
                <a:gdLst>
                  <a:gd name="T0" fmla="*/ 23 w 586"/>
                  <a:gd name="T1" fmla="*/ 21 h 69"/>
                  <a:gd name="T2" fmla="*/ 8 w 586"/>
                  <a:gd name="T3" fmla="*/ 24 h 69"/>
                  <a:gd name="T4" fmla="*/ 45 w 586"/>
                  <a:gd name="T5" fmla="*/ 26 h 69"/>
                  <a:gd name="T6" fmla="*/ 66 w 586"/>
                  <a:gd name="T7" fmla="*/ 52 h 69"/>
                  <a:gd name="T8" fmla="*/ 58 w 586"/>
                  <a:gd name="T9" fmla="*/ 46 h 69"/>
                  <a:gd name="T10" fmla="*/ 46 w 586"/>
                  <a:gd name="T11" fmla="*/ 50 h 69"/>
                  <a:gd name="T12" fmla="*/ 40 w 586"/>
                  <a:gd name="T13" fmla="*/ 46 h 69"/>
                  <a:gd name="T14" fmla="*/ 45 w 586"/>
                  <a:gd name="T15" fmla="*/ 1 h 69"/>
                  <a:gd name="T16" fmla="*/ 106 w 586"/>
                  <a:gd name="T17" fmla="*/ 52 h 69"/>
                  <a:gd name="T18" fmla="*/ 98 w 586"/>
                  <a:gd name="T19" fmla="*/ 46 h 69"/>
                  <a:gd name="T20" fmla="*/ 90 w 586"/>
                  <a:gd name="T21" fmla="*/ 52 h 69"/>
                  <a:gd name="T22" fmla="*/ 78 w 586"/>
                  <a:gd name="T23" fmla="*/ 25 h 69"/>
                  <a:gd name="T24" fmla="*/ 132 w 586"/>
                  <a:gd name="T25" fmla="*/ 19 h 69"/>
                  <a:gd name="T26" fmla="*/ 118 w 586"/>
                  <a:gd name="T27" fmla="*/ 28 h 69"/>
                  <a:gd name="T28" fmla="*/ 133 w 586"/>
                  <a:gd name="T29" fmla="*/ 52 h 69"/>
                  <a:gd name="T30" fmla="*/ 169 w 586"/>
                  <a:gd name="T31" fmla="*/ 52 h 69"/>
                  <a:gd name="T32" fmla="*/ 161 w 586"/>
                  <a:gd name="T33" fmla="*/ 15 h 69"/>
                  <a:gd name="T34" fmla="*/ 167 w 586"/>
                  <a:gd name="T35" fmla="*/ 1 h 69"/>
                  <a:gd name="T36" fmla="*/ 181 w 586"/>
                  <a:gd name="T37" fmla="*/ 38 h 69"/>
                  <a:gd name="T38" fmla="*/ 189 w 586"/>
                  <a:gd name="T39" fmla="*/ 47 h 69"/>
                  <a:gd name="T40" fmla="*/ 222 w 586"/>
                  <a:gd name="T41" fmla="*/ 31 h 69"/>
                  <a:gd name="T42" fmla="*/ 252 w 586"/>
                  <a:gd name="T43" fmla="*/ 24 h 69"/>
                  <a:gd name="T44" fmla="*/ 228 w 586"/>
                  <a:gd name="T45" fmla="*/ 44 h 69"/>
                  <a:gd name="T46" fmla="*/ 249 w 586"/>
                  <a:gd name="T47" fmla="*/ 64 h 69"/>
                  <a:gd name="T48" fmla="*/ 223 w 586"/>
                  <a:gd name="T49" fmla="*/ 48 h 69"/>
                  <a:gd name="T50" fmla="*/ 240 w 586"/>
                  <a:gd name="T51" fmla="*/ 39 h 69"/>
                  <a:gd name="T52" fmla="*/ 238 w 586"/>
                  <a:gd name="T53" fmla="*/ 66 h 69"/>
                  <a:gd name="T54" fmla="*/ 274 w 586"/>
                  <a:gd name="T55" fmla="*/ 21 h 69"/>
                  <a:gd name="T56" fmla="*/ 286 w 586"/>
                  <a:gd name="T57" fmla="*/ 21 h 69"/>
                  <a:gd name="T58" fmla="*/ 290 w 586"/>
                  <a:gd name="T59" fmla="*/ 25 h 69"/>
                  <a:gd name="T60" fmla="*/ 267 w 586"/>
                  <a:gd name="T61" fmla="*/ 62 h 69"/>
                  <a:gd name="T62" fmla="*/ 258 w 586"/>
                  <a:gd name="T63" fmla="*/ 20 h 69"/>
                  <a:gd name="T64" fmla="*/ 319 w 586"/>
                  <a:gd name="T65" fmla="*/ 49 h 69"/>
                  <a:gd name="T66" fmla="*/ 322 w 586"/>
                  <a:gd name="T67" fmla="*/ 34 h 69"/>
                  <a:gd name="T68" fmla="*/ 368 w 586"/>
                  <a:gd name="T69" fmla="*/ 45 h 69"/>
                  <a:gd name="T70" fmla="*/ 360 w 586"/>
                  <a:gd name="T71" fmla="*/ 52 h 69"/>
                  <a:gd name="T72" fmla="*/ 364 w 586"/>
                  <a:gd name="T73" fmla="*/ 8 h 69"/>
                  <a:gd name="T74" fmla="*/ 378 w 586"/>
                  <a:gd name="T75" fmla="*/ 6 h 69"/>
                  <a:gd name="T76" fmla="*/ 377 w 586"/>
                  <a:gd name="T77" fmla="*/ 22 h 69"/>
                  <a:gd name="T78" fmla="*/ 408 w 586"/>
                  <a:gd name="T79" fmla="*/ 16 h 69"/>
                  <a:gd name="T80" fmla="*/ 433 w 586"/>
                  <a:gd name="T81" fmla="*/ 52 h 69"/>
                  <a:gd name="T82" fmla="*/ 435 w 586"/>
                  <a:gd name="T83" fmla="*/ 6 h 69"/>
                  <a:gd name="T84" fmla="*/ 476 w 586"/>
                  <a:gd name="T85" fmla="*/ 20 h 69"/>
                  <a:gd name="T86" fmla="*/ 468 w 586"/>
                  <a:gd name="T87" fmla="*/ 54 h 69"/>
                  <a:gd name="T88" fmla="*/ 472 w 586"/>
                  <a:gd name="T89" fmla="*/ 24 h 69"/>
                  <a:gd name="T90" fmla="*/ 466 w 586"/>
                  <a:gd name="T91" fmla="*/ 54 h 69"/>
                  <a:gd name="T92" fmla="*/ 454 w 586"/>
                  <a:gd name="T93" fmla="*/ 6 h 69"/>
                  <a:gd name="T94" fmla="*/ 502 w 586"/>
                  <a:gd name="T95" fmla="*/ 5 h 69"/>
                  <a:gd name="T96" fmla="*/ 502 w 586"/>
                  <a:gd name="T97" fmla="*/ 46 h 69"/>
                  <a:gd name="T98" fmla="*/ 495 w 586"/>
                  <a:gd name="T99" fmla="*/ 50 h 69"/>
                  <a:gd name="T100" fmla="*/ 500 w 586"/>
                  <a:gd name="T101" fmla="*/ 19 h 69"/>
                  <a:gd name="T102" fmla="*/ 544 w 586"/>
                  <a:gd name="T103" fmla="*/ 50 h 69"/>
                  <a:gd name="T104" fmla="*/ 538 w 586"/>
                  <a:gd name="T105" fmla="*/ 49 h 69"/>
                  <a:gd name="T106" fmla="*/ 526 w 586"/>
                  <a:gd name="T107" fmla="*/ 52 h 69"/>
                  <a:gd name="T108" fmla="*/ 518 w 586"/>
                  <a:gd name="T109" fmla="*/ 33 h 69"/>
                  <a:gd name="T110" fmla="*/ 524 w 586"/>
                  <a:gd name="T111" fmla="*/ 26 h 69"/>
                  <a:gd name="T112" fmla="*/ 574 w 586"/>
                  <a:gd name="T113" fmla="*/ 31 h 69"/>
                  <a:gd name="T114" fmla="*/ 560 w 586"/>
                  <a:gd name="T115" fmla="*/ 30 h 69"/>
                  <a:gd name="T116" fmla="*/ 580 w 586"/>
                  <a:gd name="T117" fmla="*/ 41 h 69"/>
                  <a:gd name="T118" fmla="*/ 575 w 586"/>
                  <a:gd name="T119" fmla="*/ 52 h 69"/>
                  <a:gd name="T120" fmla="*/ 566 w 586"/>
                  <a:gd name="T121" fmla="*/ 5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6" h="69">
                    <a:moveTo>
                      <a:pt x="27" y="41"/>
                    </a:moveTo>
                    <a:cubicBezTo>
                      <a:pt x="26" y="45"/>
                      <a:pt x="24" y="49"/>
                      <a:pt x="22" y="51"/>
                    </a:cubicBezTo>
                    <a:cubicBezTo>
                      <a:pt x="19" y="54"/>
                      <a:pt x="16" y="55"/>
                      <a:pt x="13" y="55"/>
                    </a:cubicBezTo>
                    <a:cubicBezTo>
                      <a:pt x="10" y="55"/>
                      <a:pt x="6" y="53"/>
                      <a:pt x="4" y="50"/>
                    </a:cubicBezTo>
                    <a:cubicBezTo>
                      <a:pt x="1" y="47"/>
                      <a:pt x="0" y="42"/>
                      <a:pt x="0" y="37"/>
                    </a:cubicBezTo>
                    <a:cubicBezTo>
                      <a:pt x="0" y="32"/>
                      <a:pt x="1" y="27"/>
                      <a:pt x="4" y="24"/>
                    </a:cubicBezTo>
                    <a:cubicBezTo>
                      <a:pt x="7" y="20"/>
                      <a:pt x="11" y="18"/>
                      <a:pt x="15" y="18"/>
                    </a:cubicBezTo>
                    <a:cubicBezTo>
                      <a:pt x="18" y="18"/>
                      <a:pt x="21" y="19"/>
                      <a:pt x="23" y="21"/>
                    </a:cubicBezTo>
                    <a:cubicBezTo>
                      <a:pt x="25" y="23"/>
                      <a:pt x="26" y="25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ubicBezTo>
                      <a:pt x="25" y="30"/>
                      <a:pt x="24" y="30"/>
                      <a:pt x="23" y="30"/>
                    </a:cubicBezTo>
                    <a:cubicBezTo>
                      <a:pt x="22" y="30"/>
                      <a:pt x="21" y="30"/>
                      <a:pt x="20" y="28"/>
                    </a:cubicBezTo>
                    <a:cubicBezTo>
                      <a:pt x="20" y="28"/>
                      <a:pt x="19" y="27"/>
                      <a:pt x="19" y="26"/>
                    </a:cubicBezTo>
                    <a:cubicBezTo>
                      <a:pt x="19" y="24"/>
                      <a:pt x="18" y="23"/>
                      <a:pt x="18" y="22"/>
                    </a:cubicBezTo>
                    <a:cubicBezTo>
                      <a:pt x="17" y="22"/>
                      <a:pt x="16" y="21"/>
                      <a:pt x="14" y="21"/>
                    </a:cubicBezTo>
                    <a:cubicBezTo>
                      <a:pt x="12" y="21"/>
                      <a:pt x="10" y="22"/>
                      <a:pt x="8" y="24"/>
                    </a:cubicBezTo>
                    <a:cubicBezTo>
                      <a:pt x="6" y="26"/>
                      <a:pt x="6" y="30"/>
                      <a:pt x="6" y="34"/>
                    </a:cubicBezTo>
                    <a:cubicBezTo>
                      <a:pt x="6" y="38"/>
                      <a:pt x="6" y="41"/>
                      <a:pt x="8" y="44"/>
                    </a:cubicBezTo>
                    <a:cubicBezTo>
                      <a:pt x="10" y="48"/>
                      <a:pt x="13" y="49"/>
                      <a:pt x="16" y="49"/>
                    </a:cubicBezTo>
                    <a:cubicBezTo>
                      <a:pt x="18" y="49"/>
                      <a:pt x="20" y="48"/>
                      <a:pt x="22" y="47"/>
                    </a:cubicBezTo>
                    <a:cubicBezTo>
                      <a:pt x="24" y="46"/>
                      <a:pt x="25" y="44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lose/>
                    <a:moveTo>
                      <a:pt x="45" y="1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8" y="22"/>
                      <a:pt x="50" y="21"/>
                      <a:pt x="51" y="20"/>
                    </a:cubicBezTo>
                    <a:cubicBezTo>
                      <a:pt x="53" y="19"/>
                      <a:pt x="54" y="18"/>
                      <a:pt x="56" y="18"/>
                    </a:cubicBezTo>
                    <a:cubicBezTo>
                      <a:pt x="58" y="18"/>
                      <a:pt x="60" y="19"/>
                      <a:pt x="61" y="20"/>
                    </a:cubicBezTo>
                    <a:cubicBezTo>
                      <a:pt x="62" y="21"/>
                      <a:pt x="63" y="23"/>
                      <a:pt x="64" y="25"/>
                    </a:cubicBezTo>
                    <a:cubicBezTo>
                      <a:pt x="64" y="27"/>
                      <a:pt x="64" y="30"/>
                      <a:pt x="64" y="34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8"/>
                      <a:pt x="64" y="50"/>
                      <a:pt x="65" y="50"/>
                    </a:cubicBezTo>
                    <a:cubicBezTo>
                      <a:pt x="65" y="51"/>
                      <a:pt x="66" y="52"/>
                      <a:pt x="66" y="52"/>
                    </a:cubicBezTo>
                    <a:cubicBezTo>
                      <a:pt x="66" y="52"/>
                      <a:pt x="68" y="52"/>
                      <a:pt x="69" y="52"/>
                    </a:cubicBezTo>
                    <a:cubicBezTo>
                      <a:pt x="69" y="54"/>
                      <a:pt x="69" y="54"/>
                      <a:pt x="69" y="54"/>
                    </a:cubicBezTo>
                    <a:cubicBezTo>
                      <a:pt x="53" y="54"/>
                      <a:pt x="53" y="54"/>
                      <a:pt x="53" y="54"/>
                    </a:cubicBezTo>
                    <a:cubicBezTo>
                      <a:pt x="53" y="52"/>
                      <a:pt x="53" y="52"/>
                      <a:pt x="53" y="52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56" y="52"/>
                      <a:pt x="56" y="52"/>
                      <a:pt x="57" y="52"/>
                    </a:cubicBezTo>
                    <a:cubicBezTo>
                      <a:pt x="58" y="51"/>
                      <a:pt x="58" y="50"/>
                      <a:pt x="58" y="50"/>
                    </a:cubicBezTo>
                    <a:cubicBezTo>
                      <a:pt x="58" y="49"/>
                      <a:pt x="58" y="48"/>
                      <a:pt x="58" y="46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8" y="30"/>
                      <a:pt x="58" y="28"/>
                      <a:pt x="58" y="27"/>
                    </a:cubicBezTo>
                    <a:cubicBezTo>
                      <a:pt x="58" y="26"/>
                      <a:pt x="57" y="25"/>
                      <a:pt x="56" y="24"/>
                    </a:cubicBezTo>
                    <a:cubicBezTo>
                      <a:pt x="56" y="24"/>
                      <a:pt x="55" y="23"/>
                      <a:pt x="54" y="23"/>
                    </a:cubicBezTo>
                    <a:cubicBezTo>
                      <a:pt x="52" y="23"/>
                      <a:pt x="51" y="24"/>
                      <a:pt x="50" y="24"/>
                    </a:cubicBezTo>
                    <a:cubicBezTo>
                      <a:pt x="49" y="25"/>
                      <a:pt x="47" y="26"/>
                      <a:pt x="46" y="2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8"/>
                      <a:pt x="46" y="50"/>
                      <a:pt x="46" y="50"/>
                    </a:cubicBezTo>
                    <a:cubicBezTo>
                      <a:pt x="46" y="51"/>
                      <a:pt x="47" y="52"/>
                      <a:pt x="47" y="52"/>
                    </a:cubicBezTo>
                    <a:cubicBezTo>
                      <a:pt x="48" y="52"/>
                      <a:pt x="49" y="52"/>
                      <a:pt x="51" y="52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8" y="51"/>
                      <a:pt x="39" y="51"/>
                      <a:pt x="39" y="50"/>
                    </a:cubicBezTo>
                    <a:cubicBezTo>
                      <a:pt x="40" y="49"/>
                      <a:pt x="40" y="48"/>
                      <a:pt x="40" y="46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1"/>
                      <a:pt x="40" y="8"/>
                      <a:pt x="39" y="8"/>
                    </a:cubicBezTo>
                    <a:cubicBezTo>
                      <a:pt x="39" y="7"/>
                      <a:pt x="39" y="6"/>
                      <a:pt x="38" y="6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6" y="5"/>
                      <a:pt x="36" y="5"/>
                      <a:pt x="34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1"/>
                      <a:pt x="45" y="1"/>
                      <a:pt x="45" y="1"/>
                    </a:cubicBezTo>
                    <a:close/>
                    <a:moveTo>
                      <a:pt x="85" y="26"/>
                    </a:moveTo>
                    <a:cubicBezTo>
                      <a:pt x="89" y="21"/>
                      <a:pt x="92" y="19"/>
                      <a:pt x="96" y="19"/>
                    </a:cubicBezTo>
                    <a:cubicBezTo>
                      <a:pt x="97" y="19"/>
                      <a:pt x="99" y="19"/>
                      <a:pt x="100" y="20"/>
                    </a:cubicBezTo>
                    <a:cubicBezTo>
                      <a:pt x="102" y="21"/>
                      <a:pt x="103" y="22"/>
                      <a:pt x="104" y="24"/>
                    </a:cubicBezTo>
                    <a:cubicBezTo>
                      <a:pt x="104" y="26"/>
                      <a:pt x="104" y="28"/>
                      <a:pt x="104" y="31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4" y="48"/>
                      <a:pt x="104" y="49"/>
                      <a:pt x="105" y="50"/>
                    </a:cubicBezTo>
                    <a:cubicBezTo>
                      <a:pt x="105" y="51"/>
                      <a:pt x="106" y="51"/>
                      <a:pt x="106" y="52"/>
                    </a:cubicBezTo>
                    <a:cubicBezTo>
                      <a:pt x="106" y="52"/>
                      <a:pt x="108" y="52"/>
                      <a:pt x="109" y="52"/>
                    </a:cubicBezTo>
                    <a:cubicBezTo>
                      <a:pt x="109" y="53"/>
                      <a:pt x="109" y="53"/>
                      <a:pt x="109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4" y="52"/>
                      <a:pt x="94" y="52"/>
                      <a:pt x="94" y="52"/>
                    </a:cubicBezTo>
                    <a:cubicBezTo>
                      <a:pt x="96" y="52"/>
                      <a:pt x="96" y="52"/>
                      <a:pt x="97" y="51"/>
                    </a:cubicBezTo>
                    <a:cubicBezTo>
                      <a:pt x="98" y="51"/>
                      <a:pt x="98" y="50"/>
                      <a:pt x="98" y="49"/>
                    </a:cubicBezTo>
                    <a:cubicBezTo>
                      <a:pt x="98" y="49"/>
                      <a:pt x="98" y="48"/>
                      <a:pt x="98" y="46"/>
                    </a:cubicBezTo>
                    <a:cubicBezTo>
                      <a:pt x="98" y="32"/>
                      <a:pt x="98" y="32"/>
                      <a:pt x="98" y="32"/>
                    </a:cubicBezTo>
                    <a:cubicBezTo>
                      <a:pt x="98" y="28"/>
                      <a:pt x="98" y="26"/>
                      <a:pt x="97" y="25"/>
                    </a:cubicBezTo>
                    <a:cubicBezTo>
                      <a:pt x="96" y="24"/>
                      <a:pt x="95" y="23"/>
                      <a:pt x="93" y="23"/>
                    </a:cubicBezTo>
                    <a:cubicBezTo>
                      <a:pt x="90" y="23"/>
                      <a:pt x="88" y="24"/>
                      <a:pt x="85" y="28"/>
                    </a:cubicBezTo>
                    <a:cubicBezTo>
                      <a:pt x="85" y="46"/>
                      <a:pt x="85" y="46"/>
                      <a:pt x="85" y="46"/>
                    </a:cubicBezTo>
                    <a:cubicBezTo>
                      <a:pt x="85" y="48"/>
                      <a:pt x="85" y="49"/>
                      <a:pt x="85" y="50"/>
                    </a:cubicBezTo>
                    <a:cubicBezTo>
                      <a:pt x="86" y="51"/>
                      <a:pt x="86" y="51"/>
                      <a:pt x="86" y="52"/>
                    </a:cubicBezTo>
                    <a:cubicBezTo>
                      <a:pt x="87" y="52"/>
                      <a:pt x="88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4" y="52"/>
                      <a:pt x="74" y="52"/>
                      <a:pt x="74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8" y="52"/>
                      <a:pt x="78" y="51"/>
                    </a:cubicBezTo>
                    <a:cubicBezTo>
                      <a:pt x="78" y="50"/>
                      <a:pt x="79" y="48"/>
                      <a:pt x="79" y="46"/>
                    </a:cubicBezTo>
                    <a:cubicBezTo>
                      <a:pt x="79" y="33"/>
                      <a:pt x="79" y="33"/>
                      <a:pt x="79" y="33"/>
                    </a:cubicBezTo>
                    <a:cubicBezTo>
                      <a:pt x="79" y="29"/>
                      <a:pt x="79" y="26"/>
                      <a:pt x="78" y="25"/>
                    </a:cubicBezTo>
                    <a:cubicBezTo>
                      <a:pt x="78" y="24"/>
                      <a:pt x="78" y="24"/>
                      <a:pt x="78" y="23"/>
                    </a:cubicBezTo>
                    <a:cubicBezTo>
                      <a:pt x="77" y="23"/>
                      <a:pt x="77" y="23"/>
                      <a:pt x="76" y="23"/>
                    </a:cubicBezTo>
                    <a:cubicBezTo>
                      <a:pt x="75" y="23"/>
                      <a:pt x="74" y="23"/>
                      <a:pt x="74" y="23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5" y="26"/>
                      <a:pt x="85" y="26"/>
                      <a:pt x="85" y="26"/>
                    </a:cubicBezTo>
                    <a:close/>
                    <a:moveTo>
                      <a:pt x="132" y="19"/>
                    </a:moveTo>
                    <a:cubicBezTo>
                      <a:pt x="136" y="19"/>
                      <a:pt x="140" y="21"/>
                      <a:pt x="144" y="25"/>
                    </a:cubicBezTo>
                    <a:cubicBezTo>
                      <a:pt x="146" y="28"/>
                      <a:pt x="148" y="32"/>
                      <a:pt x="148" y="36"/>
                    </a:cubicBezTo>
                    <a:cubicBezTo>
                      <a:pt x="148" y="40"/>
                      <a:pt x="147" y="42"/>
                      <a:pt x="146" y="46"/>
                    </a:cubicBezTo>
                    <a:cubicBezTo>
                      <a:pt x="144" y="49"/>
                      <a:pt x="142" y="51"/>
                      <a:pt x="140" y="53"/>
                    </a:cubicBezTo>
                    <a:cubicBezTo>
                      <a:pt x="137" y="54"/>
                      <a:pt x="134" y="55"/>
                      <a:pt x="131" y="55"/>
                    </a:cubicBezTo>
                    <a:cubicBezTo>
                      <a:pt x="126" y="55"/>
                      <a:pt x="122" y="53"/>
                      <a:pt x="120" y="49"/>
                    </a:cubicBezTo>
                    <a:cubicBezTo>
                      <a:pt x="117" y="46"/>
                      <a:pt x="116" y="42"/>
                      <a:pt x="116" y="38"/>
                    </a:cubicBezTo>
                    <a:cubicBezTo>
                      <a:pt x="116" y="34"/>
                      <a:pt x="117" y="31"/>
                      <a:pt x="118" y="28"/>
                    </a:cubicBezTo>
                    <a:cubicBezTo>
                      <a:pt x="120" y="26"/>
                      <a:pt x="122" y="23"/>
                      <a:pt x="124" y="22"/>
                    </a:cubicBezTo>
                    <a:cubicBezTo>
                      <a:pt x="126" y="20"/>
                      <a:pt x="129" y="19"/>
                      <a:pt x="132" y="19"/>
                    </a:cubicBezTo>
                    <a:close/>
                    <a:moveTo>
                      <a:pt x="130" y="21"/>
                    </a:moveTo>
                    <a:cubicBezTo>
                      <a:pt x="129" y="21"/>
                      <a:pt x="128" y="22"/>
                      <a:pt x="127" y="22"/>
                    </a:cubicBezTo>
                    <a:cubicBezTo>
                      <a:pt x="126" y="23"/>
                      <a:pt x="124" y="24"/>
                      <a:pt x="124" y="26"/>
                    </a:cubicBezTo>
                    <a:cubicBezTo>
                      <a:pt x="123" y="28"/>
                      <a:pt x="122" y="31"/>
                      <a:pt x="122" y="34"/>
                    </a:cubicBezTo>
                    <a:cubicBezTo>
                      <a:pt x="122" y="39"/>
                      <a:pt x="123" y="43"/>
                      <a:pt x="125" y="47"/>
                    </a:cubicBezTo>
                    <a:cubicBezTo>
                      <a:pt x="127" y="50"/>
                      <a:pt x="130" y="52"/>
                      <a:pt x="133" y="52"/>
                    </a:cubicBezTo>
                    <a:cubicBezTo>
                      <a:pt x="135" y="52"/>
                      <a:pt x="137" y="51"/>
                      <a:pt x="138" y="49"/>
                    </a:cubicBezTo>
                    <a:cubicBezTo>
                      <a:pt x="140" y="47"/>
                      <a:pt x="141" y="44"/>
                      <a:pt x="141" y="39"/>
                    </a:cubicBezTo>
                    <a:cubicBezTo>
                      <a:pt x="141" y="33"/>
                      <a:pt x="140" y="28"/>
                      <a:pt x="137" y="25"/>
                    </a:cubicBezTo>
                    <a:cubicBezTo>
                      <a:pt x="135" y="22"/>
                      <a:pt x="133" y="21"/>
                      <a:pt x="130" y="21"/>
                    </a:cubicBezTo>
                    <a:close/>
                    <a:moveTo>
                      <a:pt x="167" y="1"/>
                    </a:moveTo>
                    <a:cubicBezTo>
                      <a:pt x="167" y="46"/>
                      <a:pt x="167" y="46"/>
                      <a:pt x="167" y="46"/>
                    </a:cubicBezTo>
                    <a:cubicBezTo>
                      <a:pt x="167" y="48"/>
                      <a:pt x="167" y="50"/>
                      <a:pt x="168" y="50"/>
                    </a:cubicBezTo>
                    <a:cubicBezTo>
                      <a:pt x="168" y="51"/>
                      <a:pt x="168" y="52"/>
                      <a:pt x="169" y="52"/>
                    </a:cubicBezTo>
                    <a:cubicBezTo>
                      <a:pt x="170" y="52"/>
                      <a:pt x="170" y="52"/>
                      <a:pt x="172" y="52"/>
                    </a:cubicBezTo>
                    <a:cubicBezTo>
                      <a:pt x="172" y="54"/>
                      <a:pt x="172" y="54"/>
                      <a:pt x="172" y="54"/>
                    </a:cubicBezTo>
                    <a:cubicBezTo>
                      <a:pt x="156" y="54"/>
                      <a:pt x="156" y="54"/>
                      <a:pt x="156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8" y="52"/>
                      <a:pt x="159" y="52"/>
                      <a:pt x="160" y="52"/>
                    </a:cubicBezTo>
                    <a:cubicBezTo>
                      <a:pt x="160" y="52"/>
                      <a:pt x="160" y="51"/>
                      <a:pt x="161" y="50"/>
                    </a:cubicBezTo>
                    <a:cubicBezTo>
                      <a:pt x="161" y="50"/>
                      <a:pt x="161" y="48"/>
                      <a:pt x="161" y="46"/>
                    </a:cubicBezTo>
                    <a:cubicBezTo>
                      <a:pt x="161" y="15"/>
                      <a:pt x="161" y="15"/>
                      <a:pt x="161" y="15"/>
                    </a:cubicBezTo>
                    <a:cubicBezTo>
                      <a:pt x="161" y="11"/>
                      <a:pt x="161" y="9"/>
                      <a:pt x="161" y="8"/>
                    </a:cubicBezTo>
                    <a:cubicBezTo>
                      <a:pt x="161" y="7"/>
                      <a:pt x="160" y="6"/>
                      <a:pt x="160" y="6"/>
                    </a:cubicBezTo>
                    <a:cubicBezTo>
                      <a:pt x="160" y="6"/>
                      <a:pt x="159" y="6"/>
                      <a:pt x="158" y="6"/>
                    </a:cubicBezTo>
                    <a:cubicBezTo>
                      <a:pt x="158" y="6"/>
                      <a:pt x="157" y="6"/>
                      <a:pt x="156" y="6"/>
                    </a:cubicBezTo>
                    <a:cubicBezTo>
                      <a:pt x="155" y="5"/>
                      <a:pt x="155" y="5"/>
                      <a:pt x="155" y="5"/>
                    </a:cubicBezTo>
                    <a:cubicBezTo>
                      <a:pt x="165" y="1"/>
                      <a:pt x="165" y="1"/>
                      <a:pt x="165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1"/>
                      <a:pt x="167" y="1"/>
                      <a:pt x="167" y="1"/>
                    </a:cubicBezTo>
                    <a:close/>
                    <a:moveTo>
                      <a:pt x="196" y="19"/>
                    </a:moveTo>
                    <a:cubicBezTo>
                      <a:pt x="201" y="19"/>
                      <a:pt x="205" y="21"/>
                      <a:pt x="208" y="25"/>
                    </a:cubicBezTo>
                    <a:cubicBezTo>
                      <a:pt x="210" y="28"/>
                      <a:pt x="212" y="32"/>
                      <a:pt x="212" y="36"/>
                    </a:cubicBezTo>
                    <a:cubicBezTo>
                      <a:pt x="212" y="40"/>
                      <a:pt x="211" y="42"/>
                      <a:pt x="210" y="46"/>
                    </a:cubicBezTo>
                    <a:cubicBezTo>
                      <a:pt x="209" y="49"/>
                      <a:pt x="207" y="51"/>
                      <a:pt x="204" y="53"/>
                    </a:cubicBezTo>
                    <a:cubicBezTo>
                      <a:pt x="202" y="54"/>
                      <a:pt x="199" y="55"/>
                      <a:pt x="196" y="55"/>
                    </a:cubicBezTo>
                    <a:cubicBezTo>
                      <a:pt x="191" y="55"/>
                      <a:pt x="187" y="53"/>
                      <a:pt x="184" y="49"/>
                    </a:cubicBezTo>
                    <a:cubicBezTo>
                      <a:pt x="182" y="46"/>
                      <a:pt x="181" y="42"/>
                      <a:pt x="181" y="38"/>
                    </a:cubicBezTo>
                    <a:cubicBezTo>
                      <a:pt x="181" y="34"/>
                      <a:pt x="182" y="31"/>
                      <a:pt x="183" y="28"/>
                    </a:cubicBezTo>
                    <a:cubicBezTo>
                      <a:pt x="185" y="26"/>
                      <a:pt x="187" y="23"/>
                      <a:pt x="189" y="22"/>
                    </a:cubicBezTo>
                    <a:cubicBezTo>
                      <a:pt x="190" y="20"/>
                      <a:pt x="193" y="19"/>
                      <a:pt x="196" y="19"/>
                    </a:cubicBezTo>
                    <a:close/>
                    <a:moveTo>
                      <a:pt x="195" y="21"/>
                    </a:moveTo>
                    <a:cubicBezTo>
                      <a:pt x="194" y="21"/>
                      <a:pt x="192" y="22"/>
                      <a:pt x="191" y="22"/>
                    </a:cubicBezTo>
                    <a:cubicBezTo>
                      <a:pt x="190" y="23"/>
                      <a:pt x="188" y="24"/>
                      <a:pt x="188" y="26"/>
                    </a:cubicBezTo>
                    <a:cubicBezTo>
                      <a:pt x="187" y="28"/>
                      <a:pt x="186" y="31"/>
                      <a:pt x="186" y="34"/>
                    </a:cubicBezTo>
                    <a:cubicBezTo>
                      <a:pt x="186" y="39"/>
                      <a:pt x="187" y="43"/>
                      <a:pt x="189" y="47"/>
                    </a:cubicBezTo>
                    <a:cubicBezTo>
                      <a:pt x="191" y="50"/>
                      <a:pt x="194" y="52"/>
                      <a:pt x="197" y="52"/>
                    </a:cubicBezTo>
                    <a:cubicBezTo>
                      <a:pt x="199" y="52"/>
                      <a:pt x="201" y="51"/>
                      <a:pt x="202" y="49"/>
                    </a:cubicBezTo>
                    <a:cubicBezTo>
                      <a:pt x="204" y="47"/>
                      <a:pt x="205" y="44"/>
                      <a:pt x="205" y="39"/>
                    </a:cubicBezTo>
                    <a:cubicBezTo>
                      <a:pt x="205" y="33"/>
                      <a:pt x="204" y="28"/>
                      <a:pt x="201" y="25"/>
                    </a:cubicBezTo>
                    <a:cubicBezTo>
                      <a:pt x="200" y="22"/>
                      <a:pt x="197" y="21"/>
                      <a:pt x="195" y="21"/>
                    </a:cubicBezTo>
                    <a:close/>
                    <a:moveTo>
                      <a:pt x="229" y="41"/>
                    </a:moveTo>
                    <a:cubicBezTo>
                      <a:pt x="227" y="40"/>
                      <a:pt x="225" y="39"/>
                      <a:pt x="224" y="37"/>
                    </a:cubicBezTo>
                    <a:cubicBezTo>
                      <a:pt x="223" y="35"/>
                      <a:pt x="222" y="33"/>
                      <a:pt x="222" y="31"/>
                    </a:cubicBezTo>
                    <a:cubicBezTo>
                      <a:pt x="222" y="28"/>
                      <a:pt x="224" y="24"/>
                      <a:pt x="226" y="22"/>
                    </a:cubicBezTo>
                    <a:cubicBezTo>
                      <a:pt x="228" y="20"/>
                      <a:pt x="232" y="18"/>
                      <a:pt x="235" y="18"/>
                    </a:cubicBezTo>
                    <a:cubicBezTo>
                      <a:pt x="238" y="18"/>
                      <a:pt x="241" y="19"/>
                      <a:pt x="243" y="21"/>
                    </a:cubicBezTo>
                    <a:cubicBezTo>
                      <a:pt x="250" y="21"/>
                      <a:pt x="250" y="21"/>
                      <a:pt x="250" y="21"/>
                    </a:cubicBezTo>
                    <a:cubicBezTo>
                      <a:pt x="251" y="21"/>
                      <a:pt x="252" y="21"/>
                      <a:pt x="252" y="21"/>
                    </a:cubicBezTo>
                    <a:cubicBezTo>
                      <a:pt x="252" y="21"/>
                      <a:pt x="252" y="21"/>
                      <a:pt x="252" y="21"/>
                    </a:cubicBezTo>
                    <a:cubicBezTo>
                      <a:pt x="252" y="22"/>
                      <a:pt x="252" y="22"/>
                      <a:pt x="252" y="22"/>
                    </a:cubicBezTo>
                    <a:cubicBezTo>
                      <a:pt x="252" y="23"/>
                      <a:pt x="252" y="24"/>
                      <a:pt x="252" y="24"/>
                    </a:cubicBezTo>
                    <a:cubicBezTo>
                      <a:pt x="252" y="24"/>
                      <a:pt x="252" y="24"/>
                      <a:pt x="252" y="24"/>
                    </a:cubicBezTo>
                    <a:cubicBezTo>
                      <a:pt x="252" y="24"/>
                      <a:pt x="251" y="24"/>
                      <a:pt x="250" y="24"/>
                    </a:cubicBezTo>
                    <a:cubicBezTo>
                      <a:pt x="246" y="24"/>
                      <a:pt x="246" y="24"/>
                      <a:pt x="246" y="24"/>
                    </a:cubicBezTo>
                    <a:cubicBezTo>
                      <a:pt x="247" y="26"/>
                      <a:pt x="248" y="28"/>
                      <a:pt x="248" y="31"/>
                    </a:cubicBezTo>
                    <a:cubicBezTo>
                      <a:pt x="248" y="34"/>
                      <a:pt x="246" y="37"/>
                      <a:pt x="244" y="39"/>
                    </a:cubicBezTo>
                    <a:cubicBezTo>
                      <a:pt x="242" y="41"/>
                      <a:pt x="238" y="42"/>
                      <a:pt x="235" y="42"/>
                    </a:cubicBezTo>
                    <a:cubicBezTo>
                      <a:pt x="233" y="42"/>
                      <a:pt x="232" y="42"/>
                      <a:pt x="230" y="41"/>
                    </a:cubicBezTo>
                    <a:cubicBezTo>
                      <a:pt x="229" y="42"/>
                      <a:pt x="228" y="43"/>
                      <a:pt x="228" y="44"/>
                    </a:cubicBezTo>
                    <a:cubicBezTo>
                      <a:pt x="228" y="44"/>
                      <a:pt x="228" y="45"/>
                      <a:pt x="228" y="45"/>
                    </a:cubicBezTo>
                    <a:cubicBezTo>
                      <a:pt x="228" y="46"/>
                      <a:pt x="228" y="46"/>
                      <a:pt x="228" y="46"/>
                    </a:cubicBezTo>
                    <a:cubicBezTo>
                      <a:pt x="228" y="47"/>
                      <a:pt x="229" y="47"/>
                      <a:pt x="230" y="47"/>
                    </a:cubicBezTo>
                    <a:cubicBezTo>
                      <a:pt x="231" y="47"/>
                      <a:pt x="233" y="47"/>
                      <a:pt x="236" y="48"/>
                    </a:cubicBezTo>
                    <a:cubicBezTo>
                      <a:pt x="240" y="48"/>
                      <a:pt x="244" y="48"/>
                      <a:pt x="245" y="48"/>
                    </a:cubicBezTo>
                    <a:cubicBezTo>
                      <a:pt x="248" y="48"/>
                      <a:pt x="249" y="49"/>
                      <a:pt x="250" y="50"/>
                    </a:cubicBezTo>
                    <a:cubicBezTo>
                      <a:pt x="252" y="52"/>
                      <a:pt x="252" y="54"/>
                      <a:pt x="252" y="56"/>
                    </a:cubicBezTo>
                    <a:cubicBezTo>
                      <a:pt x="252" y="58"/>
                      <a:pt x="251" y="61"/>
                      <a:pt x="249" y="64"/>
                    </a:cubicBezTo>
                    <a:cubicBezTo>
                      <a:pt x="245" y="67"/>
                      <a:pt x="240" y="69"/>
                      <a:pt x="234" y="69"/>
                    </a:cubicBezTo>
                    <a:cubicBezTo>
                      <a:pt x="230" y="69"/>
                      <a:pt x="226" y="68"/>
                      <a:pt x="223" y="66"/>
                    </a:cubicBezTo>
                    <a:cubicBezTo>
                      <a:pt x="221" y="65"/>
                      <a:pt x="220" y="64"/>
                      <a:pt x="220" y="62"/>
                    </a:cubicBezTo>
                    <a:cubicBezTo>
                      <a:pt x="220" y="62"/>
                      <a:pt x="220" y="61"/>
                      <a:pt x="220" y="60"/>
                    </a:cubicBezTo>
                    <a:cubicBezTo>
                      <a:pt x="221" y="60"/>
                      <a:pt x="222" y="58"/>
                      <a:pt x="223" y="56"/>
                    </a:cubicBezTo>
                    <a:cubicBezTo>
                      <a:pt x="223" y="56"/>
                      <a:pt x="224" y="55"/>
                      <a:pt x="226" y="52"/>
                    </a:cubicBezTo>
                    <a:cubicBezTo>
                      <a:pt x="225" y="52"/>
                      <a:pt x="224" y="51"/>
                      <a:pt x="224" y="50"/>
                    </a:cubicBezTo>
                    <a:cubicBezTo>
                      <a:pt x="223" y="50"/>
                      <a:pt x="223" y="49"/>
                      <a:pt x="223" y="48"/>
                    </a:cubicBezTo>
                    <a:cubicBezTo>
                      <a:pt x="223" y="48"/>
                      <a:pt x="223" y="46"/>
                      <a:pt x="224" y="45"/>
                    </a:cubicBezTo>
                    <a:cubicBezTo>
                      <a:pt x="225" y="45"/>
                      <a:pt x="226" y="44"/>
                      <a:pt x="229" y="41"/>
                    </a:cubicBezTo>
                    <a:close/>
                    <a:moveTo>
                      <a:pt x="235" y="20"/>
                    </a:moveTo>
                    <a:cubicBezTo>
                      <a:pt x="233" y="20"/>
                      <a:pt x="232" y="21"/>
                      <a:pt x="230" y="22"/>
                    </a:cubicBezTo>
                    <a:cubicBezTo>
                      <a:pt x="229" y="24"/>
                      <a:pt x="229" y="26"/>
                      <a:pt x="229" y="29"/>
                    </a:cubicBezTo>
                    <a:cubicBezTo>
                      <a:pt x="229" y="33"/>
                      <a:pt x="230" y="36"/>
                      <a:pt x="231" y="38"/>
                    </a:cubicBezTo>
                    <a:cubicBezTo>
                      <a:pt x="232" y="40"/>
                      <a:pt x="234" y="41"/>
                      <a:pt x="236" y="41"/>
                    </a:cubicBezTo>
                    <a:cubicBezTo>
                      <a:pt x="238" y="41"/>
                      <a:pt x="239" y="40"/>
                      <a:pt x="240" y="39"/>
                    </a:cubicBezTo>
                    <a:cubicBezTo>
                      <a:pt x="242" y="37"/>
                      <a:pt x="242" y="35"/>
                      <a:pt x="242" y="32"/>
                    </a:cubicBezTo>
                    <a:cubicBezTo>
                      <a:pt x="242" y="28"/>
                      <a:pt x="241" y="25"/>
                      <a:pt x="240" y="23"/>
                    </a:cubicBezTo>
                    <a:cubicBezTo>
                      <a:pt x="238" y="21"/>
                      <a:pt x="237" y="20"/>
                      <a:pt x="235" y="20"/>
                    </a:cubicBezTo>
                    <a:close/>
                    <a:moveTo>
                      <a:pt x="228" y="54"/>
                    </a:moveTo>
                    <a:cubicBezTo>
                      <a:pt x="227" y="55"/>
                      <a:pt x="226" y="56"/>
                      <a:pt x="226" y="57"/>
                    </a:cubicBezTo>
                    <a:cubicBezTo>
                      <a:pt x="226" y="58"/>
                      <a:pt x="225" y="59"/>
                      <a:pt x="225" y="60"/>
                    </a:cubicBezTo>
                    <a:cubicBezTo>
                      <a:pt x="225" y="62"/>
                      <a:pt x="226" y="63"/>
                      <a:pt x="227" y="64"/>
                    </a:cubicBezTo>
                    <a:cubicBezTo>
                      <a:pt x="230" y="65"/>
                      <a:pt x="233" y="66"/>
                      <a:pt x="238" y="66"/>
                    </a:cubicBezTo>
                    <a:cubicBezTo>
                      <a:pt x="242" y="66"/>
                      <a:pt x="245" y="65"/>
                      <a:pt x="247" y="64"/>
                    </a:cubicBezTo>
                    <a:cubicBezTo>
                      <a:pt x="249" y="62"/>
                      <a:pt x="250" y="60"/>
                      <a:pt x="250" y="58"/>
                    </a:cubicBezTo>
                    <a:cubicBezTo>
                      <a:pt x="250" y="57"/>
                      <a:pt x="250" y="56"/>
                      <a:pt x="248" y="56"/>
                    </a:cubicBezTo>
                    <a:cubicBezTo>
                      <a:pt x="247" y="55"/>
                      <a:pt x="245" y="55"/>
                      <a:pt x="241" y="55"/>
                    </a:cubicBezTo>
                    <a:cubicBezTo>
                      <a:pt x="236" y="54"/>
                      <a:pt x="231" y="54"/>
                      <a:pt x="228" y="54"/>
                    </a:cubicBezTo>
                    <a:close/>
                    <a:moveTo>
                      <a:pt x="258" y="20"/>
                    </a:moveTo>
                    <a:cubicBezTo>
                      <a:pt x="274" y="20"/>
                      <a:pt x="274" y="20"/>
                      <a:pt x="274" y="20"/>
                    </a:cubicBezTo>
                    <a:cubicBezTo>
                      <a:pt x="274" y="21"/>
                      <a:pt x="274" y="21"/>
                      <a:pt x="274" y="21"/>
                    </a:cubicBezTo>
                    <a:cubicBezTo>
                      <a:pt x="273" y="21"/>
                      <a:pt x="273" y="21"/>
                      <a:pt x="273" y="21"/>
                    </a:cubicBezTo>
                    <a:cubicBezTo>
                      <a:pt x="272" y="21"/>
                      <a:pt x="271" y="21"/>
                      <a:pt x="270" y="22"/>
                    </a:cubicBezTo>
                    <a:cubicBezTo>
                      <a:pt x="270" y="22"/>
                      <a:pt x="270" y="23"/>
                      <a:pt x="270" y="23"/>
                    </a:cubicBezTo>
                    <a:cubicBezTo>
                      <a:pt x="270" y="24"/>
                      <a:pt x="270" y="26"/>
                      <a:pt x="271" y="27"/>
                    </a:cubicBezTo>
                    <a:cubicBezTo>
                      <a:pt x="279" y="44"/>
                      <a:pt x="279" y="44"/>
                      <a:pt x="279" y="44"/>
                    </a:cubicBezTo>
                    <a:cubicBezTo>
                      <a:pt x="286" y="26"/>
                      <a:pt x="286" y="26"/>
                      <a:pt x="286" y="26"/>
                    </a:cubicBezTo>
                    <a:cubicBezTo>
                      <a:pt x="286" y="24"/>
                      <a:pt x="287" y="24"/>
                      <a:pt x="287" y="22"/>
                    </a:cubicBezTo>
                    <a:cubicBezTo>
                      <a:pt x="287" y="22"/>
                      <a:pt x="287" y="22"/>
                      <a:pt x="286" y="21"/>
                    </a:cubicBezTo>
                    <a:cubicBezTo>
                      <a:pt x="286" y="21"/>
                      <a:pt x="286" y="21"/>
                      <a:pt x="286" y="20"/>
                    </a:cubicBezTo>
                    <a:cubicBezTo>
                      <a:pt x="285" y="20"/>
                      <a:pt x="284" y="20"/>
                      <a:pt x="284" y="20"/>
                    </a:cubicBezTo>
                    <a:cubicBezTo>
                      <a:pt x="284" y="19"/>
                      <a:pt x="284" y="19"/>
                      <a:pt x="284" y="19"/>
                    </a:cubicBezTo>
                    <a:cubicBezTo>
                      <a:pt x="294" y="19"/>
                      <a:pt x="294" y="19"/>
                      <a:pt x="294" y="19"/>
                    </a:cubicBezTo>
                    <a:cubicBezTo>
                      <a:pt x="294" y="20"/>
                      <a:pt x="294" y="20"/>
                      <a:pt x="294" y="20"/>
                    </a:cubicBezTo>
                    <a:cubicBezTo>
                      <a:pt x="294" y="20"/>
                      <a:pt x="293" y="20"/>
                      <a:pt x="292" y="20"/>
                    </a:cubicBezTo>
                    <a:cubicBezTo>
                      <a:pt x="292" y="21"/>
                      <a:pt x="292" y="21"/>
                      <a:pt x="291" y="22"/>
                    </a:cubicBezTo>
                    <a:cubicBezTo>
                      <a:pt x="290" y="22"/>
                      <a:pt x="290" y="23"/>
                      <a:pt x="290" y="25"/>
                    </a:cubicBezTo>
                    <a:cubicBezTo>
                      <a:pt x="276" y="59"/>
                      <a:pt x="276" y="59"/>
                      <a:pt x="276" y="59"/>
                    </a:cubicBezTo>
                    <a:cubicBezTo>
                      <a:pt x="275" y="62"/>
                      <a:pt x="274" y="64"/>
                      <a:pt x="271" y="66"/>
                    </a:cubicBezTo>
                    <a:cubicBezTo>
                      <a:pt x="269" y="68"/>
                      <a:pt x="267" y="69"/>
                      <a:pt x="265" y="69"/>
                    </a:cubicBezTo>
                    <a:cubicBezTo>
                      <a:pt x="264" y="69"/>
                      <a:pt x="263" y="68"/>
                      <a:pt x="262" y="68"/>
                    </a:cubicBezTo>
                    <a:cubicBezTo>
                      <a:pt x="261" y="67"/>
                      <a:pt x="260" y="66"/>
                      <a:pt x="260" y="65"/>
                    </a:cubicBezTo>
                    <a:cubicBezTo>
                      <a:pt x="260" y="64"/>
                      <a:pt x="261" y="63"/>
                      <a:pt x="261" y="62"/>
                    </a:cubicBezTo>
                    <a:cubicBezTo>
                      <a:pt x="262" y="62"/>
                      <a:pt x="263" y="62"/>
                      <a:pt x="264" y="62"/>
                    </a:cubicBezTo>
                    <a:cubicBezTo>
                      <a:pt x="265" y="62"/>
                      <a:pt x="266" y="62"/>
                      <a:pt x="267" y="62"/>
                    </a:cubicBezTo>
                    <a:cubicBezTo>
                      <a:pt x="268" y="63"/>
                      <a:pt x="269" y="63"/>
                      <a:pt x="269" y="63"/>
                    </a:cubicBezTo>
                    <a:cubicBezTo>
                      <a:pt x="270" y="63"/>
                      <a:pt x="270" y="62"/>
                      <a:pt x="271" y="62"/>
                    </a:cubicBezTo>
                    <a:cubicBezTo>
                      <a:pt x="272" y="61"/>
                      <a:pt x="273" y="59"/>
                      <a:pt x="274" y="57"/>
                    </a:cubicBezTo>
                    <a:cubicBezTo>
                      <a:pt x="276" y="51"/>
                      <a:pt x="276" y="51"/>
                      <a:pt x="276" y="51"/>
                    </a:cubicBezTo>
                    <a:cubicBezTo>
                      <a:pt x="264" y="26"/>
                      <a:pt x="264" y="26"/>
                      <a:pt x="264" y="26"/>
                    </a:cubicBezTo>
                    <a:cubicBezTo>
                      <a:pt x="264" y="25"/>
                      <a:pt x="264" y="24"/>
                      <a:pt x="263" y="23"/>
                    </a:cubicBezTo>
                    <a:cubicBezTo>
                      <a:pt x="262" y="22"/>
                      <a:pt x="262" y="21"/>
                      <a:pt x="261" y="21"/>
                    </a:cubicBezTo>
                    <a:cubicBezTo>
                      <a:pt x="261" y="21"/>
                      <a:pt x="260" y="20"/>
                      <a:pt x="258" y="20"/>
                    </a:cubicBezTo>
                    <a:cubicBezTo>
                      <a:pt x="258" y="20"/>
                      <a:pt x="258" y="20"/>
                      <a:pt x="258" y="20"/>
                    </a:cubicBezTo>
                    <a:close/>
                    <a:moveTo>
                      <a:pt x="331" y="19"/>
                    </a:moveTo>
                    <a:cubicBezTo>
                      <a:pt x="336" y="19"/>
                      <a:pt x="340" y="21"/>
                      <a:pt x="343" y="25"/>
                    </a:cubicBezTo>
                    <a:cubicBezTo>
                      <a:pt x="346" y="28"/>
                      <a:pt x="347" y="32"/>
                      <a:pt x="347" y="36"/>
                    </a:cubicBezTo>
                    <a:cubicBezTo>
                      <a:pt x="347" y="40"/>
                      <a:pt x="346" y="42"/>
                      <a:pt x="345" y="46"/>
                    </a:cubicBezTo>
                    <a:cubicBezTo>
                      <a:pt x="344" y="49"/>
                      <a:pt x="342" y="51"/>
                      <a:pt x="339" y="53"/>
                    </a:cubicBezTo>
                    <a:cubicBezTo>
                      <a:pt x="336" y="54"/>
                      <a:pt x="334" y="55"/>
                      <a:pt x="331" y="55"/>
                    </a:cubicBezTo>
                    <a:cubicBezTo>
                      <a:pt x="326" y="55"/>
                      <a:pt x="322" y="53"/>
                      <a:pt x="319" y="49"/>
                    </a:cubicBezTo>
                    <a:cubicBezTo>
                      <a:pt x="317" y="46"/>
                      <a:pt x="316" y="42"/>
                      <a:pt x="316" y="38"/>
                    </a:cubicBezTo>
                    <a:cubicBezTo>
                      <a:pt x="316" y="34"/>
                      <a:pt x="316" y="31"/>
                      <a:pt x="318" y="28"/>
                    </a:cubicBezTo>
                    <a:cubicBezTo>
                      <a:pt x="320" y="26"/>
                      <a:pt x="322" y="23"/>
                      <a:pt x="324" y="22"/>
                    </a:cubicBezTo>
                    <a:cubicBezTo>
                      <a:pt x="326" y="20"/>
                      <a:pt x="328" y="19"/>
                      <a:pt x="331" y="19"/>
                    </a:cubicBezTo>
                    <a:close/>
                    <a:moveTo>
                      <a:pt x="330" y="21"/>
                    </a:moveTo>
                    <a:cubicBezTo>
                      <a:pt x="329" y="21"/>
                      <a:pt x="328" y="22"/>
                      <a:pt x="326" y="22"/>
                    </a:cubicBezTo>
                    <a:cubicBezTo>
                      <a:pt x="325" y="23"/>
                      <a:pt x="324" y="24"/>
                      <a:pt x="323" y="26"/>
                    </a:cubicBezTo>
                    <a:cubicBezTo>
                      <a:pt x="322" y="28"/>
                      <a:pt x="322" y="31"/>
                      <a:pt x="322" y="34"/>
                    </a:cubicBezTo>
                    <a:cubicBezTo>
                      <a:pt x="322" y="39"/>
                      <a:pt x="323" y="43"/>
                      <a:pt x="325" y="47"/>
                    </a:cubicBezTo>
                    <a:cubicBezTo>
                      <a:pt x="327" y="50"/>
                      <a:pt x="329" y="52"/>
                      <a:pt x="332" y="52"/>
                    </a:cubicBezTo>
                    <a:cubicBezTo>
                      <a:pt x="335" y="52"/>
                      <a:pt x="337" y="51"/>
                      <a:pt x="338" y="49"/>
                    </a:cubicBezTo>
                    <a:cubicBezTo>
                      <a:pt x="340" y="47"/>
                      <a:pt x="340" y="44"/>
                      <a:pt x="340" y="39"/>
                    </a:cubicBezTo>
                    <a:cubicBezTo>
                      <a:pt x="340" y="33"/>
                      <a:pt x="339" y="28"/>
                      <a:pt x="337" y="25"/>
                    </a:cubicBezTo>
                    <a:cubicBezTo>
                      <a:pt x="335" y="22"/>
                      <a:pt x="332" y="21"/>
                      <a:pt x="330" y="21"/>
                    </a:cubicBezTo>
                    <a:close/>
                    <a:moveTo>
                      <a:pt x="368" y="22"/>
                    </a:moveTo>
                    <a:cubicBezTo>
                      <a:pt x="368" y="45"/>
                      <a:pt x="368" y="45"/>
                      <a:pt x="368" y="45"/>
                    </a:cubicBezTo>
                    <a:cubicBezTo>
                      <a:pt x="368" y="48"/>
                      <a:pt x="368" y="50"/>
                      <a:pt x="369" y="51"/>
                    </a:cubicBezTo>
                    <a:cubicBezTo>
                      <a:pt x="370" y="52"/>
                      <a:pt x="371" y="52"/>
                      <a:pt x="373" y="52"/>
                    </a:cubicBezTo>
                    <a:cubicBezTo>
                      <a:pt x="376" y="52"/>
                      <a:pt x="376" y="52"/>
                      <a:pt x="376" y="52"/>
                    </a:cubicBezTo>
                    <a:cubicBezTo>
                      <a:pt x="376" y="54"/>
                      <a:pt x="376" y="54"/>
                      <a:pt x="376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56" y="52"/>
                      <a:pt x="356" y="52"/>
                      <a:pt x="356" y="52"/>
                    </a:cubicBezTo>
                    <a:cubicBezTo>
                      <a:pt x="358" y="52"/>
                      <a:pt x="358" y="52"/>
                      <a:pt x="358" y="52"/>
                    </a:cubicBezTo>
                    <a:cubicBezTo>
                      <a:pt x="358" y="52"/>
                      <a:pt x="360" y="52"/>
                      <a:pt x="360" y="52"/>
                    </a:cubicBezTo>
                    <a:cubicBezTo>
                      <a:pt x="361" y="51"/>
                      <a:pt x="362" y="50"/>
                      <a:pt x="362" y="50"/>
                    </a:cubicBezTo>
                    <a:cubicBezTo>
                      <a:pt x="362" y="49"/>
                      <a:pt x="362" y="47"/>
                      <a:pt x="362" y="45"/>
                    </a:cubicBezTo>
                    <a:cubicBezTo>
                      <a:pt x="362" y="22"/>
                      <a:pt x="362" y="22"/>
                      <a:pt x="362" y="22"/>
                    </a:cubicBezTo>
                    <a:cubicBezTo>
                      <a:pt x="356" y="22"/>
                      <a:pt x="356" y="22"/>
                      <a:pt x="356" y="22"/>
                    </a:cubicBezTo>
                    <a:cubicBezTo>
                      <a:pt x="356" y="20"/>
                      <a:pt x="356" y="20"/>
                      <a:pt x="356" y="20"/>
                    </a:cubicBezTo>
                    <a:cubicBezTo>
                      <a:pt x="362" y="20"/>
                      <a:pt x="362" y="20"/>
                      <a:pt x="362" y="20"/>
                    </a:cubicBezTo>
                    <a:cubicBezTo>
                      <a:pt x="362" y="17"/>
                      <a:pt x="362" y="17"/>
                      <a:pt x="362" y="17"/>
                    </a:cubicBezTo>
                    <a:cubicBezTo>
                      <a:pt x="362" y="14"/>
                      <a:pt x="363" y="11"/>
                      <a:pt x="364" y="8"/>
                    </a:cubicBezTo>
                    <a:cubicBezTo>
                      <a:pt x="365" y="6"/>
                      <a:pt x="367" y="4"/>
                      <a:pt x="369" y="3"/>
                    </a:cubicBezTo>
                    <a:cubicBezTo>
                      <a:pt x="371" y="2"/>
                      <a:pt x="373" y="1"/>
                      <a:pt x="376" y="1"/>
                    </a:cubicBezTo>
                    <a:cubicBezTo>
                      <a:pt x="378" y="1"/>
                      <a:pt x="381" y="2"/>
                      <a:pt x="383" y="3"/>
                    </a:cubicBezTo>
                    <a:cubicBezTo>
                      <a:pt x="384" y="4"/>
                      <a:pt x="385" y="6"/>
                      <a:pt x="385" y="7"/>
                    </a:cubicBezTo>
                    <a:cubicBezTo>
                      <a:pt x="385" y="8"/>
                      <a:pt x="384" y="8"/>
                      <a:pt x="384" y="9"/>
                    </a:cubicBezTo>
                    <a:cubicBezTo>
                      <a:pt x="383" y="10"/>
                      <a:pt x="383" y="10"/>
                      <a:pt x="382" y="10"/>
                    </a:cubicBezTo>
                    <a:cubicBezTo>
                      <a:pt x="382" y="10"/>
                      <a:pt x="381" y="9"/>
                      <a:pt x="380" y="9"/>
                    </a:cubicBezTo>
                    <a:cubicBezTo>
                      <a:pt x="380" y="8"/>
                      <a:pt x="379" y="8"/>
                      <a:pt x="378" y="6"/>
                    </a:cubicBezTo>
                    <a:cubicBezTo>
                      <a:pt x="377" y="5"/>
                      <a:pt x="376" y="4"/>
                      <a:pt x="376" y="3"/>
                    </a:cubicBezTo>
                    <a:cubicBezTo>
                      <a:pt x="375" y="3"/>
                      <a:pt x="374" y="2"/>
                      <a:pt x="373" y="2"/>
                    </a:cubicBezTo>
                    <a:cubicBezTo>
                      <a:pt x="372" y="2"/>
                      <a:pt x="371" y="3"/>
                      <a:pt x="370" y="3"/>
                    </a:cubicBezTo>
                    <a:cubicBezTo>
                      <a:pt x="370" y="4"/>
                      <a:pt x="369" y="5"/>
                      <a:pt x="369" y="6"/>
                    </a:cubicBezTo>
                    <a:cubicBezTo>
                      <a:pt x="368" y="7"/>
                      <a:pt x="368" y="10"/>
                      <a:pt x="368" y="16"/>
                    </a:cubicBezTo>
                    <a:cubicBezTo>
                      <a:pt x="368" y="18"/>
                      <a:pt x="368" y="18"/>
                      <a:pt x="368" y="18"/>
                    </a:cubicBezTo>
                    <a:cubicBezTo>
                      <a:pt x="377" y="18"/>
                      <a:pt x="377" y="18"/>
                      <a:pt x="377" y="18"/>
                    </a:cubicBezTo>
                    <a:cubicBezTo>
                      <a:pt x="377" y="22"/>
                      <a:pt x="377" y="22"/>
                      <a:pt x="377" y="22"/>
                    </a:cubicBezTo>
                    <a:cubicBezTo>
                      <a:pt x="368" y="22"/>
                      <a:pt x="368" y="22"/>
                      <a:pt x="368" y="22"/>
                    </a:cubicBezTo>
                    <a:close/>
                    <a:moveTo>
                      <a:pt x="440" y="2"/>
                    </a:moveTo>
                    <a:cubicBezTo>
                      <a:pt x="441" y="20"/>
                      <a:pt x="441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38" y="14"/>
                      <a:pt x="436" y="11"/>
                      <a:pt x="433" y="8"/>
                    </a:cubicBezTo>
                    <a:cubicBezTo>
                      <a:pt x="430" y="6"/>
                      <a:pt x="427" y="5"/>
                      <a:pt x="423" y="5"/>
                    </a:cubicBezTo>
                    <a:cubicBezTo>
                      <a:pt x="420" y="5"/>
                      <a:pt x="417" y="6"/>
                      <a:pt x="414" y="8"/>
                    </a:cubicBezTo>
                    <a:cubicBezTo>
                      <a:pt x="412" y="9"/>
                      <a:pt x="410" y="12"/>
                      <a:pt x="408" y="16"/>
                    </a:cubicBezTo>
                    <a:cubicBezTo>
                      <a:pt x="407" y="19"/>
                      <a:pt x="406" y="24"/>
                      <a:pt x="406" y="30"/>
                    </a:cubicBezTo>
                    <a:cubicBezTo>
                      <a:pt x="406" y="34"/>
                      <a:pt x="407" y="38"/>
                      <a:pt x="408" y="42"/>
                    </a:cubicBezTo>
                    <a:cubicBezTo>
                      <a:pt x="409" y="45"/>
                      <a:pt x="412" y="48"/>
                      <a:pt x="414" y="49"/>
                    </a:cubicBezTo>
                    <a:cubicBezTo>
                      <a:pt x="417" y="51"/>
                      <a:pt x="420" y="52"/>
                      <a:pt x="424" y="52"/>
                    </a:cubicBezTo>
                    <a:cubicBezTo>
                      <a:pt x="427" y="52"/>
                      <a:pt x="430" y="51"/>
                      <a:pt x="432" y="50"/>
                    </a:cubicBezTo>
                    <a:cubicBezTo>
                      <a:pt x="435" y="49"/>
                      <a:pt x="438" y="46"/>
                      <a:pt x="440" y="42"/>
                    </a:cubicBezTo>
                    <a:cubicBezTo>
                      <a:pt x="442" y="42"/>
                      <a:pt x="442" y="42"/>
                      <a:pt x="442" y="42"/>
                    </a:cubicBezTo>
                    <a:cubicBezTo>
                      <a:pt x="439" y="47"/>
                      <a:pt x="436" y="50"/>
                      <a:pt x="433" y="52"/>
                    </a:cubicBezTo>
                    <a:cubicBezTo>
                      <a:pt x="430" y="54"/>
                      <a:pt x="426" y="56"/>
                      <a:pt x="422" y="56"/>
                    </a:cubicBezTo>
                    <a:cubicBezTo>
                      <a:pt x="414" y="56"/>
                      <a:pt x="407" y="52"/>
                      <a:pt x="403" y="46"/>
                    </a:cubicBezTo>
                    <a:cubicBezTo>
                      <a:pt x="400" y="42"/>
                      <a:pt x="398" y="36"/>
                      <a:pt x="398" y="30"/>
                    </a:cubicBezTo>
                    <a:cubicBezTo>
                      <a:pt x="398" y="25"/>
                      <a:pt x="399" y="20"/>
                      <a:pt x="401" y="16"/>
                    </a:cubicBezTo>
                    <a:cubicBezTo>
                      <a:pt x="403" y="12"/>
                      <a:pt x="406" y="8"/>
                      <a:pt x="410" y="6"/>
                    </a:cubicBezTo>
                    <a:cubicBezTo>
                      <a:pt x="414" y="4"/>
                      <a:pt x="418" y="3"/>
                      <a:pt x="422" y="3"/>
                    </a:cubicBezTo>
                    <a:cubicBezTo>
                      <a:pt x="426" y="3"/>
                      <a:pt x="429" y="4"/>
                      <a:pt x="433" y="6"/>
                    </a:cubicBezTo>
                    <a:cubicBezTo>
                      <a:pt x="434" y="6"/>
                      <a:pt x="434" y="6"/>
                      <a:pt x="435" y="6"/>
                    </a:cubicBezTo>
                    <a:cubicBezTo>
                      <a:pt x="436" y="6"/>
                      <a:pt x="436" y="6"/>
                      <a:pt x="436" y="6"/>
                    </a:cubicBezTo>
                    <a:cubicBezTo>
                      <a:pt x="437" y="5"/>
                      <a:pt x="438" y="4"/>
                      <a:pt x="438" y="3"/>
                    </a:cubicBezTo>
                    <a:cubicBezTo>
                      <a:pt x="440" y="2"/>
                      <a:pt x="440" y="2"/>
                      <a:pt x="440" y="2"/>
                    </a:cubicBezTo>
                    <a:close/>
                    <a:moveTo>
                      <a:pt x="460" y="1"/>
                    </a:moveTo>
                    <a:cubicBezTo>
                      <a:pt x="460" y="26"/>
                      <a:pt x="460" y="26"/>
                      <a:pt x="460" y="26"/>
                    </a:cubicBezTo>
                    <a:cubicBezTo>
                      <a:pt x="463" y="22"/>
                      <a:pt x="465" y="21"/>
                      <a:pt x="466" y="20"/>
                    </a:cubicBezTo>
                    <a:cubicBezTo>
                      <a:pt x="468" y="19"/>
                      <a:pt x="470" y="18"/>
                      <a:pt x="471" y="18"/>
                    </a:cubicBezTo>
                    <a:cubicBezTo>
                      <a:pt x="473" y="18"/>
                      <a:pt x="475" y="19"/>
                      <a:pt x="476" y="20"/>
                    </a:cubicBezTo>
                    <a:cubicBezTo>
                      <a:pt x="477" y="21"/>
                      <a:pt x="478" y="23"/>
                      <a:pt x="479" y="25"/>
                    </a:cubicBezTo>
                    <a:cubicBezTo>
                      <a:pt x="479" y="27"/>
                      <a:pt x="480" y="30"/>
                      <a:pt x="480" y="34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0" y="48"/>
                      <a:pt x="480" y="50"/>
                      <a:pt x="480" y="50"/>
                    </a:cubicBezTo>
                    <a:cubicBezTo>
                      <a:pt x="480" y="51"/>
                      <a:pt x="481" y="52"/>
                      <a:pt x="481" y="52"/>
                    </a:cubicBezTo>
                    <a:cubicBezTo>
                      <a:pt x="482" y="52"/>
                      <a:pt x="483" y="52"/>
                      <a:pt x="484" y="52"/>
                    </a:cubicBezTo>
                    <a:cubicBezTo>
                      <a:pt x="484" y="54"/>
                      <a:pt x="484" y="54"/>
                      <a:pt x="484" y="54"/>
                    </a:cubicBezTo>
                    <a:cubicBezTo>
                      <a:pt x="468" y="54"/>
                      <a:pt x="468" y="54"/>
                      <a:pt x="468" y="54"/>
                    </a:cubicBezTo>
                    <a:cubicBezTo>
                      <a:pt x="468" y="52"/>
                      <a:pt x="468" y="52"/>
                      <a:pt x="468" y="52"/>
                    </a:cubicBezTo>
                    <a:cubicBezTo>
                      <a:pt x="469" y="52"/>
                      <a:pt x="469" y="52"/>
                      <a:pt x="469" y="52"/>
                    </a:cubicBezTo>
                    <a:cubicBezTo>
                      <a:pt x="471" y="52"/>
                      <a:pt x="472" y="52"/>
                      <a:pt x="472" y="52"/>
                    </a:cubicBezTo>
                    <a:cubicBezTo>
                      <a:pt x="473" y="51"/>
                      <a:pt x="474" y="50"/>
                      <a:pt x="474" y="50"/>
                    </a:cubicBezTo>
                    <a:cubicBezTo>
                      <a:pt x="474" y="49"/>
                      <a:pt x="474" y="48"/>
                      <a:pt x="474" y="46"/>
                    </a:cubicBezTo>
                    <a:cubicBezTo>
                      <a:pt x="474" y="34"/>
                      <a:pt x="474" y="34"/>
                      <a:pt x="474" y="34"/>
                    </a:cubicBezTo>
                    <a:cubicBezTo>
                      <a:pt x="474" y="30"/>
                      <a:pt x="474" y="28"/>
                      <a:pt x="473" y="27"/>
                    </a:cubicBezTo>
                    <a:cubicBezTo>
                      <a:pt x="473" y="26"/>
                      <a:pt x="472" y="25"/>
                      <a:pt x="472" y="24"/>
                    </a:cubicBezTo>
                    <a:cubicBezTo>
                      <a:pt x="471" y="24"/>
                      <a:pt x="470" y="23"/>
                      <a:pt x="469" y="23"/>
                    </a:cubicBezTo>
                    <a:cubicBezTo>
                      <a:pt x="468" y="23"/>
                      <a:pt x="466" y="24"/>
                      <a:pt x="465" y="24"/>
                    </a:cubicBezTo>
                    <a:cubicBezTo>
                      <a:pt x="464" y="25"/>
                      <a:pt x="462" y="26"/>
                      <a:pt x="461" y="28"/>
                    </a:cubicBezTo>
                    <a:cubicBezTo>
                      <a:pt x="461" y="46"/>
                      <a:pt x="461" y="46"/>
                      <a:pt x="461" y="46"/>
                    </a:cubicBezTo>
                    <a:cubicBezTo>
                      <a:pt x="461" y="48"/>
                      <a:pt x="461" y="50"/>
                      <a:pt x="461" y="50"/>
                    </a:cubicBezTo>
                    <a:cubicBezTo>
                      <a:pt x="462" y="51"/>
                      <a:pt x="462" y="52"/>
                      <a:pt x="462" y="52"/>
                    </a:cubicBezTo>
                    <a:cubicBezTo>
                      <a:pt x="463" y="52"/>
                      <a:pt x="464" y="52"/>
                      <a:pt x="466" y="52"/>
                    </a:cubicBezTo>
                    <a:cubicBezTo>
                      <a:pt x="466" y="54"/>
                      <a:pt x="466" y="54"/>
                      <a:pt x="466" y="54"/>
                    </a:cubicBezTo>
                    <a:cubicBezTo>
                      <a:pt x="450" y="54"/>
                      <a:pt x="450" y="54"/>
                      <a:pt x="450" y="54"/>
                    </a:cubicBezTo>
                    <a:cubicBezTo>
                      <a:pt x="450" y="52"/>
                      <a:pt x="450" y="52"/>
                      <a:pt x="450" y="52"/>
                    </a:cubicBezTo>
                    <a:cubicBezTo>
                      <a:pt x="451" y="52"/>
                      <a:pt x="452" y="52"/>
                      <a:pt x="453" y="52"/>
                    </a:cubicBezTo>
                    <a:cubicBezTo>
                      <a:pt x="454" y="51"/>
                      <a:pt x="454" y="51"/>
                      <a:pt x="454" y="50"/>
                    </a:cubicBezTo>
                    <a:cubicBezTo>
                      <a:pt x="455" y="49"/>
                      <a:pt x="455" y="48"/>
                      <a:pt x="455" y="46"/>
                    </a:cubicBezTo>
                    <a:cubicBezTo>
                      <a:pt x="455" y="15"/>
                      <a:pt x="455" y="15"/>
                      <a:pt x="455" y="15"/>
                    </a:cubicBezTo>
                    <a:cubicBezTo>
                      <a:pt x="455" y="11"/>
                      <a:pt x="455" y="8"/>
                      <a:pt x="454" y="8"/>
                    </a:cubicBezTo>
                    <a:cubicBezTo>
                      <a:pt x="454" y="7"/>
                      <a:pt x="454" y="6"/>
                      <a:pt x="454" y="6"/>
                    </a:cubicBezTo>
                    <a:cubicBezTo>
                      <a:pt x="453" y="5"/>
                      <a:pt x="453" y="5"/>
                      <a:pt x="452" y="5"/>
                    </a:cubicBezTo>
                    <a:cubicBezTo>
                      <a:pt x="452" y="5"/>
                      <a:pt x="451" y="5"/>
                      <a:pt x="450" y="6"/>
                    </a:cubicBezTo>
                    <a:cubicBezTo>
                      <a:pt x="449" y="4"/>
                      <a:pt x="449" y="4"/>
                      <a:pt x="449" y="4"/>
                    </a:cubicBezTo>
                    <a:cubicBezTo>
                      <a:pt x="459" y="0"/>
                      <a:pt x="459" y="0"/>
                      <a:pt x="459" y="0"/>
                    </a:cubicBezTo>
                    <a:cubicBezTo>
                      <a:pt x="460" y="1"/>
                      <a:pt x="460" y="1"/>
                      <a:pt x="460" y="1"/>
                    </a:cubicBezTo>
                    <a:close/>
                    <a:moveTo>
                      <a:pt x="499" y="1"/>
                    </a:moveTo>
                    <a:cubicBezTo>
                      <a:pt x="500" y="1"/>
                      <a:pt x="501" y="1"/>
                      <a:pt x="501" y="2"/>
                    </a:cubicBezTo>
                    <a:cubicBezTo>
                      <a:pt x="502" y="3"/>
                      <a:pt x="502" y="4"/>
                      <a:pt x="502" y="5"/>
                    </a:cubicBezTo>
                    <a:cubicBezTo>
                      <a:pt x="502" y="6"/>
                      <a:pt x="502" y="7"/>
                      <a:pt x="501" y="8"/>
                    </a:cubicBezTo>
                    <a:cubicBezTo>
                      <a:pt x="500" y="8"/>
                      <a:pt x="500" y="9"/>
                      <a:pt x="499" y="9"/>
                    </a:cubicBezTo>
                    <a:cubicBezTo>
                      <a:pt x="498" y="9"/>
                      <a:pt x="497" y="8"/>
                      <a:pt x="496" y="8"/>
                    </a:cubicBezTo>
                    <a:cubicBezTo>
                      <a:pt x="496" y="7"/>
                      <a:pt x="495" y="6"/>
                      <a:pt x="495" y="5"/>
                    </a:cubicBezTo>
                    <a:cubicBezTo>
                      <a:pt x="495" y="4"/>
                      <a:pt x="496" y="3"/>
                      <a:pt x="496" y="2"/>
                    </a:cubicBezTo>
                    <a:cubicBezTo>
                      <a:pt x="497" y="1"/>
                      <a:pt x="498" y="1"/>
                      <a:pt x="499" y="1"/>
                    </a:cubicBezTo>
                    <a:close/>
                    <a:moveTo>
                      <a:pt x="502" y="19"/>
                    </a:moveTo>
                    <a:cubicBezTo>
                      <a:pt x="502" y="46"/>
                      <a:pt x="502" y="46"/>
                      <a:pt x="502" y="46"/>
                    </a:cubicBezTo>
                    <a:cubicBezTo>
                      <a:pt x="502" y="48"/>
                      <a:pt x="502" y="50"/>
                      <a:pt x="502" y="50"/>
                    </a:cubicBezTo>
                    <a:cubicBezTo>
                      <a:pt x="503" y="51"/>
                      <a:pt x="503" y="52"/>
                      <a:pt x="504" y="52"/>
                    </a:cubicBezTo>
                    <a:cubicBezTo>
                      <a:pt x="504" y="52"/>
                      <a:pt x="505" y="52"/>
                      <a:pt x="507" y="52"/>
                    </a:cubicBezTo>
                    <a:cubicBezTo>
                      <a:pt x="507" y="54"/>
                      <a:pt x="507" y="54"/>
                      <a:pt x="507" y="54"/>
                    </a:cubicBezTo>
                    <a:cubicBezTo>
                      <a:pt x="491" y="54"/>
                      <a:pt x="491" y="54"/>
                      <a:pt x="491" y="54"/>
                    </a:cubicBezTo>
                    <a:cubicBezTo>
                      <a:pt x="491" y="52"/>
                      <a:pt x="491" y="52"/>
                      <a:pt x="491" y="52"/>
                    </a:cubicBezTo>
                    <a:cubicBezTo>
                      <a:pt x="492" y="52"/>
                      <a:pt x="494" y="52"/>
                      <a:pt x="494" y="52"/>
                    </a:cubicBezTo>
                    <a:cubicBezTo>
                      <a:pt x="494" y="52"/>
                      <a:pt x="495" y="51"/>
                      <a:pt x="495" y="50"/>
                    </a:cubicBezTo>
                    <a:cubicBezTo>
                      <a:pt x="496" y="50"/>
                      <a:pt x="496" y="48"/>
                      <a:pt x="496" y="46"/>
                    </a:cubicBezTo>
                    <a:cubicBezTo>
                      <a:pt x="496" y="33"/>
                      <a:pt x="496" y="33"/>
                      <a:pt x="496" y="33"/>
                    </a:cubicBezTo>
                    <a:cubicBezTo>
                      <a:pt x="496" y="29"/>
                      <a:pt x="496" y="27"/>
                      <a:pt x="495" y="26"/>
                    </a:cubicBezTo>
                    <a:cubicBezTo>
                      <a:pt x="495" y="25"/>
                      <a:pt x="495" y="24"/>
                      <a:pt x="494" y="24"/>
                    </a:cubicBezTo>
                    <a:cubicBezTo>
                      <a:pt x="494" y="24"/>
                      <a:pt x="494" y="24"/>
                      <a:pt x="493" y="24"/>
                    </a:cubicBezTo>
                    <a:cubicBezTo>
                      <a:pt x="492" y="24"/>
                      <a:pt x="491" y="24"/>
                      <a:pt x="490" y="24"/>
                    </a:cubicBezTo>
                    <a:cubicBezTo>
                      <a:pt x="490" y="23"/>
                      <a:pt x="490" y="23"/>
                      <a:pt x="490" y="23"/>
                    </a:cubicBezTo>
                    <a:cubicBezTo>
                      <a:pt x="500" y="19"/>
                      <a:pt x="500" y="19"/>
                      <a:pt x="500" y="19"/>
                    </a:cubicBezTo>
                    <a:cubicBezTo>
                      <a:pt x="502" y="19"/>
                      <a:pt x="502" y="19"/>
                      <a:pt x="502" y="19"/>
                    </a:cubicBezTo>
                    <a:close/>
                    <a:moveTo>
                      <a:pt x="524" y="26"/>
                    </a:moveTo>
                    <a:cubicBezTo>
                      <a:pt x="528" y="21"/>
                      <a:pt x="532" y="19"/>
                      <a:pt x="535" y="19"/>
                    </a:cubicBezTo>
                    <a:cubicBezTo>
                      <a:pt x="536" y="19"/>
                      <a:pt x="538" y="19"/>
                      <a:pt x="540" y="20"/>
                    </a:cubicBezTo>
                    <a:cubicBezTo>
                      <a:pt x="541" y="21"/>
                      <a:pt x="542" y="22"/>
                      <a:pt x="543" y="24"/>
                    </a:cubicBezTo>
                    <a:cubicBezTo>
                      <a:pt x="543" y="26"/>
                      <a:pt x="544" y="28"/>
                      <a:pt x="544" y="31"/>
                    </a:cubicBezTo>
                    <a:cubicBezTo>
                      <a:pt x="544" y="46"/>
                      <a:pt x="544" y="46"/>
                      <a:pt x="544" y="46"/>
                    </a:cubicBezTo>
                    <a:cubicBezTo>
                      <a:pt x="544" y="48"/>
                      <a:pt x="544" y="49"/>
                      <a:pt x="544" y="50"/>
                    </a:cubicBezTo>
                    <a:cubicBezTo>
                      <a:pt x="544" y="51"/>
                      <a:pt x="545" y="51"/>
                      <a:pt x="545" y="52"/>
                    </a:cubicBezTo>
                    <a:cubicBezTo>
                      <a:pt x="546" y="52"/>
                      <a:pt x="547" y="52"/>
                      <a:pt x="548" y="52"/>
                    </a:cubicBezTo>
                    <a:cubicBezTo>
                      <a:pt x="548" y="53"/>
                      <a:pt x="548" y="53"/>
                      <a:pt x="548" y="53"/>
                    </a:cubicBezTo>
                    <a:cubicBezTo>
                      <a:pt x="532" y="53"/>
                      <a:pt x="532" y="53"/>
                      <a:pt x="532" y="53"/>
                    </a:cubicBezTo>
                    <a:cubicBezTo>
                      <a:pt x="532" y="52"/>
                      <a:pt x="532" y="52"/>
                      <a:pt x="532" y="52"/>
                    </a:cubicBezTo>
                    <a:cubicBezTo>
                      <a:pt x="533" y="52"/>
                      <a:pt x="533" y="52"/>
                      <a:pt x="533" y="52"/>
                    </a:cubicBezTo>
                    <a:cubicBezTo>
                      <a:pt x="535" y="52"/>
                      <a:pt x="536" y="52"/>
                      <a:pt x="536" y="51"/>
                    </a:cubicBezTo>
                    <a:cubicBezTo>
                      <a:pt x="537" y="51"/>
                      <a:pt x="538" y="50"/>
                      <a:pt x="538" y="49"/>
                    </a:cubicBezTo>
                    <a:cubicBezTo>
                      <a:pt x="538" y="49"/>
                      <a:pt x="538" y="48"/>
                      <a:pt x="538" y="46"/>
                    </a:cubicBezTo>
                    <a:cubicBezTo>
                      <a:pt x="538" y="32"/>
                      <a:pt x="538" y="32"/>
                      <a:pt x="538" y="32"/>
                    </a:cubicBezTo>
                    <a:cubicBezTo>
                      <a:pt x="538" y="28"/>
                      <a:pt x="537" y="26"/>
                      <a:pt x="536" y="25"/>
                    </a:cubicBezTo>
                    <a:cubicBezTo>
                      <a:pt x="536" y="24"/>
                      <a:pt x="534" y="23"/>
                      <a:pt x="532" y="23"/>
                    </a:cubicBezTo>
                    <a:cubicBezTo>
                      <a:pt x="530" y="23"/>
                      <a:pt x="527" y="24"/>
                      <a:pt x="524" y="28"/>
                    </a:cubicBezTo>
                    <a:cubicBezTo>
                      <a:pt x="524" y="46"/>
                      <a:pt x="524" y="46"/>
                      <a:pt x="524" y="46"/>
                    </a:cubicBezTo>
                    <a:cubicBezTo>
                      <a:pt x="524" y="48"/>
                      <a:pt x="524" y="49"/>
                      <a:pt x="524" y="50"/>
                    </a:cubicBezTo>
                    <a:cubicBezTo>
                      <a:pt x="525" y="51"/>
                      <a:pt x="525" y="51"/>
                      <a:pt x="526" y="52"/>
                    </a:cubicBezTo>
                    <a:cubicBezTo>
                      <a:pt x="526" y="52"/>
                      <a:pt x="527" y="52"/>
                      <a:pt x="529" y="52"/>
                    </a:cubicBezTo>
                    <a:cubicBezTo>
                      <a:pt x="529" y="53"/>
                      <a:pt x="529" y="53"/>
                      <a:pt x="529" y="53"/>
                    </a:cubicBezTo>
                    <a:cubicBezTo>
                      <a:pt x="513" y="53"/>
                      <a:pt x="513" y="53"/>
                      <a:pt x="513" y="53"/>
                    </a:cubicBezTo>
                    <a:cubicBezTo>
                      <a:pt x="513" y="52"/>
                      <a:pt x="513" y="52"/>
                      <a:pt x="513" y="52"/>
                    </a:cubicBezTo>
                    <a:cubicBezTo>
                      <a:pt x="514" y="52"/>
                      <a:pt x="514" y="52"/>
                      <a:pt x="514" y="52"/>
                    </a:cubicBezTo>
                    <a:cubicBezTo>
                      <a:pt x="516" y="52"/>
                      <a:pt x="517" y="52"/>
                      <a:pt x="517" y="51"/>
                    </a:cubicBezTo>
                    <a:cubicBezTo>
                      <a:pt x="518" y="50"/>
                      <a:pt x="518" y="48"/>
                      <a:pt x="518" y="46"/>
                    </a:cubicBezTo>
                    <a:cubicBezTo>
                      <a:pt x="518" y="33"/>
                      <a:pt x="518" y="33"/>
                      <a:pt x="518" y="33"/>
                    </a:cubicBezTo>
                    <a:cubicBezTo>
                      <a:pt x="518" y="29"/>
                      <a:pt x="518" y="26"/>
                      <a:pt x="518" y="25"/>
                    </a:cubicBezTo>
                    <a:cubicBezTo>
                      <a:pt x="518" y="24"/>
                      <a:pt x="517" y="24"/>
                      <a:pt x="517" y="23"/>
                    </a:cubicBezTo>
                    <a:cubicBezTo>
                      <a:pt x="516" y="23"/>
                      <a:pt x="516" y="23"/>
                      <a:pt x="515" y="23"/>
                    </a:cubicBezTo>
                    <a:cubicBezTo>
                      <a:pt x="514" y="23"/>
                      <a:pt x="514" y="23"/>
                      <a:pt x="513" y="23"/>
                    </a:cubicBezTo>
                    <a:cubicBezTo>
                      <a:pt x="512" y="22"/>
                      <a:pt x="512" y="22"/>
                      <a:pt x="512" y="22"/>
                    </a:cubicBezTo>
                    <a:cubicBezTo>
                      <a:pt x="522" y="18"/>
                      <a:pt x="522" y="18"/>
                      <a:pt x="522" y="18"/>
                    </a:cubicBezTo>
                    <a:cubicBezTo>
                      <a:pt x="524" y="18"/>
                      <a:pt x="524" y="18"/>
                      <a:pt x="524" y="18"/>
                    </a:cubicBezTo>
                    <a:cubicBezTo>
                      <a:pt x="524" y="26"/>
                      <a:pt x="524" y="26"/>
                      <a:pt x="524" y="26"/>
                    </a:cubicBezTo>
                    <a:close/>
                    <a:moveTo>
                      <a:pt x="573" y="49"/>
                    </a:moveTo>
                    <a:cubicBezTo>
                      <a:pt x="570" y="52"/>
                      <a:pt x="568" y="53"/>
                      <a:pt x="567" y="54"/>
                    </a:cubicBezTo>
                    <a:cubicBezTo>
                      <a:pt x="566" y="54"/>
                      <a:pt x="564" y="54"/>
                      <a:pt x="563" y="54"/>
                    </a:cubicBezTo>
                    <a:cubicBezTo>
                      <a:pt x="560" y="54"/>
                      <a:pt x="559" y="54"/>
                      <a:pt x="557" y="52"/>
                    </a:cubicBezTo>
                    <a:cubicBezTo>
                      <a:pt x="556" y="50"/>
                      <a:pt x="555" y="48"/>
                      <a:pt x="555" y="46"/>
                    </a:cubicBezTo>
                    <a:cubicBezTo>
                      <a:pt x="555" y="44"/>
                      <a:pt x="556" y="42"/>
                      <a:pt x="556" y="41"/>
                    </a:cubicBezTo>
                    <a:cubicBezTo>
                      <a:pt x="557" y="40"/>
                      <a:pt x="559" y="38"/>
                      <a:pt x="562" y="36"/>
                    </a:cubicBezTo>
                    <a:cubicBezTo>
                      <a:pt x="564" y="35"/>
                      <a:pt x="568" y="33"/>
                      <a:pt x="574" y="31"/>
                    </a:cubicBezTo>
                    <a:cubicBezTo>
                      <a:pt x="574" y="30"/>
                      <a:pt x="574" y="30"/>
                      <a:pt x="574" y="30"/>
                    </a:cubicBezTo>
                    <a:cubicBezTo>
                      <a:pt x="574" y="26"/>
                      <a:pt x="573" y="24"/>
                      <a:pt x="572" y="23"/>
                    </a:cubicBezTo>
                    <a:cubicBezTo>
                      <a:pt x="571" y="22"/>
                      <a:pt x="570" y="21"/>
                      <a:pt x="568" y="21"/>
                    </a:cubicBezTo>
                    <a:cubicBezTo>
                      <a:pt x="566" y="21"/>
                      <a:pt x="565" y="21"/>
                      <a:pt x="564" y="22"/>
                    </a:cubicBezTo>
                    <a:cubicBezTo>
                      <a:pt x="563" y="23"/>
                      <a:pt x="563" y="24"/>
                      <a:pt x="563" y="25"/>
                    </a:cubicBezTo>
                    <a:cubicBezTo>
                      <a:pt x="563" y="27"/>
                      <a:pt x="563" y="27"/>
                      <a:pt x="563" y="27"/>
                    </a:cubicBezTo>
                    <a:cubicBezTo>
                      <a:pt x="563" y="28"/>
                      <a:pt x="562" y="29"/>
                      <a:pt x="562" y="30"/>
                    </a:cubicBezTo>
                    <a:cubicBezTo>
                      <a:pt x="562" y="30"/>
                      <a:pt x="561" y="30"/>
                      <a:pt x="560" y="30"/>
                    </a:cubicBezTo>
                    <a:cubicBezTo>
                      <a:pt x="559" y="30"/>
                      <a:pt x="558" y="30"/>
                      <a:pt x="558" y="30"/>
                    </a:cubicBezTo>
                    <a:cubicBezTo>
                      <a:pt x="558" y="29"/>
                      <a:pt x="557" y="28"/>
                      <a:pt x="557" y="27"/>
                    </a:cubicBezTo>
                    <a:cubicBezTo>
                      <a:pt x="557" y="25"/>
                      <a:pt x="558" y="23"/>
                      <a:pt x="560" y="21"/>
                    </a:cubicBezTo>
                    <a:cubicBezTo>
                      <a:pt x="562" y="19"/>
                      <a:pt x="566" y="18"/>
                      <a:pt x="569" y="18"/>
                    </a:cubicBezTo>
                    <a:cubicBezTo>
                      <a:pt x="572" y="18"/>
                      <a:pt x="574" y="18"/>
                      <a:pt x="576" y="20"/>
                    </a:cubicBezTo>
                    <a:cubicBezTo>
                      <a:pt x="578" y="20"/>
                      <a:pt x="579" y="22"/>
                      <a:pt x="580" y="23"/>
                    </a:cubicBezTo>
                    <a:cubicBezTo>
                      <a:pt x="580" y="24"/>
                      <a:pt x="580" y="26"/>
                      <a:pt x="580" y="30"/>
                    </a:cubicBezTo>
                    <a:cubicBezTo>
                      <a:pt x="580" y="41"/>
                      <a:pt x="580" y="41"/>
                      <a:pt x="580" y="41"/>
                    </a:cubicBezTo>
                    <a:cubicBezTo>
                      <a:pt x="580" y="44"/>
                      <a:pt x="580" y="46"/>
                      <a:pt x="580" y="47"/>
                    </a:cubicBezTo>
                    <a:cubicBezTo>
                      <a:pt x="580" y="48"/>
                      <a:pt x="581" y="48"/>
                      <a:pt x="581" y="49"/>
                    </a:cubicBezTo>
                    <a:cubicBezTo>
                      <a:pt x="581" y="49"/>
                      <a:pt x="581" y="49"/>
                      <a:pt x="582" y="49"/>
                    </a:cubicBezTo>
                    <a:cubicBezTo>
                      <a:pt x="582" y="49"/>
                      <a:pt x="582" y="49"/>
                      <a:pt x="583" y="49"/>
                    </a:cubicBezTo>
                    <a:cubicBezTo>
                      <a:pt x="583" y="48"/>
                      <a:pt x="584" y="48"/>
                      <a:pt x="586" y="46"/>
                    </a:cubicBezTo>
                    <a:cubicBezTo>
                      <a:pt x="586" y="48"/>
                      <a:pt x="586" y="48"/>
                      <a:pt x="586" y="48"/>
                    </a:cubicBezTo>
                    <a:cubicBezTo>
                      <a:pt x="583" y="52"/>
                      <a:pt x="580" y="54"/>
                      <a:pt x="578" y="54"/>
                    </a:cubicBezTo>
                    <a:cubicBezTo>
                      <a:pt x="577" y="54"/>
                      <a:pt x="576" y="53"/>
                      <a:pt x="575" y="52"/>
                    </a:cubicBezTo>
                    <a:cubicBezTo>
                      <a:pt x="574" y="52"/>
                      <a:pt x="573" y="51"/>
                      <a:pt x="573" y="49"/>
                    </a:cubicBezTo>
                    <a:close/>
                    <a:moveTo>
                      <a:pt x="573" y="46"/>
                    </a:moveTo>
                    <a:cubicBezTo>
                      <a:pt x="573" y="34"/>
                      <a:pt x="573" y="34"/>
                      <a:pt x="573" y="34"/>
                    </a:cubicBezTo>
                    <a:cubicBezTo>
                      <a:pt x="570" y="35"/>
                      <a:pt x="567" y="36"/>
                      <a:pt x="566" y="37"/>
                    </a:cubicBezTo>
                    <a:cubicBezTo>
                      <a:pt x="564" y="38"/>
                      <a:pt x="563" y="39"/>
                      <a:pt x="562" y="40"/>
                    </a:cubicBezTo>
                    <a:cubicBezTo>
                      <a:pt x="562" y="42"/>
                      <a:pt x="561" y="43"/>
                      <a:pt x="561" y="44"/>
                    </a:cubicBezTo>
                    <a:cubicBezTo>
                      <a:pt x="561" y="46"/>
                      <a:pt x="562" y="48"/>
                      <a:pt x="563" y="49"/>
                    </a:cubicBezTo>
                    <a:cubicBezTo>
                      <a:pt x="564" y="50"/>
                      <a:pt x="565" y="50"/>
                      <a:pt x="566" y="50"/>
                    </a:cubicBezTo>
                    <a:cubicBezTo>
                      <a:pt x="568" y="50"/>
                      <a:pt x="570" y="49"/>
                      <a:pt x="57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B502A971-4197-3535-20BC-E3D072664B7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4400" y="4596116"/>
                <a:ext cx="2255838" cy="300038"/>
              </a:xfrm>
              <a:custGeom>
                <a:avLst/>
                <a:gdLst>
                  <a:gd name="T0" fmla="*/ 1465 w 1513"/>
                  <a:gd name="T1" fmla="*/ 107 h 200"/>
                  <a:gd name="T2" fmla="*/ 1416 w 1513"/>
                  <a:gd name="T3" fmla="*/ 130 h 200"/>
                  <a:gd name="T4" fmla="*/ 1450 w 1513"/>
                  <a:gd name="T5" fmla="*/ 47 h 200"/>
                  <a:gd name="T6" fmla="*/ 1458 w 1513"/>
                  <a:gd name="T7" fmla="*/ 70 h 200"/>
                  <a:gd name="T8" fmla="*/ 1467 w 1513"/>
                  <a:gd name="T9" fmla="*/ 146 h 200"/>
                  <a:gd name="T10" fmla="*/ 1410 w 1513"/>
                  <a:gd name="T11" fmla="*/ 171 h 200"/>
                  <a:gd name="T12" fmla="*/ 1408 w 1513"/>
                  <a:gd name="T13" fmla="*/ 153 h 200"/>
                  <a:gd name="T14" fmla="*/ 1272 w 1513"/>
                  <a:gd name="T15" fmla="*/ 125 h 200"/>
                  <a:gd name="T16" fmla="*/ 1257 w 1513"/>
                  <a:gd name="T17" fmla="*/ 79 h 200"/>
                  <a:gd name="T18" fmla="*/ 1298 w 1513"/>
                  <a:gd name="T19" fmla="*/ 59 h 200"/>
                  <a:gd name="T20" fmla="*/ 1220 w 1513"/>
                  <a:gd name="T21" fmla="*/ 139 h 200"/>
                  <a:gd name="T22" fmla="*/ 1112 w 1513"/>
                  <a:gd name="T23" fmla="*/ 16 h 200"/>
                  <a:gd name="T24" fmla="*/ 1064 w 1513"/>
                  <a:gd name="T25" fmla="*/ 107 h 200"/>
                  <a:gd name="T26" fmla="*/ 1074 w 1513"/>
                  <a:gd name="T27" fmla="*/ 95 h 200"/>
                  <a:gd name="T28" fmla="*/ 1096 w 1513"/>
                  <a:gd name="T29" fmla="*/ 49 h 200"/>
                  <a:gd name="T30" fmla="*/ 1098 w 1513"/>
                  <a:gd name="T31" fmla="*/ 84 h 200"/>
                  <a:gd name="T32" fmla="*/ 1101 w 1513"/>
                  <a:gd name="T33" fmla="*/ 154 h 200"/>
                  <a:gd name="T34" fmla="*/ 1038 w 1513"/>
                  <a:gd name="T35" fmla="*/ 172 h 200"/>
                  <a:gd name="T36" fmla="*/ 862 w 1513"/>
                  <a:gd name="T37" fmla="*/ 136 h 200"/>
                  <a:gd name="T38" fmla="*/ 895 w 1513"/>
                  <a:gd name="T39" fmla="*/ 103 h 200"/>
                  <a:gd name="T40" fmla="*/ 856 w 1513"/>
                  <a:gd name="T41" fmla="*/ 83 h 200"/>
                  <a:gd name="T42" fmla="*/ 873 w 1513"/>
                  <a:gd name="T43" fmla="*/ 80 h 200"/>
                  <a:gd name="T44" fmla="*/ 905 w 1513"/>
                  <a:gd name="T45" fmla="*/ 38 h 200"/>
                  <a:gd name="T46" fmla="*/ 908 w 1513"/>
                  <a:gd name="T47" fmla="*/ 83 h 200"/>
                  <a:gd name="T48" fmla="*/ 874 w 1513"/>
                  <a:gd name="T49" fmla="*/ 168 h 200"/>
                  <a:gd name="T50" fmla="*/ 809 w 1513"/>
                  <a:gd name="T51" fmla="*/ 149 h 200"/>
                  <a:gd name="T52" fmla="*/ 704 w 1513"/>
                  <a:gd name="T53" fmla="*/ 45 h 200"/>
                  <a:gd name="T54" fmla="*/ 658 w 1513"/>
                  <a:gd name="T55" fmla="*/ 45 h 200"/>
                  <a:gd name="T56" fmla="*/ 694 w 1513"/>
                  <a:gd name="T57" fmla="*/ 50 h 200"/>
                  <a:gd name="T58" fmla="*/ 705 w 1513"/>
                  <a:gd name="T59" fmla="*/ 55 h 200"/>
                  <a:gd name="T60" fmla="*/ 697 w 1513"/>
                  <a:gd name="T61" fmla="*/ 139 h 200"/>
                  <a:gd name="T62" fmla="*/ 662 w 1513"/>
                  <a:gd name="T63" fmla="*/ 179 h 200"/>
                  <a:gd name="T64" fmla="*/ 686 w 1513"/>
                  <a:gd name="T65" fmla="*/ 141 h 200"/>
                  <a:gd name="T66" fmla="*/ 720 w 1513"/>
                  <a:gd name="T67" fmla="*/ 90 h 200"/>
                  <a:gd name="T68" fmla="*/ 540 w 1513"/>
                  <a:gd name="T69" fmla="*/ 92 h 200"/>
                  <a:gd name="T70" fmla="*/ 491 w 1513"/>
                  <a:gd name="T71" fmla="*/ 115 h 200"/>
                  <a:gd name="T72" fmla="*/ 466 w 1513"/>
                  <a:gd name="T73" fmla="*/ 70 h 200"/>
                  <a:gd name="T74" fmla="*/ 444 w 1513"/>
                  <a:gd name="T75" fmla="*/ 90 h 200"/>
                  <a:gd name="T76" fmla="*/ 426 w 1513"/>
                  <a:gd name="T77" fmla="*/ 96 h 200"/>
                  <a:gd name="T78" fmla="*/ 414 w 1513"/>
                  <a:gd name="T79" fmla="*/ 90 h 200"/>
                  <a:gd name="T80" fmla="*/ 502 w 1513"/>
                  <a:gd name="T81" fmla="*/ 43 h 200"/>
                  <a:gd name="T82" fmla="*/ 560 w 1513"/>
                  <a:gd name="T83" fmla="*/ 85 h 200"/>
                  <a:gd name="T84" fmla="*/ 520 w 1513"/>
                  <a:gd name="T85" fmla="*/ 187 h 200"/>
                  <a:gd name="T86" fmla="*/ 465 w 1513"/>
                  <a:gd name="T87" fmla="*/ 119 h 200"/>
                  <a:gd name="T88" fmla="*/ 442 w 1513"/>
                  <a:gd name="T89" fmla="*/ 153 h 200"/>
                  <a:gd name="T90" fmla="*/ 282 w 1513"/>
                  <a:gd name="T91" fmla="*/ 98 h 200"/>
                  <a:gd name="T92" fmla="*/ 259 w 1513"/>
                  <a:gd name="T93" fmla="*/ 93 h 200"/>
                  <a:gd name="T94" fmla="*/ 226 w 1513"/>
                  <a:gd name="T95" fmla="*/ 158 h 200"/>
                  <a:gd name="T96" fmla="*/ 307 w 1513"/>
                  <a:gd name="T97" fmla="*/ 43 h 200"/>
                  <a:gd name="T98" fmla="*/ 290 w 1513"/>
                  <a:gd name="T99" fmla="*/ 120 h 200"/>
                  <a:gd name="T100" fmla="*/ 234 w 1513"/>
                  <a:gd name="T101" fmla="*/ 93 h 200"/>
                  <a:gd name="T102" fmla="*/ 205 w 1513"/>
                  <a:gd name="T103" fmla="*/ 107 h 200"/>
                  <a:gd name="T104" fmla="*/ 226 w 1513"/>
                  <a:gd name="T105" fmla="*/ 171 h 200"/>
                  <a:gd name="T106" fmla="*/ 101 w 1513"/>
                  <a:gd name="T107" fmla="*/ 63 h 200"/>
                  <a:gd name="T108" fmla="*/ 32 w 1513"/>
                  <a:gd name="T109" fmla="*/ 94 h 200"/>
                  <a:gd name="T110" fmla="*/ 58 w 1513"/>
                  <a:gd name="T111" fmla="*/ 7 h 200"/>
                  <a:gd name="T112" fmla="*/ 104 w 1513"/>
                  <a:gd name="T113" fmla="*/ 90 h 200"/>
                  <a:gd name="T114" fmla="*/ 48 w 1513"/>
                  <a:gd name="T115" fmla="*/ 152 h 200"/>
                  <a:gd name="T116" fmla="*/ 3 w 1513"/>
                  <a:gd name="T117" fmla="*/ 66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13" h="200">
                    <a:moveTo>
                      <a:pt x="1410" y="31"/>
                    </a:moveTo>
                    <a:cubicBezTo>
                      <a:pt x="1410" y="28"/>
                      <a:pt x="1410" y="26"/>
                      <a:pt x="1410" y="23"/>
                    </a:cubicBezTo>
                    <a:cubicBezTo>
                      <a:pt x="1418" y="21"/>
                      <a:pt x="1413" y="3"/>
                      <a:pt x="1421" y="0"/>
                    </a:cubicBezTo>
                    <a:cubicBezTo>
                      <a:pt x="1424" y="0"/>
                      <a:pt x="1424" y="0"/>
                      <a:pt x="1424" y="0"/>
                    </a:cubicBezTo>
                    <a:cubicBezTo>
                      <a:pt x="1425" y="3"/>
                      <a:pt x="1427" y="7"/>
                      <a:pt x="1428" y="11"/>
                    </a:cubicBezTo>
                    <a:cubicBezTo>
                      <a:pt x="1428" y="13"/>
                      <a:pt x="1428" y="15"/>
                      <a:pt x="1428" y="17"/>
                    </a:cubicBezTo>
                    <a:cubicBezTo>
                      <a:pt x="1431" y="30"/>
                      <a:pt x="1429" y="36"/>
                      <a:pt x="1427" y="47"/>
                    </a:cubicBezTo>
                    <a:cubicBezTo>
                      <a:pt x="1414" y="49"/>
                      <a:pt x="1415" y="38"/>
                      <a:pt x="1410" y="31"/>
                    </a:cubicBezTo>
                    <a:close/>
                    <a:moveTo>
                      <a:pt x="1442" y="122"/>
                    </a:moveTo>
                    <a:cubicBezTo>
                      <a:pt x="1442" y="107"/>
                      <a:pt x="1454" y="110"/>
                      <a:pt x="1465" y="107"/>
                    </a:cubicBezTo>
                    <a:cubicBezTo>
                      <a:pt x="1470" y="105"/>
                      <a:pt x="1478" y="101"/>
                      <a:pt x="1482" y="97"/>
                    </a:cubicBezTo>
                    <a:cubicBezTo>
                      <a:pt x="1484" y="95"/>
                      <a:pt x="1484" y="93"/>
                      <a:pt x="1486" y="91"/>
                    </a:cubicBezTo>
                    <a:cubicBezTo>
                      <a:pt x="1485" y="90"/>
                      <a:pt x="1485" y="88"/>
                      <a:pt x="1484" y="87"/>
                    </a:cubicBezTo>
                    <a:cubicBezTo>
                      <a:pt x="1482" y="86"/>
                      <a:pt x="1479" y="83"/>
                      <a:pt x="1477" y="83"/>
                    </a:cubicBezTo>
                    <a:cubicBezTo>
                      <a:pt x="1474" y="81"/>
                      <a:pt x="1470" y="82"/>
                      <a:pt x="1468" y="81"/>
                    </a:cubicBezTo>
                    <a:cubicBezTo>
                      <a:pt x="1452" y="83"/>
                      <a:pt x="1429" y="95"/>
                      <a:pt x="1424" y="105"/>
                    </a:cubicBezTo>
                    <a:cubicBezTo>
                      <a:pt x="1424" y="108"/>
                      <a:pt x="1424" y="111"/>
                      <a:pt x="1424" y="113"/>
                    </a:cubicBezTo>
                    <a:cubicBezTo>
                      <a:pt x="1426" y="115"/>
                      <a:pt x="1428" y="117"/>
                      <a:pt x="1430" y="119"/>
                    </a:cubicBezTo>
                    <a:cubicBezTo>
                      <a:pt x="1430" y="126"/>
                      <a:pt x="1430" y="134"/>
                      <a:pt x="1422" y="135"/>
                    </a:cubicBezTo>
                    <a:cubicBezTo>
                      <a:pt x="1420" y="133"/>
                      <a:pt x="1418" y="132"/>
                      <a:pt x="1416" y="130"/>
                    </a:cubicBezTo>
                    <a:cubicBezTo>
                      <a:pt x="1414" y="132"/>
                      <a:pt x="1413" y="133"/>
                      <a:pt x="1409" y="132"/>
                    </a:cubicBezTo>
                    <a:cubicBezTo>
                      <a:pt x="1407" y="128"/>
                      <a:pt x="1397" y="105"/>
                      <a:pt x="1398" y="102"/>
                    </a:cubicBezTo>
                    <a:cubicBezTo>
                      <a:pt x="1399" y="99"/>
                      <a:pt x="1405" y="97"/>
                      <a:pt x="1408" y="96"/>
                    </a:cubicBezTo>
                    <a:cubicBezTo>
                      <a:pt x="1414" y="93"/>
                      <a:pt x="1418" y="86"/>
                      <a:pt x="1423" y="82"/>
                    </a:cubicBezTo>
                    <a:cubicBezTo>
                      <a:pt x="1426" y="80"/>
                      <a:pt x="1430" y="80"/>
                      <a:pt x="1433" y="79"/>
                    </a:cubicBezTo>
                    <a:cubicBezTo>
                      <a:pt x="1441" y="75"/>
                      <a:pt x="1447" y="65"/>
                      <a:pt x="1454" y="59"/>
                    </a:cubicBezTo>
                    <a:cubicBezTo>
                      <a:pt x="1462" y="51"/>
                      <a:pt x="1472" y="50"/>
                      <a:pt x="1478" y="41"/>
                    </a:cubicBezTo>
                    <a:cubicBezTo>
                      <a:pt x="1478" y="41"/>
                      <a:pt x="1478" y="41"/>
                      <a:pt x="1478" y="40"/>
                    </a:cubicBezTo>
                    <a:cubicBezTo>
                      <a:pt x="1477" y="40"/>
                      <a:pt x="1477" y="40"/>
                      <a:pt x="1477" y="40"/>
                    </a:cubicBezTo>
                    <a:cubicBezTo>
                      <a:pt x="1472" y="45"/>
                      <a:pt x="1459" y="54"/>
                      <a:pt x="1450" y="47"/>
                    </a:cubicBezTo>
                    <a:cubicBezTo>
                      <a:pt x="1446" y="45"/>
                      <a:pt x="1447" y="40"/>
                      <a:pt x="1444" y="37"/>
                    </a:cubicBezTo>
                    <a:cubicBezTo>
                      <a:pt x="1443" y="35"/>
                      <a:pt x="1440" y="34"/>
                      <a:pt x="1440" y="31"/>
                    </a:cubicBezTo>
                    <a:cubicBezTo>
                      <a:pt x="1440" y="29"/>
                      <a:pt x="1441" y="28"/>
                      <a:pt x="1441" y="27"/>
                    </a:cubicBezTo>
                    <a:cubicBezTo>
                      <a:pt x="1447" y="27"/>
                      <a:pt x="1459" y="35"/>
                      <a:pt x="1462" y="38"/>
                    </a:cubicBezTo>
                    <a:cubicBezTo>
                      <a:pt x="1471" y="35"/>
                      <a:pt x="1480" y="33"/>
                      <a:pt x="1488" y="28"/>
                    </a:cubicBezTo>
                    <a:cubicBezTo>
                      <a:pt x="1491" y="26"/>
                      <a:pt x="1496" y="30"/>
                      <a:pt x="1498" y="29"/>
                    </a:cubicBezTo>
                    <a:cubicBezTo>
                      <a:pt x="1502" y="32"/>
                      <a:pt x="1508" y="48"/>
                      <a:pt x="1500" y="52"/>
                    </a:cubicBezTo>
                    <a:cubicBezTo>
                      <a:pt x="1496" y="53"/>
                      <a:pt x="1490" y="53"/>
                      <a:pt x="1486" y="54"/>
                    </a:cubicBezTo>
                    <a:cubicBezTo>
                      <a:pt x="1476" y="56"/>
                      <a:pt x="1464" y="63"/>
                      <a:pt x="1457" y="69"/>
                    </a:cubicBezTo>
                    <a:cubicBezTo>
                      <a:pt x="1457" y="69"/>
                      <a:pt x="1458" y="69"/>
                      <a:pt x="1458" y="70"/>
                    </a:cubicBezTo>
                    <a:cubicBezTo>
                      <a:pt x="1458" y="70"/>
                      <a:pt x="1458" y="70"/>
                      <a:pt x="1458" y="70"/>
                    </a:cubicBezTo>
                    <a:cubicBezTo>
                      <a:pt x="1462" y="71"/>
                      <a:pt x="1469" y="68"/>
                      <a:pt x="1474" y="71"/>
                    </a:cubicBezTo>
                    <a:cubicBezTo>
                      <a:pt x="1485" y="76"/>
                      <a:pt x="1500" y="81"/>
                      <a:pt x="1500" y="99"/>
                    </a:cubicBezTo>
                    <a:cubicBezTo>
                      <a:pt x="1497" y="100"/>
                      <a:pt x="1496" y="102"/>
                      <a:pt x="1494" y="103"/>
                    </a:cubicBezTo>
                    <a:cubicBezTo>
                      <a:pt x="1488" y="105"/>
                      <a:pt x="1482" y="105"/>
                      <a:pt x="1477" y="108"/>
                    </a:cubicBezTo>
                    <a:cubicBezTo>
                      <a:pt x="1477" y="109"/>
                      <a:pt x="1477" y="109"/>
                      <a:pt x="1477" y="110"/>
                    </a:cubicBezTo>
                    <a:cubicBezTo>
                      <a:pt x="1478" y="112"/>
                      <a:pt x="1479" y="113"/>
                      <a:pt x="1479" y="118"/>
                    </a:cubicBezTo>
                    <a:cubicBezTo>
                      <a:pt x="1477" y="119"/>
                      <a:pt x="1478" y="122"/>
                      <a:pt x="1476" y="123"/>
                    </a:cubicBezTo>
                    <a:cubicBezTo>
                      <a:pt x="1472" y="130"/>
                      <a:pt x="1465" y="135"/>
                      <a:pt x="1463" y="142"/>
                    </a:cubicBezTo>
                    <a:cubicBezTo>
                      <a:pt x="1464" y="143"/>
                      <a:pt x="1466" y="145"/>
                      <a:pt x="1467" y="146"/>
                    </a:cubicBezTo>
                    <a:cubicBezTo>
                      <a:pt x="1476" y="149"/>
                      <a:pt x="1513" y="129"/>
                      <a:pt x="1508" y="151"/>
                    </a:cubicBezTo>
                    <a:cubicBezTo>
                      <a:pt x="1507" y="154"/>
                      <a:pt x="1505" y="156"/>
                      <a:pt x="1504" y="158"/>
                    </a:cubicBezTo>
                    <a:cubicBezTo>
                      <a:pt x="1500" y="158"/>
                      <a:pt x="1498" y="157"/>
                      <a:pt x="1495" y="157"/>
                    </a:cubicBezTo>
                    <a:cubicBezTo>
                      <a:pt x="1490" y="155"/>
                      <a:pt x="1472" y="161"/>
                      <a:pt x="1469" y="163"/>
                    </a:cubicBezTo>
                    <a:cubicBezTo>
                      <a:pt x="1470" y="169"/>
                      <a:pt x="1471" y="175"/>
                      <a:pt x="1471" y="182"/>
                    </a:cubicBezTo>
                    <a:cubicBezTo>
                      <a:pt x="1469" y="183"/>
                      <a:pt x="1469" y="185"/>
                      <a:pt x="1468" y="186"/>
                    </a:cubicBezTo>
                    <a:cubicBezTo>
                      <a:pt x="1465" y="188"/>
                      <a:pt x="1462" y="187"/>
                      <a:pt x="1458" y="189"/>
                    </a:cubicBezTo>
                    <a:cubicBezTo>
                      <a:pt x="1456" y="190"/>
                      <a:pt x="1453" y="193"/>
                      <a:pt x="1450" y="193"/>
                    </a:cubicBezTo>
                    <a:cubicBezTo>
                      <a:pt x="1432" y="200"/>
                      <a:pt x="1414" y="183"/>
                      <a:pt x="1410" y="171"/>
                    </a:cubicBezTo>
                    <a:cubicBezTo>
                      <a:pt x="1410" y="171"/>
                      <a:pt x="1410" y="171"/>
                      <a:pt x="1410" y="171"/>
                    </a:cubicBezTo>
                    <a:cubicBezTo>
                      <a:pt x="1416" y="171"/>
                      <a:pt x="1423" y="177"/>
                      <a:pt x="1428" y="179"/>
                    </a:cubicBezTo>
                    <a:cubicBezTo>
                      <a:pt x="1430" y="179"/>
                      <a:pt x="1433" y="179"/>
                      <a:pt x="1435" y="179"/>
                    </a:cubicBezTo>
                    <a:cubicBezTo>
                      <a:pt x="1449" y="179"/>
                      <a:pt x="1457" y="174"/>
                      <a:pt x="1463" y="165"/>
                    </a:cubicBezTo>
                    <a:cubicBezTo>
                      <a:pt x="1463" y="164"/>
                      <a:pt x="1463" y="163"/>
                      <a:pt x="1463" y="162"/>
                    </a:cubicBezTo>
                    <a:cubicBezTo>
                      <a:pt x="1462" y="162"/>
                      <a:pt x="1461" y="161"/>
                      <a:pt x="1460" y="161"/>
                    </a:cubicBezTo>
                    <a:cubicBezTo>
                      <a:pt x="1453" y="158"/>
                      <a:pt x="1440" y="165"/>
                      <a:pt x="1434" y="166"/>
                    </a:cubicBezTo>
                    <a:cubicBezTo>
                      <a:pt x="1428" y="167"/>
                      <a:pt x="1413" y="167"/>
                      <a:pt x="1408" y="164"/>
                    </a:cubicBezTo>
                    <a:cubicBezTo>
                      <a:pt x="1406" y="163"/>
                      <a:pt x="1405" y="161"/>
                      <a:pt x="1404" y="160"/>
                    </a:cubicBezTo>
                    <a:cubicBezTo>
                      <a:pt x="1404" y="159"/>
                      <a:pt x="1404" y="157"/>
                      <a:pt x="1404" y="156"/>
                    </a:cubicBezTo>
                    <a:cubicBezTo>
                      <a:pt x="1406" y="155"/>
                      <a:pt x="1407" y="154"/>
                      <a:pt x="1408" y="153"/>
                    </a:cubicBezTo>
                    <a:cubicBezTo>
                      <a:pt x="1418" y="153"/>
                      <a:pt x="1426" y="153"/>
                      <a:pt x="1436" y="153"/>
                    </a:cubicBezTo>
                    <a:cubicBezTo>
                      <a:pt x="1438" y="152"/>
                      <a:pt x="1442" y="149"/>
                      <a:pt x="1444" y="149"/>
                    </a:cubicBezTo>
                    <a:cubicBezTo>
                      <a:pt x="1448" y="147"/>
                      <a:pt x="1452" y="148"/>
                      <a:pt x="1455" y="147"/>
                    </a:cubicBezTo>
                    <a:cubicBezTo>
                      <a:pt x="1456" y="146"/>
                      <a:pt x="1456" y="146"/>
                      <a:pt x="1457" y="145"/>
                    </a:cubicBezTo>
                    <a:cubicBezTo>
                      <a:pt x="1456" y="143"/>
                      <a:pt x="1454" y="139"/>
                      <a:pt x="1456" y="136"/>
                    </a:cubicBezTo>
                    <a:cubicBezTo>
                      <a:pt x="1458" y="129"/>
                      <a:pt x="1460" y="125"/>
                      <a:pt x="1464" y="118"/>
                    </a:cubicBezTo>
                    <a:cubicBezTo>
                      <a:pt x="1463" y="117"/>
                      <a:pt x="1462" y="117"/>
                      <a:pt x="1461" y="117"/>
                    </a:cubicBezTo>
                    <a:cubicBezTo>
                      <a:pt x="1455" y="118"/>
                      <a:pt x="1451" y="121"/>
                      <a:pt x="1442" y="122"/>
                    </a:cubicBezTo>
                    <a:close/>
                    <a:moveTo>
                      <a:pt x="1272" y="127"/>
                    </a:moveTo>
                    <a:cubicBezTo>
                      <a:pt x="1272" y="125"/>
                      <a:pt x="1271" y="126"/>
                      <a:pt x="1272" y="125"/>
                    </a:cubicBezTo>
                    <a:cubicBezTo>
                      <a:pt x="1274" y="119"/>
                      <a:pt x="1285" y="115"/>
                      <a:pt x="1292" y="119"/>
                    </a:cubicBezTo>
                    <a:cubicBezTo>
                      <a:pt x="1301" y="125"/>
                      <a:pt x="1318" y="137"/>
                      <a:pt x="1316" y="154"/>
                    </a:cubicBezTo>
                    <a:cubicBezTo>
                      <a:pt x="1310" y="157"/>
                      <a:pt x="1309" y="164"/>
                      <a:pt x="1298" y="164"/>
                    </a:cubicBezTo>
                    <a:cubicBezTo>
                      <a:pt x="1298" y="161"/>
                      <a:pt x="1294" y="159"/>
                      <a:pt x="1293" y="157"/>
                    </a:cubicBezTo>
                    <a:cubicBezTo>
                      <a:pt x="1292" y="155"/>
                      <a:pt x="1292" y="152"/>
                      <a:pt x="1291" y="149"/>
                    </a:cubicBezTo>
                    <a:cubicBezTo>
                      <a:pt x="1288" y="143"/>
                      <a:pt x="1279" y="128"/>
                      <a:pt x="1272" y="127"/>
                    </a:cubicBezTo>
                    <a:close/>
                    <a:moveTo>
                      <a:pt x="1216" y="87"/>
                    </a:moveTo>
                    <a:cubicBezTo>
                      <a:pt x="1216" y="86"/>
                      <a:pt x="1217" y="85"/>
                      <a:pt x="1217" y="84"/>
                    </a:cubicBezTo>
                    <a:cubicBezTo>
                      <a:pt x="1222" y="85"/>
                      <a:pt x="1227" y="86"/>
                      <a:pt x="1232" y="87"/>
                    </a:cubicBezTo>
                    <a:cubicBezTo>
                      <a:pt x="1237" y="89"/>
                      <a:pt x="1256" y="82"/>
                      <a:pt x="1257" y="79"/>
                    </a:cubicBezTo>
                    <a:cubicBezTo>
                      <a:pt x="1260" y="74"/>
                      <a:pt x="1260" y="41"/>
                      <a:pt x="1257" y="36"/>
                    </a:cubicBezTo>
                    <a:cubicBezTo>
                      <a:pt x="1255" y="31"/>
                      <a:pt x="1252" y="30"/>
                      <a:pt x="1252" y="23"/>
                    </a:cubicBezTo>
                    <a:cubicBezTo>
                      <a:pt x="1256" y="21"/>
                      <a:pt x="1256" y="20"/>
                      <a:pt x="1264" y="20"/>
                    </a:cubicBezTo>
                    <a:cubicBezTo>
                      <a:pt x="1272" y="26"/>
                      <a:pt x="1273" y="39"/>
                      <a:pt x="1273" y="54"/>
                    </a:cubicBezTo>
                    <a:cubicBezTo>
                      <a:pt x="1273" y="59"/>
                      <a:pt x="1271" y="74"/>
                      <a:pt x="1272" y="74"/>
                    </a:cubicBezTo>
                    <a:cubicBezTo>
                      <a:pt x="1276" y="75"/>
                      <a:pt x="1290" y="70"/>
                      <a:pt x="1293" y="68"/>
                    </a:cubicBezTo>
                    <a:cubicBezTo>
                      <a:pt x="1293" y="63"/>
                      <a:pt x="1292" y="61"/>
                      <a:pt x="1288" y="58"/>
                    </a:cubicBezTo>
                    <a:cubicBezTo>
                      <a:pt x="1288" y="57"/>
                      <a:pt x="1288" y="55"/>
                      <a:pt x="1288" y="53"/>
                    </a:cubicBezTo>
                    <a:cubicBezTo>
                      <a:pt x="1289" y="53"/>
                      <a:pt x="1290" y="54"/>
                      <a:pt x="1290" y="54"/>
                    </a:cubicBezTo>
                    <a:cubicBezTo>
                      <a:pt x="1293" y="55"/>
                      <a:pt x="1295" y="59"/>
                      <a:pt x="1298" y="59"/>
                    </a:cubicBezTo>
                    <a:cubicBezTo>
                      <a:pt x="1306" y="62"/>
                      <a:pt x="1314" y="60"/>
                      <a:pt x="1321" y="63"/>
                    </a:cubicBezTo>
                    <a:cubicBezTo>
                      <a:pt x="1322" y="64"/>
                      <a:pt x="1322" y="63"/>
                      <a:pt x="1322" y="65"/>
                    </a:cubicBezTo>
                    <a:cubicBezTo>
                      <a:pt x="1322" y="67"/>
                      <a:pt x="1322" y="69"/>
                      <a:pt x="1322" y="71"/>
                    </a:cubicBezTo>
                    <a:cubicBezTo>
                      <a:pt x="1321" y="71"/>
                      <a:pt x="1320" y="74"/>
                      <a:pt x="1319" y="75"/>
                    </a:cubicBezTo>
                    <a:cubicBezTo>
                      <a:pt x="1317" y="76"/>
                      <a:pt x="1310" y="75"/>
                      <a:pt x="1308" y="76"/>
                    </a:cubicBezTo>
                    <a:cubicBezTo>
                      <a:pt x="1301" y="79"/>
                      <a:pt x="1273" y="90"/>
                      <a:pt x="1268" y="95"/>
                    </a:cubicBezTo>
                    <a:cubicBezTo>
                      <a:pt x="1264" y="99"/>
                      <a:pt x="1266" y="105"/>
                      <a:pt x="1264" y="110"/>
                    </a:cubicBezTo>
                    <a:cubicBezTo>
                      <a:pt x="1260" y="123"/>
                      <a:pt x="1250" y="153"/>
                      <a:pt x="1232" y="145"/>
                    </a:cubicBezTo>
                    <a:cubicBezTo>
                      <a:pt x="1230" y="145"/>
                      <a:pt x="1229" y="145"/>
                      <a:pt x="1228" y="145"/>
                    </a:cubicBezTo>
                    <a:cubicBezTo>
                      <a:pt x="1225" y="143"/>
                      <a:pt x="1223" y="141"/>
                      <a:pt x="1220" y="139"/>
                    </a:cubicBezTo>
                    <a:cubicBezTo>
                      <a:pt x="1220" y="138"/>
                      <a:pt x="1220" y="137"/>
                      <a:pt x="1220" y="135"/>
                    </a:cubicBezTo>
                    <a:cubicBezTo>
                      <a:pt x="1222" y="135"/>
                      <a:pt x="1225" y="131"/>
                      <a:pt x="1227" y="130"/>
                    </a:cubicBezTo>
                    <a:cubicBezTo>
                      <a:pt x="1232" y="128"/>
                      <a:pt x="1236" y="129"/>
                      <a:pt x="1240" y="127"/>
                    </a:cubicBezTo>
                    <a:cubicBezTo>
                      <a:pt x="1246" y="125"/>
                      <a:pt x="1256" y="107"/>
                      <a:pt x="1254" y="101"/>
                    </a:cubicBezTo>
                    <a:cubicBezTo>
                      <a:pt x="1246" y="100"/>
                      <a:pt x="1236" y="101"/>
                      <a:pt x="1228" y="101"/>
                    </a:cubicBezTo>
                    <a:cubicBezTo>
                      <a:pt x="1225" y="98"/>
                      <a:pt x="1222" y="96"/>
                      <a:pt x="1219" y="93"/>
                    </a:cubicBezTo>
                    <a:cubicBezTo>
                      <a:pt x="1217" y="91"/>
                      <a:pt x="1217" y="88"/>
                      <a:pt x="1216" y="87"/>
                    </a:cubicBezTo>
                    <a:close/>
                    <a:moveTo>
                      <a:pt x="1110" y="21"/>
                    </a:moveTo>
                    <a:cubicBezTo>
                      <a:pt x="1110" y="20"/>
                      <a:pt x="1110" y="19"/>
                      <a:pt x="1110" y="17"/>
                    </a:cubicBezTo>
                    <a:cubicBezTo>
                      <a:pt x="1110" y="17"/>
                      <a:pt x="1111" y="16"/>
                      <a:pt x="1112" y="16"/>
                    </a:cubicBezTo>
                    <a:cubicBezTo>
                      <a:pt x="1124" y="17"/>
                      <a:pt x="1148" y="19"/>
                      <a:pt x="1147" y="35"/>
                    </a:cubicBezTo>
                    <a:cubicBezTo>
                      <a:pt x="1142" y="43"/>
                      <a:pt x="1140" y="49"/>
                      <a:pt x="1128" y="45"/>
                    </a:cubicBezTo>
                    <a:cubicBezTo>
                      <a:pt x="1127" y="43"/>
                      <a:pt x="1126" y="41"/>
                      <a:pt x="1124" y="39"/>
                    </a:cubicBezTo>
                    <a:cubicBezTo>
                      <a:pt x="1123" y="38"/>
                      <a:pt x="1121" y="38"/>
                      <a:pt x="1119" y="37"/>
                    </a:cubicBezTo>
                    <a:cubicBezTo>
                      <a:pt x="1119" y="31"/>
                      <a:pt x="1113" y="23"/>
                      <a:pt x="1110" y="21"/>
                    </a:cubicBezTo>
                    <a:close/>
                    <a:moveTo>
                      <a:pt x="1055" y="126"/>
                    </a:moveTo>
                    <a:cubicBezTo>
                      <a:pt x="1058" y="127"/>
                      <a:pt x="1062" y="127"/>
                      <a:pt x="1064" y="125"/>
                    </a:cubicBezTo>
                    <a:cubicBezTo>
                      <a:pt x="1066" y="124"/>
                      <a:pt x="1068" y="125"/>
                      <a:pt x="1070" y="123"/>
                    </a:cubicBezTo>
                    <a:cubicBezTo>
                      <a:pt x="1074" y="119"/>
                      <a:pt x="1070" y="109"/>
                      <a:pt x="1066" y="107"/>
                    </a:cubicBezTo>
                    <a:cubicBezTo>
                      <a:pt x="1066" y="107"/>
                      <a:pt x="1064" y="107"/>
                      <a:pt x="1064" y="107"/>
                    </a:cubicBezTo>
                    <a:cubicBezTo>
                      <a:pt x="1056" y="125"/>
                      <a:pt x="1056" y="125"/>
                      <a:pt x="1056" y="125"/>
                    </a:cubicBezTo>
                    <a:cubicBezTo>
                      <a:pt x="1056" y="125"/>
                      <a:pt x="1056" y="126"/>
                      <a:pt x="1055" y="126"/>
                    </a:cubicBezTo>
                    <a:close/>
                    <a:moveTo>
                      <a:pt x="1021" y="158"/>
                    </a:moveTo>
                    <a:cubicBezTo>
                      <a:pt x="1021" y="153"/>
                      <a:pt x="1024" y="148"/>
                      <a:pt x="1024" y="143"/>
                    </a:cubicBezTo>
                    <a:cubicBezTo>
                      <a:pt x="1025" y="140"/>
                      <a:pt x="1023" y="136"/>
                      <a:pt x="1024" y="133"/>
                    </a:cubicBezTo>
                    <a:cubicBezTo>
                      <a:pt x="1031" y="132"/>
                      <a:pt x="1042" y="114"/>
                      <a:pt x="1048" y="108"/>
                    </a:cubicBezTo>
                    <a:cubicBezTo>
                      <a:pt x="1051" y="106"/>
                      <a:pt x="1056" y="103"/>
                      <a:pt x="1059" y="102"/>
                    </a:cubicBezTo>
                    <a:cubicBezTo>
                      <a:pt x="1060" y="102"/>
                      <a:pt x="1062" y="102"/>
                      <a:pt x="1063" y="103"/>
                    </a:cubicBezTo>
                    <a:cubicBezTo>
                      <a:pt x="1068" y="104"/>
                      <a:pt x="1072" y="102"/>
                      <a:pt x="1075" y="101"/>
                    </a:cubicBezTo>
                    <a:cubicBezTo>
                      <a:pt x="1075" y="99"/>
                      <a:pt x="1075" y="97"/>
                      <a:pt x="1074" y="95"/>
                    </a:cubicBezTo>
                    <a:cubicBezTo>
                      <a:pt x="1074" y="95"/>
                      <a:pt x="1072" y="92"/>
                      <a:pt x="1072" y="93"/>
                    </a:cubicBezTo>
                    <a:cubicBezTo>
                      <a:pt x="1069" y="93"/>
                      <a:pt x="1067" y="96"/>
                      <a:pt x="1065" y="97"/>
                    </a:cubicBezTo>
                    <a:cubicBezTo>
                      <a:pt x="1064" y="97"/>
                      <a:pt x="1062" y="97"/>
                      <a:pt x="1060" y="97"/>
                    </a:cubicBezTo>
                    <a:cubicBezTo>
                      <a:pt x="1051" y="97"/>
                      <a:pt x="1045" y="88"/>
                      <a:pt x="1047" y="79"/>
                    </a:cubicBezTo>
                    <a:cubicBezTo>
                      <a:pt x="1056" y="81"/>
                      <a:pt x="1069" y="81"/>
                      <a:pt x="1076" y="76"/>
                    </a:cubicBezTo>
                    <a:cubicBezTo>
                      <a:pt x="1078" y="64"/>
                      <a:pt x="1079" y="47"/>
                      <a:pt x="1083" y="37"/>
                    </a:cubicBezTo>
                    <a:cubicBezTo>
                      <a:pt x="1085" y="34"/>
                      <a:pt x="1081" y="25"/>
                      <a:pt x="1084" y="18"/>
                    </a:cubicBezTo>
                    <a:cubicBezTo>
                      <a:pt x="1085" y="18"/>
                      <a:pt x="1087" y="18"/>
                      <a:pt x="1089" y="18"/>
                    </a:cubicBezTo>
                    <a:cubicBezTo>
                      <a:pt x="1090" y="19"/>
                      <a:pt x="1091" y="21"/>
                      <a:pt x="1092" y="22"/>
                    </a:cubicBezTo>
                    <a:cubicBezTo>
                      <a:pt x="1092" y="24"/>
                      <a:pt x="1097" y="47"/>
                      <a:pt x="1096" y="49"/>
                    </a:cubicBezTo>
                    <a:cubicBezTo>
                      <a:pt x="1095" y="53"/>
                      <a:pt x="1090" y="67"/>
                      <a:pt x="1092" y="70"/>
                    </a:cubicBezTo>
                    <a:cubicBezTo>
                      <a:pt x="1092" y="71"/>
                      <a:pt x="1092" y="71"/>
                      <a:pt x="1093" y="71"/>
                    </a:cubicBezTo>
                    <a:cubicBezTo>
                      <a:pt x="1099" y="71"/>
                      <a:pt x="1107" y="67"/>
                      <a:pt x="1109" y="62"/>
                    </a:cubicBezTo>
                    <a:cubicBezTo>
                      <a:pt x="1110" y="58"/>
                      <a:pt x="1107" y="56"/>
                      <a:pt x="1108" y="54"/>
                    </a:cubicBezTo>
                    <a:cubicBezTo>
                      <a:pt x="1108" y="54"/>
                      <a:pt x="1109" y="54"/>
                      <a:pt x="1109" y="54"/>
                    </a:cubicBezTo>
                    <a:cubicBezTo>
                      <a:pt x="1113" y="56"/>
                      <a:pt x="1126" y="58"/>
                      <a:pt x="1132" y="59"/>
                    </a:cubicBezTo>
                    <a:cubicBezTo>
                      <a:pt x="1132" y="61"/>
                      <a:pt x="1132" y="63"/>
                      <a:pt x="1132" y="65"/>
                    </a:cubicBezTo>
                    <a:cubicBezTo>
                      <a:pt x="1131" y="65"/>
                      <a:pt x="1130" y="66"/>
                      <a:pt x="1130" y="66"/>
                    </a:cubicBezTo>
                    <a:cubicBezTo>
                      <a:pt x="1129" y="66"/>
                      <a:pt x="1129" y="65"/>
                      <a:pt x="1129" y="65"/>
                    </a:cubicBezTo>
                    <a:cubicBezTo>
                      <a:pt x="1120" y="68"/>
                      <a:pt x="1100" y="77"/>
                      <a:pt x="1098" y="84"/>
                    </a:cubicBezTo>
                    <a:cubicBezTo>
                      <a:pt x="1096" y="84"/>
                      <a:pt x="1093" y="83"/>
                      <a:pt x="1092" y="85"/>
                    </a:cubicBezTo>
                    <a:cubicBezTo>
                      <a:pt x="1085" y="89"/>
                      <a:pt x="1090" y="98"/>
                      <a:pt x="1088" y="106"/>
                    </a:cubicBezTo>
                    <a:cubicBezTo>
                      <a:pt x="1087" y="109"/>
                      <a:pt x="1086" y="112"/>
                      <a:pt x="1087" y="115"/>
                    </a:cubicBezTo>
                    <a:cubicBezTo>
                      <a:pt x="1088" y="115"/>
                      <a:pt x="1089" y="116"/>
                      <a:pt x="1090" y="116"/>
                    </a:cubicBezTo>
                    <a:cubicBezTo>
                      <a:pt x="1095" y="108"/>
                      <a:pt x="1106" y="105"/>
                      <a:pt x="1114" y="111"/>
                    </a:cubicBezTo>
                    <a:cubicBezTo>
                      <a:pt x="1122" y="117"/>
                      <a:pt x="1116" y="123"/>
                      <a:pt x="1119" y="131"/>
                    </a:cubicBezTo>
                    <a:cubicBezTo>
                      <a:pt x="1120" y="136"/>
                      <a:pt x="1126" y="139"/>
                      <a:pt x="1128" y="145"/>
                    </a:cubicBezTo>
                    <a:cubicBezTo>
                      <a:pt x="1128" y="145"/>
                      <a:pt x="1128" y="147"/>
                      <a:pt x="1129" y="146"/>
                    </a:cubicBezTo>
                    <a:cubicBezTo>
                      <a:pt x="1134" y="161"/>
                      <a:pt x="1113" y="161"/>
                      <a:pt x="1105" y="160"/>
                    </a:cubicBezTo>
                    <a:cubicBezTo>
                      <a:pt x="1104" y="158"/>
                      <a:pt x="1102" y="156"/>
                      <a:pt x="1101" y="154"/>
                    </a:cubicBezTo>
                    <a:cubicBezTo>
                      <a:pt x="1098" y="145"/>
                      <a:pt x="1098" y="133"/>
                      <a:pt x="1090" y="130"/>
                    </a:cubicBezTo>
                    <a:cubicBezTo>
                      <a:pt x="1076" y="139"/>
                      <a:pt x="1092" y="160"/>
                      <a:pt x="1085" y="177"/>
                    </a:cubicBezTo>
                    <a:cubicBezTo>
                      <a:pt x="1085" y="177"/>
                      <a:pt x="1085" y="177"/>
                      <a:pt x="1085" y="177"/>
                    </a:cubicBezTo>
                    <a:cubicBezTo>
                      <a:pt x="1083" y="175"/>
                      <a:pt x="1080" y="175"/>
                      <a:pt x="1079" y="173"/>
                    </a:cubicBezTo>
                    <a:cubicBezTo>
                      <a:pt x="1075" y="170"/>
                      <a:pt x="1072" y="163"/>
                      <a:pt x="1070" y="156"/>
                    </a:cubicBezTo>
                    <a:cubicBezTo>
                      <a:pt x="1068" y="149"/>
                      <a:pt x="1074" y="143"/>
                      <a:pt x="1072" y="139"/>
                    </a:cubicBezTo>
                    <a:cubicBezTo>
                      <a:pt x="1071" y="139"/>
                      <a:pt x="1071" y="138"/>
                      <a:pt x="1070" y="137"/>
                    </a:cubicBezTo>
                    <a:cubicBezTo>
                      <a:pt x="1065" y="137"/>
                      <a:pt x="1056" y="139"/>
                      <a:pt x="1054" y="144"/>
                    </a:cubicBezTo>
                    <a:cubicBezTo>
                      <a:pt x="1053" y="147"/>
                      <a:pt x="1054" y="149"/>
                      <a:pt x="1053" y="151"/>
                    </a:cubicBezTo>
                    <a:cubicBezTo>
                      <a:pt x="1050" y="156"/>
                      <a:pt x="1042" y="170"/>
                      <a:pt x="1038" y="172"/>
                    </a:cubicBezTo>
                    <a:cubicBezTo>
                      <a:pt x="1034" y="173"/>
                      <a:pt x="1030" y="171"/>
                      <a:pt x="1027" y="169"/>
                    </a:cubicBezTo>
                    <a:cubicBezTo>
                      <a:pt x="1028" y="163"/>
                      <a:pt x="1024" y="158"/>
                      <a:pt x="1021" y="158"/>
                    </a:cubicBezTo>
                    <a:close/>
                    <a:moveTo>
                      <a:pt x="913" y="65"/>
                    </a:moveTo>
                    <a:cubicBezTo>
                      <a:pt x="914" y="65"/>
                      <a:pt x="913" y="65"/>
                      <a:pt x="915" y="65"/>
                    </a:cubicBezTo>
                    <a:cubicBezTo>
                      <a:pt x="919" y="64"/>
                      <a:pt x="929" y="61"/>
                      <a:pt x="931" y="58"/>
                    </a:cubicBezTo>
                    <a:cubicBezTo>
                      <a:pt x="931" y="57"/>
                      <a:pt x="931" y="55"/>
                      <a:pt x="931" y="54"/>
                    </a:cubicBezTo>
                    <a:cubicBezTo>
                      <a:pt x="929" y="49"/>
                      <a:pt x="924" y="45"/>
                      <a:pt x="920" y="43"/>
                    </a:cubicBezTo>
                    <a:cubicBezTo>
                      <a:pt x="920" y="43"/>
                      <a:pt x="920" y="43"/>
                      <a:pt x="919" y="43"/>
                    </a:cubicBezTo>
                    <a:cubicBezTo>
                      <a:pt x="917" y="47"/>
                      <a:pt x="913" y="58"/>
                      <a:pt x="913" y="65"/>
                    </a:cubicBezTo>
                    <a:close/>
                    <a:moveTo>
                      <a:pt x="862" y="136"/>
                    </a:moveTo>
                    <a:cubicBezTo>
                      <a:pt x="863" y="139"/>
                      <a:pt x="864" y="143"/>
                      <a:pt x="865" y="147"/>
                    </a:cubicBezTo>
                    <a:cubicBezTo>
                      <a:pt x="870" y="155"/>
                      <a:pt x="887" y="161"/>
                      <a:pt x="898" y="154"/>
                    </a:cubicBezTo>
                    <a:cubicBezTo>
                      <a:pt x="900" y="149"/>
                      <a:pt x="886" y="129"/>
                      <a:pt x="882" y="126"/>
                    </a:cubicBezTo>
                    <a:cubicBezTo>
                      <a:pt x="886" y="126"/>
                      <a:pt x="890" y="126"/>
                      <a:pt x="894" y="126"/>
                    </a:cubicBezTo>
                    <a:cubicBezTo>
                      <a:pt x="896" y="127"/>
                      <a:pt x="913" y="133"/>
                      <a:pt x="914" y="132"/>
                    </a:cubicBezTo>
                    <a:cubicBezTo>
                      <a:pt x="918" y="129"/>
                      <a:pt x="918" y="106"/>
                      <a:pt x="916" y="105"/>
                    </a:cubicBezTo>
                    <a:cubicBezTo>
                      <a:pt x="914" y="104"/>
                      <a:pt x="913" y="104"/>
                      <a:pt x="912" y="104"/>
                    </a:cubicBezTo>
                    <a:cubicBezTo>
                      <a:pt x="910" y="107"/>
                      <a:pt x="907" y="113"/>
                      <a:pt x="904" y="116"/>
                    </a:cubicBezTo>
                    <a:cubicBezTo>
                      <a:pt x="903" y="116"/>
                      <a:pt x="902" y="116"/>
                      <a:pt x="902" y="116"/>
                    </a:cubicBezTo>
                    <a:cubicBezTo>
                      <a:pt x="900" y="112"/>
                      <a:pt x="897" y="108"/>
                      <a:pt x="895" y="103"/>
                    </a:cubicBezTo>
                    <a:cubicBezTo>
                      <a:pt x="893" y="99"/>
                      <a:pt x="896" y="91"/>
                      <a:pt x="894" y="87"/>
                    </a:cubicBezTo>
                    <a:cubicBezTo>
                      <a:pt x="881" y="85"/>
                      <a:pt x="881" y="95"/>
                      <a:pt x="876" y="101"/>
                    </a:cubicBezTo>
                    <a:cubicBezTo>
                      <a:pt x="869" y="111"/>
                      <a:pt x="862" y="119"/>
                      <a:pt x="862" y="136"/>
                    </a:cubicBezTo>
                    <a:close/>
                    <a:moveTo>
                      <a:pt x="801" y="141"/>
                    </a:moveTo>
                    <a:cubicBezTo>
                      <a:pt x="801" y="139"/>
                      <a:pt x="801" y="137"/>
                      <a:pt x="801" y="134"/>
                    </a:cubicBezTo>
                    <a:cubicBezTo>
                      <a:pt x="804" y="132"/>
                      <a:pt x="806" y="128"/>
                      <a:pt x="810" y="126"/>
                    </a:cubicBezTo>
                    <a:cubicBezTo>
                      <a:pt x="808" y="123"/>
                      <a:pt x="808" y="120"/>
                      <a:pt x="808" y="116"/>
                    </a:cubicBezTo>
                    <a:cubicBezTo>
                      <a:pt x="811" y="116"/>
                      <a:pt x="820" y="118"/>
                      <a:pt x="825" y="116"/>
                    </a:cubicBezTo>
                    <a:cubicBezTo>
                      <a:pt x="830" y="115"/>
                      <a:pt x="851" y="107"/>
                      <a:pt x="854" y="104"/>
                    </a:cubicBezTo>
                    <a:cubicBezTo>
                      <a:pt x="856" y="100"/>
                      <a:pt x="854" y="87"/>
                      <a:pt x="856" y="83"/>
                    </a:cubicBezTo>
                    <a:cubicBezTo>
                      <a:pt x="857" y="81"/>
                      <a:pt x="863" y="72"/>
                      <a:pt x="861" y="69"/>
                    </a:cubicBezTo>
                    <a:cubicBezTo>
                      <a:pt x="856" y="62"/>
                      <a:pt x="835" y="75"/>
                      <a:pt x="835" y="59"/>
                    </a:cubicBezTo>
                    <a:cubicBezTo>
                      <a:pt x="836" y="59"/>
                      <a:pt x="836" y="59"/>
                      <a:pt x="837" y="58"/>
                    </a:cubicBezTo>
                    <a:cubicBezTo>
                      <a:pt x="840" y="58"/>
                      <a:pt x="843" y="59"/>
                      <a:pt x="845" y="60"/>
                    </a:cubicBezTo>
                    <a:cubicBezTo>
                      <a:pt x="850" y="57"/>
                      <a:pt x="865" y="52"/>
                      <a:pt x="868" y="47"/>
                    </a:cubicBezTo>
                    <a:cubicBezTo>
                      <a:pt x="873" y="39"/>
                      <a:pt x="871" y="30"/>
                      <a:pt x="878" y="23"/>
                    </a:cubicBezTo>
                    <a:cubicBezTo>
                      <a:pt x="884" y="23"/>
                      <a:pt x="888" y="24"/>
                      <a:pt x="893" y="26"/>
                    </a:cubicBezTo>
                    <a:cubicBezTo>
                      <a:pt x="890" y="36"/>
                      <a:pt x="882" y="41"/>
                      <a:pt x="878" y="49"/>
                    </a:cubicBezTo>
                    <a:cubicBezTo>
                      <a:pt x="875" y="56"/>
                      <a:pt x="874" y="68"/>
                      <a:pt x="873" y="74"/>
                    </a:cubicBezTo>
                    <a:cubicBezTo>
                      <a:pt x="873" y="76"/>
                      <a:pt x="873" y="78"/>
                      <a:pt x="873" y="80"/>
                    </a:cubicBezTo>
                    <a:cubicBezTo>
                      <a:pt x="872" y="80"/>
                      <a:pt x="870" y="88"/>
                      <a:pt x="870" y="90"/>
                    </a:cubicBezTo>
                    <a:cubicBezTo>
                      <a:pt x="871" y="90"/>
                      <a:pt x="871" y="91"/>
                      <a:pt x="871" y="91"/>
                    </a:cubicBezTo>
                    <a:cubicBezTo>
                      <a:pt x="872" y="91"/>
                      <a:pt x="872" y="90"/>
                      <a:pt x="873" y="90"/>
                    </a:cubicBezTo>
                    <a:cubicBezTo>
                      <a:pt x="873" y="90"/>
                      <a:pt x="873" y="90"/>
                      <a:pt x="874" y="90"/>
                    </a:cubicBezTo>
                    <a:cubicBezTo>
                      <a:pt x="875" y="89"/>
                      <a:pt x="877" y="87"/>
                      <a:pt x="877" y="85"/>
                    </a:cubicBezTo>
                    <a:cubicBezTo>
                      <a:pt x="877" y="84"/>
                      <a:pt x="877" y="83"/>
                      <a:pt x="877" y="82"/>
                    </a:cubicBezTo>
                    <a:cubicBezTo>
                      <a:pt x="878" y="80"/>
                      <a:pt x="880" y="79"/>
                      <a:pt x="881" y="77"/>
                    </a:cubicBezTo>
                    <a:cubicBezTo>
                      <a:pt x="887" y="77"/>
                      <a:pt x="895" y="75"/>
                      <a:pt x="897" y="72"/>
                    </a:cubicBezTo>
                    <a:cubicBezTo>
                      <a:pt x="899" y="67"/>
                      <a:pt x="897" y="58"/>
                      <a:pt x="899" y="55"/>
                    </a:cubicBezTo>
                    <a:cubicBezTo>
                      <a:pt x="901" y="51"/>
                      <a:pt x="904" y="42"/>
                      <a:pt x="905" y="38"/>
                    </a:cubicBezTo>
                    <a:cubicBezTo>
                      <a:pt x="907" y="29"/>
                      <a:pt x="898" y="22"/>
                      <a:pt x="903" y="17"/>
                    </a:cubicBezTo>
                    <a:cubicBezTo>
                      <a:pt x="907" y="13"/>
                      <a:pt x="915" y="19"/>
                      <a:pt x="917" y="21"/>
                    </a:cubicBezTo>
                    <a:cubicBezTo>
                      <a:pt x="921" y="25"/>
                      <a:pt x="916" y="31"/>
                      <a:pt x="918" y="36"/>
                    </a:cubicBezTo>
                    <a:cubicBezTo>
                      <a:pt x="920" y="41"/>
                      <a:pt x="930" y="45"/>
                      <a:pt x="934" y="47"/>
                    </a:cubicBezTo>
                    <a:cubicBezTo>
                      <a:pt x="938" y="48"/>
                      <a:pt x="943" y="48"/>
                      <a:pt x="948" y="49"/>
                    </a:cubicBezTo>
                    <a:cubicBezTo>
                      <a:pt x="948" y="49"/>
                      <a:pt x="949" y="50"/>
                      <a:pt x="949" y="50"/>
                    </a:cubicBezTo>
                    <a:cubicBezTo>
                      <a:pt x="949" y="51"/>
                      <a:pt x="948" y="53"/>
                      <a:pt x="948" y="54"/>
                    </a:cubicBezTo>
                    <a:cubicBezTo>
                      <a:pt x="945" y="60"/>
                      <a:pt x="935" y="64"/>
                      <a:pt x="930" y="67"/>
                    </a:cubicBezTo>
                    <a:cubicBezTo>
                      <a:pt x="926" y="70"/>
                      <a:pt x="924" y="75"/>
                      <a:pt x="921" y="77"/>
                    </a:cubicBezTo>
                    <a:cubicBezTo>
                      <a:pt x="916" y="80"/>
                      <a:pt x="910" y="79"/>
                      <a:pt x="908" y="83"/>
                    </a:cubicBezTo>
                    <a:cubicBezTo>
                      <a:pt x="908" y="85"/>
                      <a:pt x="907" y="85"/>
                      <a:pt x="907" y="87"/>
                    </a:cubicBezTo>
                    <a:cubicBezTo>
                      <a:pt x="905" y="86"/>
                      <a:pt x="906" y="90"/>
                      <a:pt x="906" y="91"/>
                    </a:cubicBezTo>
                    <a:cubicBezTo>
                      <a:pt x="910" y="93"/>
                      <a:pt x="924" y="95"/>
                      <a:pt x="926" y="99"/>
                    </a:cubicBezTo>
                    <a:cubicBezTo>
                      <a:pt x="930" y="105"/>
                      <a:pt x="930" y="119"/>
                      <a:pt x="928" y="129"/>
                    </a:cubicBezTo>
                    <a:cubicBezTo>
                      <a:pt x="927" y="131"/>
                      <a:pt x="926" y="134"/>
                      <a:pt x="927" y="138"/>
                    </a:cubicBezTo>
                    <a:cubicBezTo>
                      <a:pt x="944" y="144"/>
                      <a:pt x="968" y="157"/>
                      <a:pt x="946" y="175"/>
                    </a:cubicBezTo>
                    <a:cubicBezTo>
                      <a:pt x="930" y="175"/>
                      <a:pt x="930" y="166"/>
                      <a:pt x="917" y="161"/>
                    </a:cubicBezTo>
                    <a:cubicBezTo>
                      <a:pt x="915" y="161"/>
                      <a:pt x="906" y="165"/>
                      <a:pt x="905" y="165"/>
                    </a:cubicBezTo>
                    <a:cubicBezTo>
                      <a:pt x="903" y="165"/>
                      <a:pt x="901" y="165"/>
                      <a:pt x="899" y="165"/>
                    </a:cubicBezTo>
                    <a:cubicBezTo>
                      <a:pt x="892" y="168"/>
                      <a:pt x="882" y="170"/>
                      <a:pt x="874" y="168"/>
                    </a:cubicBezTo>
                    <a:cubicBezTo>
                      <a:pt x="872" y="163"/>
                      <a:pt x="867" y="157"/>
                      <a:pt x="863" y="153"/>
                    </a:cubicBezTo>
                    <a:cubicBezTo>
                      <a:pt x="863" y="153"/>
                      <a:pt x="863" y="153"/>
                      <a:pt x="863" y="153"/>
                    </a:cubicBezTo>
                    <a:cubicBezTo>
                      <a:pt x="862" y="154"/>
                      <a:pt x="862" y="154"/>
                      <a:pt x="862" y="154"/>
                    </a:cubicBezTo>
                    <a:cubicBezTo>
                      <a:pt x="862" y="162"/>
                      <a:pt x="869" y="172"/>
                      <a:pt x="864" y="179"/>
                    </a:cubicBezTo>
                    <a:cubicBezTo>
                      <a:pt x="863" y="179"/>
                      <a:pt x="861" y="179"/>
                      <a:pt x="859" y="178"/>
                    </a:cubicBezTo>
                    <a:cubicBezTo>
                      <a:pt x="855" y="176"/>
                      <a:pt x="854" y="171"/>
                      <a:pt x="851" y="167"/>
                    </a:cubicBezTo>
                    <a:cubicBezTo>
                      <a:pt x="850" y="165"/>
                      <a:pt x="850" y="163"/>
                      <a:pt x="849" y="161"/>
                    </a:cubicBezTo>
                    <a:cubicBezTo>
                      <a:pt x="846" y="159"/>
                      <a:pt x="844" y="156"/>
                      <a:pt x="841" y="153"/>
                    </a:cubicBezTo>
                    <a:cubicBezTo>
                      <a:pt x="839" y="151"/>
                      <a:pt x="840" y="146"/>
                      <a:pt x="837" y="144"/>
                    </a:cubicBezTo>
                    <a:cubicBezTo>
                      <a:pt x="834" y="141"/>
                      <a:pt x="817" y="153"/>
                      <a:pt x="809" y="149"/>
                    </a:cubicBezTo>
                    <a:cubicBezTo>
                      <a:pt x="806" y="147"/>
                      <a:pt x="803" y="144"/>
                      <a:pt x="801" y="141"/>
                    </a:cubicBezTo>
                    <a:close/>
                    <a:moveTo>
                      <a:pt x="704" y="44"/>
                    </a:moveTo>
                    <a:cubicBezTo>
                      <a:pt x="705" y="43"/>
                      <a:pt x="706" y="43"/>
                      <a:pt x="707" y="42"/>
                    </a:cubicBezTo>
                    <a:cubicBezTo>
                      <a:pt x="707" y="41"/>
                      <a:pt x="707" y="41"/>
                      <a:pt x="706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40"/>
                      <a:pt x="706" y="40"/>
                      <a:pt x="705" y="40"/>
                    </a:cubicBezTo>
                    <a:cubicBezTo>
                      <a:pt x="705" y="41"/>
                      <a:pt x="705" y="43"/>
                      <a:pt x="704" y="44"/>
                    </a:cubicBezTo>
                    <a:close/>
                    <a:moveTo>
                      <a:pt x="702" y="45"/>
                    </a:moveTo>
                    <a:cubicBezTo>
                      <a:pt x="702" y="46"/>
                      <a:pt x="703" y="46"/>
                      <a:pt x="703" y="46"/>
                    </a:cubicBezTo>
                    <a:cubicBezTo>
                      <a:pt x="704" y="46"/>
                      <a:pt x="704" y="46"/>
                      <a:pt x="704" y="45"/>
                    </a:cubicBezTo>
                    <a:cubicBezTo>
                      <a:pt x="704" y="45"/>
                      <a:pt x="704" y="45"/>
                      <a:pt x="704" y="45"/>
                    </a:cubicBezTo>
                    <a:cubicBezTo>
                      <a:pt x="704" y="45"/>
                      <a:pt x="704" y="44"/>
                      <a:pt x="704" y="44"/>
                    </a:cubicBezTo>
                    <a:cubicBezTo>
                      <a:pt x="704" y="44"/>
                      <a:pt x="703" y="43"/>
                      <a:pt x="703" y="43"/>
                    </a:cubicBezTo>
                    <a:cubicBezTo>
                      <a:pt x="703" y="43"/>
                      <a:pt x="703" y="44"/>
                      <a:pt x="702" y="44"/>
                    </a:cubicBezTo>
                    <a:cubicBezTo>
                      <a:pt x="702" y="45"/>
                      <a:pt x="702" y="45"/>
                      <a:pt x="702" y="45"/>
                    </a:cubicBezTo>
                    <a:close/>
                    <a:moveTo>
                      <a:pt x="637" y="47"/>
                    </a:moveTo>
                    <a:cubicBezTo>
                      <a:pt x="637" y="41"/>
                      <a:pt x="637" y="35"/>
                      <a:pt x="639" y="30"/>
                    </a:cubicBezTo>
                    <a:cubicBezTo>
                      <a:pt x="639" y="27"/>
                      <a:pt x="639" y="25"/>
                      <a:pt x="638" y="23"/>
                    </a:cubicBezTo>
                    <a:cubicBezTo>
                      <a:pt x="640" y="23"/>
                      <a:pt x="647" y="21"/>
                      <a:pt x="647" y="21"/>
                    </a:cubicBezTo>
                    <a:cubicBezTo>
                      <a:pt x="652" y="29"/>
                      <a:pt x="651" y="39"/>
                      <a:pt x="658" y="45"/>
                    </a:cubicBezTo>
                    <a:cubicBezTo>
                      <a:pt x="658" y="48"/>
                      <a:pt x="658" y="51"/>
                      <a:pt x="658" y="55"/>
                    </a:cubicBezTo>
                    <a:cubicBezTo>
                      <a:pt x="656" y="55"/>
                      <a:pt x="654" y="58"/>
                      <a:pt x="653" y="59"/>
                    </a:cubicBezTo>
                    <a:cubicBezTo>
                      <a:pt x="643" y="59"/>
                      <a:pt x="640" y="53"/>
                      <a:pt x="637" y="47"/>
                    </a:cubicBezTo>
                    <a:close/>
                    <a:moveTo>
                      <a:pt x="621" y="118"/>
                    </a:moveTo>
                    <a:cubicBezTo>
                      <a:pt x="621" y="113"/>
                      <a:pt x="621" y="109"/>
                      <a:pt x="621" y="105"/>
                    </a:cubicBezTo>
                    <a:cubicBezTo>
                      <a:pt x="628" y="104"/>
                      <a:pt x="632" y="97"/>
                      <a:pt x="636" y="92"/>
                    </a:cubicBezTo>
                    <a:cubicBezTo>
                      <a:pt x="640" y="85"/>
                      <a:pt x="652" y="76"/>
                      <a:pt x="660" y="71"/>
                    </a:cubicBezTo>
                    <a:cubicBezTo>
                      <a:pt x="663" y="70"/>
                      <a:pt x="678" y="62"/>
                      <a:pt x="677" y="61"/>
                    </a:cubicBezTo>
                    <a:cubicBezTo>
                      <a:pt x="680" y="60"/>
                      <a:pt x="693" y="54"/>
                      <a:pt x="694" y="51"/>
                    </a:cubicBezTo>
                    <a:cubicBezTo>
                      <a:pt x="694" y="50"/>
                      <a:pt x="694" y="50"/>
                      <a:pt x="694" y="50"/>
                    </a:cubicBezTo>
                    <a:cubicBezTo>
                      <a:pt x="692" y="49"/>
                      <a:pt x="681" y="45"/>
                      <a:pt x="680" y="44"/>
                    </a:cubicBezTo>
                    <a:cubicBezTo>
                      <a:pt x="678" y="43"/>
                      <a:pt x="676" y="39"/>
                      <a:pt x="675" y="39"/>
                    </a:cubicBezTo>
                    <a:cubicBezTo>
                      <a:pt x="675" y="38"/>
                      <a:pt x="675" y="37"/>
                      <a:pt x="675" y="37"/>
                    </a:cubicBezTo>
                    <a:cubicBezTo>
                      <a:pt x="684" y="39"/>
                      <a:pt x="702" y="36"/>
                      <a:pt x="707" y="33"/>
                    </a:cubicBezTo>
                    <a:cubicBezTo>
                      <a:pt x="709" y="31"/>
                      <a:pt x="712" y="28"/>
                      <a:pt x="716" y="27"/>
                    </a:cubicBezTo>
                    <a:cubicBezTo>
                      <a:pt x="721" y="26"/>
                      <a:pt x="736" y="34"/>
                      <a:pt x="739" y="36"/>
                    </a:cubicBezTo>
                    <a:cubicBezTo>
                      <a:pt x="739" y="38"/>
                      <a:pt x="738" y="39"/>
                      <a:pt x="738" y="41"/>
                    </a:cubicBezTo>
                    <a:cubicBezTo>
                      <a:pt x="736" y="42"/>
                      <a:pt x="734" y="44"/>
                      <a:pt x="732" y="45"/>
                    </a:cubicBezTo>
                    <a:cubicBezTo>
                      <a:pt x="731" y="45"/>
                      <a:pt x="730" y="45"/>
                      <a:pt x="730" y="45"/>
                    </a:cubicBezTo>
                    <a:cubicBezTo>
                      <a:pt x="724" y="47"/>
                      <a:pt x="709" y="51"/>
                      <a:pt x="705" y="55"/>
                    </a:cubicBezTo>
                    <a:cubicBezTo>
                      <a:pt x="706" y="56"/>
                      <a:pt x="706" y="57"/>
                      <a:pt x="706" y="58"/>
                    </a:cubicBezTo>
                    <a:cubicBezTo>
                      <a:pt x="708" y="59"/>
                      <a:pt x="710" y="60"/>
                      <a:pt x="712" y="61"/>
                    </a:cubicBezTo>
                    <a:cubicBezTo>
                      <a:pt x="713" y="61"/>
                      <a:pt x="715" y="61"/>
                      <a:pt x="717" y="61"/>
                    </a:cubicBezTo>
                    <a:cubicBezTo>
                      <a:pt x="724" y="65"/>
                      <a:pt x="744" y="92"/>
                      <a:pt x="730" y="103"/>
                    </a:cubicBezTo>
                    <a:cubicBezTo>
                      <a:pt x="728" y="104"/>
                      <a:pt x="716" y="108"/>
                      <a:pt x="717" y="108"/>
                    </a:cubicBezTo>
                    <a:cubicBezTo>
                      <a:pt x="711" y="111"/>
                      <a:pt x="705" y="106"/>
                      <a:pt x="702" y="111"/>
                    </a:cubicBezTo>
                    <a:cubicBezTo>
                      <a:pt x="702" y="114"/>
                      <a:pt x="702" y="117"/>
                      <a:pt x="702" y="120"/>
                    </a:cubicBezTo>
                    <a:cubicBezTo>
                      <a:pt x="699" y="125"/>
                      <a:pt x="694" y="130"/>
                      <a:pt x="690" y="134"/>
                    </a:cubicBezTo>
                    <a:cubicBezTo>
                      <a:pt x="690" y="136"/>
                      <a:pt x="690" y="137"/>
                      <a:pt x="691" y="137"/>
                    </a:cubicBezTo>
                    <a:cubicBezTo>
                      <a:pt x="692" y="139"/>
                      <a:pt x="695" y="139"/>
                      <a:pt x="697" y="139"/>
                    </a:cubicBezTo>
                    <a:cubicBezTo>
                      <a:pt x="698" y="138"/>
                      <a:pt x="699" y="137"/>
                      <a:pt x="700" y="134"/>
                    </a:cubicBezTo>
                    <a:cubicBezTo>
                      <a:pt x="711" y="134"/>
                      <a:pt x="716" y="138"/>
                      <a:pt x="726" y="140"/>
                    </a:cubicBezTo>
                    <a:cubicBezTo>
                      <a:pt x="727" y="143"/>
                      <a:pt x="730" y="149"/>
                      <a:pt x="729" y="151"/>
                    </a:cubicBezTo>
                    <a:cubicBezTo>
                      <a:pt x="728" y="152"/>
                      <a:pt x="727" y="154"/>
                      <a:pt x="725" y="155"/>
                    </a:cubicBezTo>
                    <a:cubicBezTo>
                      <a:pt x="716" y="158"/>
                      <a:pt x="712" y="149"/>
                      <a:pt x="705" y="150"/>
                    </a:cubicBezTo>
                    <a:cubicBezTo>
                      <a:pt x="704" y="149"/>
                      <a:pt x="700" y="153"/>
                      <a:pt x="699" y="155"/>
                    </a:cubicBezTo>
                    <a:cubicBezTo>
                      <a:pt x="698" y="157"/>
                      <a:pt x="700" y="159"/>
                      <a:pt x="700" y="160"/>
                    </a:cubicBezTo>
                    <a:cubicBezTo>
                      <a:pt x="700" y="162"/>
                      <a:pt x="700" y="164"/>
                      <a:pt x="700" y="166"/>
                    </a:cubicBezTo>
                    <a:cubicBezTo>
                      <a:pt x="702" y="174"/>
                      <a:pt x="698" y="180"/>
                      <a:pt x="692" y="183"/>
                    </a:cubicBezTo>
                    <a:cubicBezTo>
                      <a:pt x="685" y="187"/>
                      <a:pt x="666" y="181"/>
                      <a:pt x="662" y="179"/>
                    </a:cubicBezTo>
                    <a:cubicBezTo>
                      <a:pt x="662" y="177"/>
                      <a:pt x="653" y="173"/>
                      <a:pt x="651" y="173"/>
                    </a:cubicBezTo>
                    <a:cubicBezTo>
                      <a:pt x="651" y="172"/>
                      <a:pt x="652" y="172"/>
                      <a:pt x="652" y="172"/>
                    </a:cubicBezTo>
                    <a:cubicBezTo>
                      <a:pt x="660" y="170"/>
                      <a:pt x="676" y="168"/>
                      <a:pt x="683" y="163"/>
                    </a:cubicBezTo>
                    <a:cubicBezTo>
                      <a:pt x="685" y="162"/>
                      <a:pt x="692" y="157"/>
                      <a:pt x="689" y="155"/>
                    </a:cubicBezTo>
                    <a:cubicBezTo>
                      <a:pt x="685" y="154"/>
                      <a:pt x="675" y="155"/>
                      <a:pt x="672" y="157"/>
                    </a:cubicBezTo>
                    <a:cubicBezTo>
                      <a:pt x="668" y="159"/>
                      <a:pt x="653" y="154"/>
                      <a:pt x="652" y="153"/>
                    </a:cubicBezTo>
                    <a:cubicBezTo>
                      <a:pt x="650" y="152"/>
                      <a:pt x="650" y="151"/>
                      <a:pt x="649" y="149"/>
                    </a:cubicBezTo>
                    <a:cubicBezTo>
                      <a:pt x="649" y="148"/>
                      <a:pt x="649" y="148"/>
                      <a:pt x="650" y="147"/>
                    </a:cubicBezTo>
                    <a:cubicBezTo>
                      <a:pt x="660" y="147"/>
                      <a:pt x="674" y="146"/>
                      <a:pt x="684" y="144"/>
                    </a:cubicBezTo>
                    <a:cubicBezTo>
                      <a:pt x="685" y="143"/>
                      <a:pt x="685" y="142"/>
                      <a:pt x="686" y="141"/>
                    </a:cubicBezTo>
                    <a:cubicBezTo>
                      <a:pt x="686" y="141"/>
                      <a:pt x="686" y="141"/>
                      <a:pt x="686" y="140"/>
                    </a:cubicBezTo>
                    <a:cubicBezTo>
                      <a:pt x="684" y="139"/>
                      <a:pt x="684" y="138"/>
                      <a:pt x="682" y="137"/>
                    </a:cubicBezTo>
                    <a:cubicBezTo>
                      <a:pt x="682" y="133"/>
                      <a:pt x="681" y="129"/>
                      <a:pt x="683" y="125"/>
                    </a:cubicBezTo>
                    <a:cubicBezTo>
                      <a:pt x="685" y="122"/>
                      <a:pt x="691" y="115"/>
                      <a:pt x="690" y="111"/>
                    </a:cubicBezTo>
                    <a:cubicBezTo>
                      <a:pt x="690" y="109"/>
                      <a:pt x="689" y="109"/>
                      <a:pt x="688" y="109"/>
                    </a:cubicBezTo>
                    <a:cubicBezTo>
                      <a:pt x="680" y="105"/>
                      <a:pt x="670" y="123"/>
                      <a:pt x="665" y="118"/>
                    </a:cubicBezTo>
                    <a:cubicBezTo>
                      <a:pt x="666" y="112"/>
                      <a:pt x="667" y="106"/>
                      <a:pt x="670" y="102"/>
                    </a:cubicBezTo>
                    <a:cubicBezTo>
                      <a:pt x="675" y="96"/>
                      <a:pt x="690" y="97"/>
                      <a:pt x="695" y="102"/>
                    </a:cubicBezTo>
                    <a:cubicBezTo>
                      <a:pt x="701" y="102"/>
                      <a:pt x="703" y="100"/>
                      <a:pt x="707" y="98"/>
                    </a:cubicBezTo>
                    <a:cubicBezTo>
                      <a:pt x="711" y="95"/>
                      <a:pt x="717" y="94"/>
                      <a:pt x="720" y="90"/>
                    </a:cubicBezTo>
                    <a:cubicBezTo>
                      <a:pt x="720" y="89"/>
                      <a:pt x="720" y="88"/>
                      <a:pt x="720" y="89"/>
                    </a:cubicBezTo>
                    <a:cubicBezTo>
                      <a:pt x="726" y="78"/>
                      <a:pt x="710" y="68"/>
                      <a:pt x="705" y="66"/>
                    </a:cubicBezTo>
                    <a:cubicBezTo>
                      <a:pt x="694" y="63"/>
                      <a:pt x="681" y="76"/>
                      <a:pt x="678" y="81"/>
                    </a:cubicBezTo>
                    <a:cubicBezTo>
                      <a:pt x="670" y="91"/>
                      <a:pt x="657" y="97"/>
                      <a:pt x="649" y="107"/>
                    </a:cubicBezTo>
                    <a:cubicBezTo>
                      <a:pt x="645" y="112"/>
                      <a:pt x="646" y="118"/>
                      <a:pt x="644" y="123"/>
                    </a:cubicBezTo>
                    <a:cubicBezTo>
                      <a:pt x="643" y="127"/>
                      <a:pt x="640" y="131"/>
                      <a:pt x="639" y="133"/>
                    </a:cubicBezTo>
                    <a:cubicBezTo>
                      <a:pt x="632" y="134"/>
                      <a:pt x="625" y="130"/>
                      <a:pt x="623" y="125"/>
                    </a:cubicBezTo>
                    <a:cubicBezTo>
                      <a:pt x="621" y="123"/>
                      <a:pt x="623" y="120"/>
                      <a:pt x="621" y="118"/>
                    </a:cubicBezTo>
                    <a:close/>
                    <a:moveTo>
                      <a:pt x="537" y="94"/>
                    </a:moveTo>
                    <a:cubicBezTo>
                      <a:pt x="538" y="94"/>
                      <a:pt x="540" y="93"/>
                      <a:pt x="540" y="92"/>
                    </a:cubicBezTo>
                    <a:cubicBezTo>
                      <a:pt x="541" y="91"/>
                      <a:pt x="540" y="90"/>
                      <a:pt x="540" y="89"/>
                    </a:cubicBezTo>
                    <a:cubicBezTo>
                      <a:pt x="539" y="90"/>
                      <a:pt x="539" y="90"/>
                      <a:pt x="539" y="90"/>
                    </a:cubicBezTo>
                    <a:cubicBezTo>
                      <a:pt x="538" y="91"/>
                      <a:pt x="538" y="93"/>
                      <a:pt x="537" y="94"/>
                    </a:cubicBezTo>
                    <a:close/>
                    <a:moveTo>
                      <a:pt x="503" y="79"/>
                    </a:moveTo>
                    <a:cubicBezTo>
                      <a:pt x="504" y="80"/>
                      <a:pt x="505" y="81"/>
                      <a:pt x="507" y="79"/>
                    </a:cubicBezTo>
                    <a:cubicBezTo>
                      <a:pt x="507" y="77"/>
                      <a:pt x="508" y="77"/>
                      <a:pt x="508" y="75"/>
                    </a:cubicBezTo>
                    <a:cubicBezTo>
                      <a:pt x="508" y="75"/>
                      <a:pt x="507" y="75"/>
                      <a:pt x="507" y="74"/>
                    </a:cubicBezTo>
                    <a:cubicBezTo>
                      <a:pt x="506" y="75"/>
                      <a:pt x="505" y="75"/>
                      <a:pt x="504" y="75"/>
                    </a:cubicBezTo>
                    <a:cubicBezTo>
                      <a:pt x="504" y="77"/>
                      <a:pt x="504" y="77"/>
                      <a:pt x="503" y="79"/>
                    </a:cubicBezTo>
                    <a:close/>
                    <a:moveTo>
                      <a:pt x="491" y="115"/>
                    </a:moveTo>
                    <a:cubicBezTo>
                      <a:pt x="496" y="117"/>
                      <a:pt x="504" y="111"/>
                      <a:pt x="507" y="108"/>
                    </a:cubicBezTo>
                    <a:cubicBezTo>
                      <a:pt x="506" y="107"/>
                      <a:pt x="506" y="105"/>
                      <a:pt x="506" y="104"/>
                    </a:cubicBezTo>
                    <a:cubicBezTo>
                      <a:pt x="505" y="104"/>
                      <a:pt x="505" y="103"/>
                      <a:pt x="504" y="103"/>
                    </a:cubicBezTo>
                    <a:cubicBezTo>
                      <a:pt x="501" y="105"/>
                      <a:pt x="494" y="109"/>
                      <a:pt x="491" y="113"/>
                    </a:cubicBezTo>
                    <a:cubicBezTo>
                      <a:pt x="491" y="113"/>
                      <a:pt x="491" y="114"/>
                      <a:pt x="491" y="115"/>
                    </a:cubicBezTo>
                    <a:close/>
                    <a:moveTo>
                      <a:pt x="460" y="78"/>
                    </a:moveTo>
                    <a:cubicBezTo>
                      <a:pt x="461" y="79"/>
                      <a:pt x="462" y="79"/>
                      <a:pt x="463" y="79"/>
                    </a:cubicBezTo>
                    <a:cubicBezTo>
                      <a:pt x="466" y="77"/>
                      <a:pt x="468" y="75"/>
                      <a:pt x="470" y="73"/>
                    </a:cubicBezTo>
                    <a:cubicBezTo>
                      <a:pt x="470" y="71"/>
                      <a:pt x="470" y="71"/>
                      <a:pt x="470" y="69"/>
                    </a:cubicBezTo>
                    <a:cubicBezTo>
                      <a:pt x="468" y="69"/>
                      <a:pt x="467" y="70"/>
                      <a:pt x="466" y="70"/>
                    </a:cubicBezTo>
                    <a:cubicBezTo>
                      <a:pt x="464" y="71"/>
                      <a:pt x="461" y="74"/>
                      <a:pt x="460" y="78"/>
                    </a:cubicBezTo>
                    <a:close/>
                    <a:moveTo>
                      <a:pt x="453" y="106"/>
                    </a:moveTo>
                    <a:cubicBezTo>
                      <a:pt x="454" y="106"/>
                      <a:pt x="454" y="106"/>
                      <a:pt x="455" y="106"/>
                    </a:cubicBezTo>
                    <a:cubicBezTo>
                      <a:pt x="457" y="103"/>
                      <a:pt x="473" y="90"/>
                      <a:pt x="469" y="87"/>
                    </a:cubicBezTo>
                    <a:cubicBezTo>
                      <a:pt x="458" y="82"/>
                      <a:pt x="453" y="96"/>
                      <a:pt x="453" y="106"/>
                    </a:cubicBezTo>
                    <a:close/>
                    <a:moveTo>
                      <a:pt x="438" y="93"/>
                    </a:moveTo>
                    <a:cubicBezTo>
                      <a:pt x="439" y="93"/>
                      <a:pt x="440" y="94"/>
                      <a:pt x="440" y="95"/>
                    </a:cubicBezTo>
                    <a:cubicBezTo>
                      <a:pt x="442" y="95"/>
                      <a:pt x="443" y="95"/>
                      <a:pt x="444" y="95"/>
                    </a:cubicBezTo>
                    <a:cubicBezTo>
                      <a:pt x="445" y="94"/>
                      <a:pt x="446" y="93"/>
                      <a:pt x="446" y="92"/>
                    </a:cubicBezTo>
                    <a:cubicBezTo>
                      <a:pt x="445" y="91"/>
                      <a:pt x="444" y="91"/>
                      <a:pt x="444" y="90"/>
                    </a:cubicBezTo>
                    <a:cubicBezTo>
                      <a:pt x="444" y="91"/>
                      <a:pt x="439" y="91"/>
                      <a:pt x="438" y="92"/>
                    </a:cubicBezTo>
                    <a:cubicBezTo>
                      <a:pt x="438" y="92"/>
                      <a:pt x="438" y="92"/>
                      <a:pt x="438" y="93"/>
                    </a:cubicBezTo>
                    <a:close/>
                    <a:moveTo>
                      <a:pt x="425" y="130"/>
                    </a:moveTo>
                    <a:cubicBezTo>
                      <a:pt x="429" y="129"/>
                      <a:pt x="448" y="117"/>
                      <a:pt x="439" y="112"/>
                    </a:cubicBezTo>
                    <a:cubicBezTo>
                      <a:pt x="438" y="112"/>
                      <a:pt x="438" y="112"/>
                      <a:pt x="437" y="112"/>
                    </a:cubicBezTo>
                    <a:cubicBezTo>
                      <a:pt x="435" y="119"/>
                      <a:pt x="428" y="123"/>
                      <a:pt x="425" y="130"/>
                    </a:cubicBezTo>
                    <a:close/>
                    <a:moveTo>
                      <a:pt x="398" y="150"/>
                    </a:moveTo>
                    <a:cubicBezTo>
                      <a:pt x="398" y="144"/>
                      <a:pt x="399" y="138"/>
                      <a:pt x="399" y="133"/>
                    </a:cubicBezTo>
                    <a:cubicBezTo>
                      <a:pt x="403" y="131"/>
                      <a:pt x="426" y="102"/>
                      <a:pt x="429" y="97"/>
                    </a:cubicBezTo>
                    <a:cubicBezTo>
                      <a:pt x="428" y="96"/>
                      <a:pt x="428" y="96"/>
                      <a:pt x="426" y="96"/>
                    </a:cubicBezTo>
                    <a:cubicBezTo>
                      <a:pt x="424" y="97"/>
                      <a:pt x="405" y="104"/>
                      <a:pt x="401" y="101"/>
                    </a:cubicBezTo>
                    <a:cubicBezTo>
                      <a:pt x="400" y="100"/>
                      <a:pt x="400" y="100"/>
                      <a:pt x="400" y="100"/>
                    </a:cubicBezTo>
                    <a:cubicBezTo>
                      <a:pt x="400" y="86"/>
                      <a:pt x="411" y="79"/>
                      <a:pt x="418" y="74"/>
                    </a:cubicBezTo>
                    <a:cubicBezTo>
                      <a:pt x="424" y="70"/>
                      <a:pt x="428" y="65"/>
                      <a:pt x="432" y="60"/>
                    </a:cubicBezTo>
                    <a:cubicBezTo>
                      <a:pt x="437" y="54"/>
                      <a:pt x="450" y="45"/>
                      <a:pt x="453" y="38"/>
                    </a:cubicBezTo>
                    <a:cubicBezTo>
                      <a:pt x="454" y="34"/>
                      <a:pt x="454" y="29"/>
                      <a:pt x="454" y="25"/>
                    </a:cubicBezTo>
                    <a:cubicBezTo>
                      <a:pt x="462" y="22"/>
                      <a:pt x="468" y="24"/>
                      <a:pt x="473" y="28"/>
                    </a:cubicBezTo>
                    <a:cubicBezTo>
                      <a:pt x="468" y="46"/>
                      <a:pt x="437" y="68"/>
                      <a:pt x="423" y="81"/>
                    </a:cubicBezTo>
                    <a:cubicBezTo>
                      <a:pt x="420" y="84"/>
                      <a:pt x="416" y="86"/>
                      <a:pt x="413" y="89"/>
                    </a:cubicBezTo>
                    <a:cubicBezTo>
                      <a:pt x="413" y="90"/>
                      <a:pt x="413" y="90"/>
                      <a:pt x="414" y="90"/>
                    </a:cubicBezTo>
                    <a:cubicBezTo>
                      <a:pt x="419" y="90"/>
                      <a:pt x="426" y="88"/>
                      <a:pt x="430" y="86"/>
                    </a:cubicBezTo>
                    <a:cubicBezTo>
                      <a:pt x="436" y="85"/>
                      <a:pt x="441" y="85"/>
                      <a:pt x="447" y="84"/>
                    </a:cubicBezTo>
                    <a:cubicBezTo>
                      <a:pt x="451" y="81"/>
                      <a:pt x="451" y="77"/>
                      <a:pt x="453" y="73"/>
                    </a:cubicBezTo>
                    <a:cubicBezTo>
                      <a:pt x="457" y="67"/>
                      <a:pt x="460" y="60"/>
                      <a:pt x="466" y="55"/>
                    </a:cubicBezTo>
                    <a:cubicBezTo>
                      <a:pt x="469" y="55"/>
                      <a:pt x="472" y="55"/>
                      <a:pt x="474" y="55"/>
                    </a:cubicBezTo>
                    <a:cubicBezTo>
                      <a:pt x="475" y="57"/>
                      <a:pt x="477" y="58"/>
                      <a:pt x="478" y="59"/>
                    </a:cubicBezTo>
                    <a:cubicBezTo>
                      <a:pt x="481" y="63"/>
                      <a:pt x="483" y="67"/>
                      <a:pt x="485" y="71"/>
                    </a:cubicBezTo>
                    <a:cubicBezTo>
                      <a:pt x="488" y="69"/>
                      <a:pt x="495" y="62"/>
                      <a:pt x="492" y="57"/>
                    </a:cubicBezTo>
                    <a:cubicBezTo>
                      <a:pt x="491" y="54"/>
                      <a:pt x="488" y="53"/>
                      <a:pt x="490" y="49"/>
                    </a:cubicBezTo>
                    <a:cubicBezTo>
                      <a:pt x="490" y="46"/>
                      <a:pt x="498" y="42"/>
                      <a:pt x="502" y="43"/>
                    </a:cubicBezTo>
                    <a:cubicBezTo>
                      <a:pt x="502" y="47"/>
                      <a:pt x="506" y="51"/>
                      <a:pt x="508" y="53"/>
                    </a:cubicBezTo>
                    <a:cubicBezTo>
                      <a:pt x="515" y="55"/>
                      <a:pt x="513" y="47"/>
                      <a:pt x="514" y="43"/>
                    </a:cubicBezTo>
                    <a:cubicBezTo>
                      <a:pt x="517" y="34"/>
                      <a:pt x="512" y="13"/>
                      <a:pt x="524" y="13"/>
                    </a:cubicBezTo>
                    <a:cubicBezTo>
                      <a:pt x="525" y="15"/>
                      <a:pt x="530" y="19"/>
                      <a:pt x="532" y="21"/>
                    </a:cubicBezTo>
                    <a:cubicBezTo>
                      <a:pt x="532" y="21"/>
                      <a:pt x="532" y="21"/>
                      <a:pt x="533" y="21"/>
                    </a:cubicBezTo>
                    <a:cubicBezTo>
                      <a:pt x="535" y="25"/>
                      <a:pt x="536" y="27"/>
                      <a:pt x="539" y="30"/>
                    </a:cubicBezTo>
                    <a:cubicBezTo>
                      <a:pt x="541" y="34"/>
                      <a:pt x="544" y="42"/>
                      <a:pt x="545" y="47"/>
                    </a:cubicBezTo>
                    <a:cubicBezTo>
                      <a:pt x="546" y="51"/>
                      <a:pt x="542" y="54"/>
                      <a:pt x="543" y="59"/>
                    </a:cubicBezTo>
                    <a:cubicBezTo>
                      <a:pt x="546" y="65"/>
                      <a:pt x="553" y="69"/>
                      <a:pt x="556" y="75"/>
                    </a:cubicBezTo>
                    <a:cubicBezTo>
                      <a:pt x="558" y="79"/>
                      <a:pt x="558" y="83"/>
                      <a:pt x="560" y="85"/>
                    </a:cubicBezTo>
                    <a:cubicBezTo>
                      <a:pt x="564" y="89"/>
                      <a:pt x="570" y="91"/>
                      <a:pt x="574" y="95"/>
                    </a:cubicBezTo>
                    <a:cubicBezTo>
                      <a:pt x="574" y="97"/>
                      <a:pt x="574" y="98"/>
                      <a:pt x="574" y="99"/>
                    </a:cubicBezTo>
                    <a:cubicBezTo>
                      <a:pt x="572" y="100"/>
                      <a:pt x="570" y="102"/>
                      <a:pt x="568" y="103"/>
                    </a:cubicBezTo>
                    <a:cubicBezTo>
                      <a:pt x="565" y="105"/>
                      <a:pt x="561" y="104"/>
                      <a:pt x="559" y="105"/>
                    </a:cubicBezTo>
                    <a:cubicBezTo>
                      <a:pt x="552" y="106"/>
                      <a:pt x="543" y="109"/>
                      <a:pt x="539" y="114"/>
                    </a:cubicBezTo>
                    <a:cubicBezTo>
                      <a:pt x="536" y="117"/>
                      <a:pt x="536" y="135"/>
                      <a:pt x="535" y="141"/>
                    </a:cubicBezTo>
                    <a:cubicBezTo>
                      <a:pt x="535" y="143"/>
                      <a:pt x="534" y="145"/>
                      <a:pt x="534" y="148"/>
                    </a:cubicBezTo>
                    <a:cubicBezTo>
                      <a:pt x="532" y="152"/>
                      <a:pt x="531" y="158"/>
                      <a:pt x="530" y="163"/>
                    </a:cubicBezTo>
                    <a:cubicBezTo>
                      <a:pt x="530" y="164"/>
                      <a:pt x="530" y="165"/>
                      <a:pt x="530" y="166"/>
                    </a:cubicBezTo>
                    <a:cubicBezTo>
                      <a:pt x="526" y="174"/>
                      <a:pt x="524" y="181"/>
                      <a:pt x="520" y="187"/>
                    </a:cubicBezTo>
                    <a:cubicBezTo>
                      <a:pt x="520" y="190"/>
                      <a:pt x="520" y="193"/>
                      <a:pt x="520" y="195"/>
                    </a:cubicBezTo>
                    <a:cubicBezTo>
                      <a:pt x="519" y="195"/>
                      <a:pt x="519" y="195"/>
                      <a:pt x="519" y="195"/>
                    </a:cubicBezTo>
                    <a:cubicBezTo>
                      <a:pt x="518" y="193"/>
                      <a:pt x="515" y="191"/>
                      <a:pt x="514" y="189"/>
                    </a:cubicBezTo>
                    <a:cubicBezTo>
                      <a:pt x="511" y="185"/>
                      <a:pt x="511" y="181"/>
                      <a:pt x="509" y="177"/>
                    </a:cubicBezTo>
                    <a:cubicBezTo>
                      <a:pt x="509" y="175"/>
                      <a:pt x="509" y="173"/>
                      <a:pt x="509" y="171"/>
                    </a:cubicBezTo>
                    <a:cubicBezTo>
                      <a:pt x="507" y="163"/>
                      <a:pt x="509" y="147"/>
                      <a:pt x="508" y="135"/>
                    </a:cubicBezTo>
                    <a:cubicBezTo>
                      <a:pt x="507" y="135"/>
                      <a:pt x="506" y="135"/>
                      <a:pt x="507" y="134"/>
                    </a:cubicBezTo>
                    <a:cubicBezTo>
                      <a:pt x="497" y="136"/>
                      <a:pt x="489" y="139"/>
                      <a:pt x="481" y="142"/>
                    </a:cubicBezTo>
                    <a:cubicBezTo>
                      <a:pt x="476" y="142"/>
                      <a:pt x="472" y="143"/>
                      <a:pt x="467" y="143"/>
                    </a:cubicBezTo>
                    <a:cubicBezTo>
                      <a:pt x="462" y="138"/>
                      <a:pt x="463" y="125"/>
                      <a:pt x="465" y="119"/>
                    </a:cubicBezTo>
                    <a:cubicBezTo>
                      <a:pt x="470" y="117"/>
                      <a:pt x="476" y="112"/>
                      <a:pt x="478" y="108"/>
                    </a:cubicBezTo>
                    <a:cubicBezTo>
                      <a:pt x="478" y="107"/>
                      <a:pt x="478" y="105"/>
                      <a:pt x="478" y="104"/>
                    </a:cubicBezTo>
                    <a:cubicBezTo>
                      <a:pt x="484" y="97"/>
                      <a:pt x="492" y="90"/>
                      <a:pt x="488" y="77"/>
                    </a:cubicBezTo>
                    <a:cubicBezTo>
                      <a:pt x="488" y="77"/>
                      <a:pt x="488" y="77"/>
                      <a:pt x="487" y="77"/>
                    </a:cubicBezTo>
                    <a:cubicBezTo>
                      <a:pt x="473" y="87"/>
                      <a:pt x="476" y="96"/>
                      <a:pt x="467" y="109"/>
                    </a:cubicBezTo>
                    <a:cubicBezTo>
                      <a:pt x="461" y="117"/>
                      <a:pt x="456" y="117"/>
                      <a:pt x="452" y="129"/>
                    </a:cubicBezTo>
                    <a:cubicBezTo>
                      <a:pt x="448" y="140"/>
                      <a:pt x="457" y="156"/>
                      <a:pt x="457" y="165"/>
                    </a:cubicBezTo>
                    <a:cubicBezTo>
                      <a:pt x="455" y="165"/>
                      <a:pt x="455" y="167"/>
                      <a:pt x="454" y="167"/>
                    </a:cubicBezTo>
                    <a:cubicBezTo>
                      <a:pt x="452" y="167"/>
                      <a:pt x="452" y="167"/>
                      <a:pt x="450" y="167"/>
                    </a:cubicBezTo>
                    <a:cubicBezTo>
                      <a:pt x="447" y="163"/>
                      <a:pt x="444" y="159"/>
                      <a:pt x="442" y="153"/>
                    </a:cubicBezTo>
                    <a:cubicBezTo>
                      <a:pt x="440" y="149"/>
                      <a:pt x="441" y="145"/>
                      <a:pt x="439" y="141"/>
                    </a:cubicBezTo>
                    <a:cubicBezTo>
                      <a:pt x="438" y="141"/>
                      <a:pt x="438" y="141"/>
                      <a:pt x="437" y="141"/>
                    </a:cubicBezTo>
                    <a:cubicBezTo>
                      <a:pt x="431" y="151"/>
                      <a:pt x="418" y="157"/>
                      <a:pt x="402" y="157"/>
                    </a:cubicBezTo>
                    <a:cubicBezTo>
                      <a:pt x="402" y="156"/>
                      <a:pt x="400" y="155"/>
                      <a:pt x="400" y="155"/>
                    </a:cubicBezTo>
                    <a:cubicBezTo>
                      <a:pt x="398" y="153"/>
                      <a:pt x="398" y="151"/>
                      <a:pt x="398" y="150"/>
                    </a:cubicBezTo>
                    <a:close/>
                    <a:moveTo>
                      <a:pt x="278" y="104"/>
                    </a:moveTo>
                    <a:cubicBezTo>
                      <a:pt x="279" y="106"/>
                      <a:pt x="280" y="109"/>
                      <a:pt x="281" y="111"/>
                    </a:cubicBezTo>
                    <a:cubicBezTo>
                      <a:pt x="282" y="111"/>
                      <a:pt x="282" y="111"/>
                      <a:pt x="282" y="111"/>
                    </a:cubicBezTo>
                    <a:cubicBezTo>
                      <a:pt x="283" y="108"/>
                      <a:pt x="286" y="101"/>
                      <a:pt x="283" y="99"/>
                    </a:cubicBezTo>
                    <a:cubicBezTo>
                      <a:pt x="283" y="99"/>
                      <a:pt x="282" y="99"/>
                      <a:pt x="282" y="98"/>
                    </a:cubicBezTo>
                    <a:cubicBezTo>
                      <a:pt x="281" y="98"/>
                      <a:pt x="280" y="98"/>
                      <a:pt x="279" y="99"/>
                    </a:cubicBezTo>
                    <a:cubicBezTo>
                      <a:pt x="279" y="102"/>
                      <a:pt x="278" y="101"/>
                      <a:pt x="278" y="104"/>
                    </a:cubicBezTo>
                    <a:close/>
                    <a:moveTo>
                      <a:pt x="257" y="97"/>
                    </a:moveTo>
                    <a:cubicBezTo>
                      <a:pt x="257" y="97"/>
                      <a:pt x="257" y="98"/>
                      <a:pt x="257" y="99"/>
                    </a:cubicBezTo>
                    <a:cubicBezTo>
                      <a:pt x="258" y="99"/>
                      <a:pt x="258" y="99"/>
                      <a:pt x="258" y="99"/>
                    </a:cubicBezTo>
                    <a:cubicBezTo>
                      <a:pt x="258" y="99"/>
                      <a:pt x="259" y="99"/>
                      <a:pt x="259" y="99"/>
                    </a:cubicBezTo>
                    <a:cubicBezTo>
                      <a:pt x="260" y="98"/>
                      <a:pt x="260" y="97"/>
                      <a:pt x="261" y="97"/>
                    </a:cubicBezTo>
                    <a:cubicBezTo>
                      <a:pt x="261" y="95"/>
                      <a:pt x="261" y="95"/>
                      <a:pt x="260" y="93"/>
                    </a:cubicBezTo>
                    <a:cubicBezTo>
                      <a:pt x="260" y="93"/>
                      <a:pt x="260" y="93"/>
                      <a:pt x="260" y="93"/>
                    </a:cubicBezTo>
                    <a:cubicBezTo>
                      <a:pt x="259" y="93"/>
                      <a:pt x="259" y="93"/>
                      <a:pt x="259" y="93"/>
                    </a:cubicBezTo>
                    <a:cubicBezTo>
                      <a:pt x="258" y="94"/>
                      <a:pt x="258" y="95"/>
                      <a:pt x="257" y="97"/>
                    </a:cubicBezTo>
                    <a:close/>
                    <a:moveTo>
                      <a:pt x="236" y="104"/>
                    </a:moveTo>
                    <a:cubicBezTo>
                      <a:pt x="236" y="105"/>
                      <a:pt x="237" y="105"/>
                      <a:pt x="238" y="105"/>
                    </a:cubicBezTo>
                    <a:cubicBezTo>
                      <a:pt x="241" y="104"/>
                      <a:pt x="242" y="102"/>
                      <a:pt x="245" y="100"/>
                    </a:cubicBezTo>
                    <a:cubicBezTo>
                      <a:pt x="245" y="99"/>
                      <a:pt x="245" y="98"/>
                      <a:pt x="245" y="97"/>
                    </a:cubicBezTo>
                    <a:cubicBezTo>
                      <a:pt x="244" y="97"/>
                      <a:pt x="244" y="97"/>
                      <a:pt x="244" y="97"/>
                    </a:cubicBezTo>
                    <a:cubicBezTo>
                      <a:pt x="244" y="97"/>
                      <a:pt x="243" y="97"/>
                      <a:pt x="242" y="97"/>
                    </a:cubicBezTo>
                    <a:cubicBezTo>
                      <a:pt x="240" y="99"/>
                      <a:pt x="238" y="101"/>
                      <a:pt x="236" y="104"/>
                    </a:cubicBezTo>
                    <a:close/>
                    <a:moveTo>
                      <a:pt x="216" y="151"/>
                    </a:moveTo>
                    <a:cubicBezTo>
                      <a:pt x="217" y="152"/>
                      <a:pt x="225" y="157"/>
                      <a:pt x="226" y="158"/>
                    </a:cubicBezTo>
                    <a:cubicBezTo>
                      <a:pt x="230" y="159"/>
                      <a:pt x="253" y="155"/>
                      <a:pt x="254" y="154"/>
                    </a:cubicBezTo>
                    <a:cubicBezTo>
                      <a:pt x="254" y="153"/>
                      <a:pt x="253" y="151"/>
                      <a:pt x="252" y="149"/>
                    </a:cubicBezTo>
                    <a:cubicBezTo>
                      <a:pt x="253" y="149"/>
                      <a:pt x="253" y="149"/>
                      <a:pt x="253" y="149"/>
                    </a:cubicBezTo>
                    <a:cubicBezTo>
                      <a:pt x="259" y="147"/>
                      <a:pt x="266" y="162"/>
                      <a:pt x="274" y="147"/>
                    </a:cubicBezTo>
                    <a:cubicBezTo>
                      <a:pt x="280" y="149"/>
                      <a:pt x="289" y="157"/>
                      <a:pt x="296" y="153"/>
                    </a:cubicBezTo>
                    <a:cubicBezTo>
                      <a:pt x="309" y="147"/>
                      <a:pt x="312" y="126"/>
                      <a:pt x="312" y="104"/>
                    </a:cubicBezTo>
                    <a:cubicBezTo>
                      <a:pt x="312" y="97"/>
                      <a:pt x="313" y="86"/>
                      <a:pt x="310" y="81"/>
                    </a:cubicBezTo>
                    <a:cubicBezTo>
                      <a:pt x="310" y="78"/>
                      <a:pt x="310" y="75"/>
                      <a:pt x="310" y="73"/>
                    </a:cubicBezTo>
                    <a:cubicBezTo>
                      <a:pt x="310" y="67"/>
                      <a:pt x="310" y="56"/>
                      <a:pt x="308" y="51"/>
                    </a:cubicBezTo>
                    <a:cubicBezTo>
                      <a:pt x="308" y="49"/>
                      <a:pt x="307" y="45"/>
                      <a:pt x="307" y="43"/>
                    </a:cubicBezTo>
                    <a:cubicBezTo>
                      <a:pt x="305" y="35"/>
                      <a:pt x="304" y="27"/>
                      <a:pt x="301" y="21"/>
                    </a:cubicBezTo>
                    <a:cubicBezTo>
                      <a:pt x="270" y="17"/>
                      <a:pt x="248" y="27"/>
                      <a:pt x="235" y="46"/>
                    </a:cubicBezTo>
                    <a:cubicBezTo>
                      <a:pt x="232" y="50"/>
                      <a:pt x="222" y="63"/>
                      <a:pt x="225" y="70"/>
                    </a:cubicBezTo>
                    <a:cubicBezTo>
                      <a:pt x="233" y="70"/>
                      <a:pt x="243" y="58"/>
                      <a:pt x="249" y="54"/>
                    </a:cubicBezTo>
                    <a:cubicBezTo>
                      <a:pt x="250" y="54"/>
                      <a:pt x="254" y="53"/>
                      <a:pt x="254" y="53"/>
                    </a:cubicBezTo>
                    <a:cubicBezTo>
                      <a:pt x="280" y="51"/>
                      <a:pt x="264" y="71"/>
                      <a:pt x="264" y="83"/>
                    </a:cubicBezTo>
                    <a:cubicBezTo>
                      <a:pt x="268" y="85"/>
                      <a:pt x="278" y="95"/>
                      <a:pt x="284" y="92"/>
                    </a:cubicBezTo>
                    <a:cubicBezTo>
                      <a:pt x="284" y="91"/>
                      <a:pt x="285" y="90"/>
                      <a:pt x="286" y="90"/>
                    </a:cubicBezTo>
                    <a:cubicBezTo>
                      <a:pt x="293" y="90"/>
                      <a:pt x="311" y="103"/>
                      <a:pt x="302" y="112"/>
                    </a:cubicBezTo>
                    <a:cubicBezTo>
                      <a:pt x="299" y="115"/>
                      <a:pt x="294" y="117"/>
                      <a:pt x="290" y="120"/>
                    </a:cubicBezTo>
                    <a:cubicBezTo>
                      <a:pt x="285" y="123"/>
                      <a:pt x="280" y="129"/>
                      <a:pt x="274" y="133"/>
                    </a:cubicBezTo>
                    <a:cubicBezTo>
                      <a:pt x="274" y="133"/>
                      <a:pt x="272" y="133"/>
                      <a:pt x="273" y="134"/>
                    </a:cubicBezTo>
                    <a:cubicBezTo>
                      <a:pt x="268" y="137"/>
                      <a:pt x="260" y="139"/>
                      <a:pt x="254" y="143"/>
                    </a:cubicBezTo>
                    <a:cubicBezTo>
                      <a:pt x="251" y="145"/>
                      <a:pt x="243" y="143"/>
                      <a:pt x="240" y="143"/>
                    </a:cubicBezTo>
                    <a:cubicBezTo>
                      <a:pt x="238" y="140"/>
                      <a:pt x="232" y="133"/>
                      <a:pt x="236" y="127"/>
                    </a:cubicBezTo>
                    <a:cubicBezTo>
                      <a:pt x="237" y="124"/>
                      <a:pt x="242" y="120"/>
                      <a:pt x="244" y="119"/>
                    </a:cubicBezTo>
                    <a:cubicBezTo>
                      <a:pt x="244" y="116"/>
                      <a:pt x="243" y="116"/>
                      <a:pt x="241" y="116"/>
                    </a:cubicBezTo>
                    <a:cubicBezTo>
                      <a:pt x="238" y="121"/>
                      <a:pt x="227" y="110"/>
                      <a:pt x="226" y="108"/>
                    </a:cubicBezTo>
                    <a:cubicBezTo>
                      <a:pt x="226" y="105"/>
                      <a:pt x="226" y="102"/>
                      <a:pt x="226" y="99"/>
                    </a:cubicBezTo>
                    <a:cubicBezTo>
                      <a:pt x="229" y="98"/>
                      <a:pt x="231" y="95"/>
                      <a:pt x="234" y="93"/>
                    </a:cubicBezTo>
                    <a:cubicBezTo>
                      <a:pt x="242" y="89"/>
                      <a:pt x="256" y="87"/>
                      <a:pt x="252" y="74"/>
                    </a:cubicBezTo>
                    <a:cubicBezTo>
                      <a:pt x="252" y="74"/>
                      <a:pt x="251" y="74"/>
                      <a:pt x="250" y="74"/>
                    </a:cubicBezTo>
                    <a:cubicBezTo>
                      <a:pt x="246" y="78"/>
                      <a:pt x="227" y="77"/>
                      <a:pt x="223" y="83"/>
                    </a:cubicBezTo>
                    <a:cubicBezTo>
                      <a:pt x="220" y="86"/>
                      <a:pt x="223" y="93"/>
                      <a:pt x="221" y="97"/>
                    </a:cubicBezTo>
                    <a:cubicBezTo>
                      <a:pt x="219" y="97"/>
                      <a:pt x="220" y="103"/>
                      <a:pt x="218" y="105"/>
                    </a:cubicBezTo>
                    <a:cubicBezTo>
                      <a:pt x="214" y="114"/>
                      <a:pt x="219" y="132"/>
                      <a:pt x="217" y="141"/>
                    </a:cubicBezTo>
                    <a:cubicBezTo>
                      <a:pt x="217" y="144"/>
                      <a:pt x="216" y="149"/>
                      <a:pt x="216" y="151"/>
                    </a:cubicBezTo>
                    <a:close/>
                    <a:moveTo>
                      <a:pt x="197" y="154"/>
                    </a:moveTo>
                    <a:cubicBezTo>
                      <a:pt x="197" y="141"/>
                      <a:pt x="202" y="127"/>
                      <a:pt x="205" y="115"/>
                    </a:cubicBezTo>
                    <a:cubicBezTo>
                      <a:pt x="205" y="113"/>
                      <a:pt x="205" y="110"/>
                      <a:pt x="205" y="107"/>
                    </a:cubicBezTo>
                    <a:cubicBezTo>
                      <a:pt x="205" y="93"/>
                      <a:pt x="199" y="79"/>
                      <a:pt x="201" y="66"/>
                    </a:cubicBezTo>
                    <a:cubicBezTo>
                      <a:pt x="205" y="39"/>
                      <a:pt x="229" y="25"/>
                      <a:pt x="252" y="17"/>
                    </a:cubicBezTo>
                    <a:cubicBezTo>
                      <a:pt x="261" y="15"/>
                      <a:pt x="289" y="6"/>
                      <a:pt x="300" y="13"/>
                    </a:cubicBezTo>
                    <a:cubicBezTo>
                      <a:pt x="302" y="13"/>
                      <a:pt x="306" y="13"/>
                      <a:pt x="308" y="15"/>
                    </a:cubicBezTo>
                    <a:cubicBezTo>
                      <a:pt x="330" y="29"/>
                      <a:pt x="324" y="79"/>
                      <a:pt x="325" y="113"/>
                    </a:cubicBezTo>
                    <a:cubicBezTo>
                      <a:pt x="325" y="129"/>
                      <a:pt x="328" y="154"/>
                      <a:pt x="320" y="163"/>
                    </a:cubicBezTo>
                    <a:cubicBezTo>
                      <a:pt x="318" y="166"/>
                      <a:pt x="294" y="183"/>
                      <a:pt x="287" y="179"/>
                    </a:cubicBezTo>
                    <a:cubicBezTo>
                      <a:pt x="280" y="175"/>
                      <a:pt x="274" y="165"/>
                      <a:pt x="264" y="164"/>
                    </a:cubicBezTo>
                    <a:cubicBezTo>
                      <a:pt x="261" y="163"/>
                      <a:pt x="257" y="167"/>
                      <a:pt x="254" y="168"/>
                    </a:cubicBezTo>
                    <a:cubicBezTo>
                      <a:pt x="252" y="169"/>
                      <a:pt x="230" y="173"/>
                      <a:pt x="226" y="171"/>
                    </a:cubicBezTo>
                    <a:cubicBezTo>
                      <a:pt x="221" y="170"/>
                      <a:pt x="220" y="167"/>
                      <a:pt x="216" y="164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3" y="166"/>
                      <a:pt x="211" y="170"/>
                      <a:pt x="206" y="170"/>
                    </a:cubicBezTo>
                    <a:cubicBezTo>
                      <a:pt x="204" y="168"/>
                      <a:pt x="202" y="166"/>
                      <a:pt x="201" y="164"/>
                    </a:cubicBezTo>
                    <a:cubicBezTo>
                      <a:pt x="199" y="161"/>
                      <a:pt x="199" y="158"/>
                      <a:pt x="197" y="154"/>
                    </a:cubicBezTo>
                    <a:close/>
                    <a:moveTo>
                      <a:pt x="83" y="79"/>
                    </a:moveTo>
                    <a:cubicBezTo>
                      <a:pt x="84" y="83"/>
                      <a:pt x="84" y="85"/>
                      <a:pt x="85" y="87"/>
                    </a:cubicBezTo>
                    <a:cubicBezTo>
                      <a:pt x="92" y="84"/>
                      <a:pt x="115" y="69"/>
                      <a:pt x="116" y="62"/>
                    </a:cubicBezTo>
                    <a:cubicBezTo>
                      <a:pt x="116" y="62"/>
                      <a:pt x="116" y="62"/>
                      <a:pt x="115" y="62"/>
                    </a:cubicBezTo>
                    <a:cubicBezTo>
                      <a:pt x="111" y="60"/>
                      <a:pt x="105" y="62"/>
                      <a:pt x="101" y="63"/>
                    </a:cubicBezTo>
                    <a:cubicBezTo>
                      <a:pt x="98" y="63"/>
                      <a:pt x="96" y="63"/>
                      <a:pt x="93" y="63"/>
                    </a:cubicBezTo>
                    <a:cubicBezTo>
                      <a:pt x="84" y="65"/>
                      <a:pt x="82" y="70"/>
                      <a:pt x="83" y="79"/>
                    </a:cubicBezTo>
                    <a:close/>
                    <a:moveTo>
                      <a:pt x="32" y="97"/>
                    </a:moveTo>
                    <a:cubicBezTo>
                      <a:pt x="36" y="101"/>
                      <a:pt x="36" y="104"/>
                      <a:pt x="36" y="112"/>
                    </a:cubicBezTo>
                    <a:cubicBezTo>
                      <a:pt x="38" y="113"/>
                      <a:pt x="38" y="113"/>
                      <a:pt x="38" y="114"/>
                    </a:cubicBezTo>
                    <a:cubicBezTo>
                      <a:pt x="41" y="114"/>
                      <a:pt x="44" y="114"/>
                      <a:pt x="46" y="113"/>
                    </a:cubicBezTo>
                    <a:cubicBezTo>
                      <a:pt x="47" y="111"/>
                      <a:pt x="50" y="108"/>
                      <a:pt x="50" y="106"/>
                    </a:cubicBezTo>
                    <a:cubicBezTo>
                      <a:pt x="52" y="100"/>
                      <a:pt x="53" y="86"/>
                      <a:pt x="49" y="83"/>
                    </a:cubicBezTo>
                    <a:cubicBezTo>
                      <a:pt x="49" y="83"/>
                      <a:pt x="49" y="82"/>
                      <a:pt x="48" y="82"/>
                    </a:cubicBezTo>
                    <a:cubicBezTo>
                      <a:pt x="42" y="82"/>
                      <a:pt x="34" y="89"/>
                      <a:pt x="32" y="94"/>
                    </a:cubicBezTo>
                    <a:cubicBezTo>
                      <a:pt x="32" y="95"/>
                      <a:pt x="32" y="96"/>
                      <a:pt x="32" y="97"/>
                    </a:cubicBezTo>
                    <a:close/>
                    <a:moveTo>
                      <a:pt x="3" y="66"/>
                    </a:moveTo>
                    <a:cubicBezTo>
                      <a:pt x="9" y="66"/>
                      <a:pt x="12" y="70"/>
                      <a:pt x="14" y="73"/>
                    </a:cubicBezTo>
                    <a:cubicBezTo>
                      <a:pt x="16" y="73"/>
                      <a:pt x="18" y="73"/>
                      <a:pt x="19" y="73"/>
                    </a:cubicBezTo>
                    <a:cubicBezTo>
                      <a:pt x="22" y="71"/>
                      <a:pt x="24" y="69"/>
                      <a:pt x="26" y="67"/>
                    </a:cubicBezTo>
                    <a:cubicBezTo>
                      <a:pt x="31" y="64"/>
                      <a:pt x="38" y="63"/>
                      <a:pt x="44" y="60"/>
                    </a:cubicBezTo>
                    <a:cubicBezTo>
                      <a:pt x="48" y="57"/>
                      <a:pt x="51" y="59"/>
                      <a:pt x="54" y="55"/>
                    </a:cubicBezTo>
                    <a:cubicBezTo>
                      <a:pt x="57" y="47"/>
                      <a:pt x="51" y="40"/>
                      <a:pt x="54" y="31"/>
                    </a:cubicBezTo>
                    <a:cubicBezTo>
                      <a:pt x="55" y="26"/>
                      <a:pt x="56" y="23"/>
                      <a:pt x="57" y="17"/>
                    </a:cubicBezTo>
                    <a:cubicBezTo>
                      <a:pt x="57" y="17"/>
                      <a:pt x="56" y="5"/>
                      <a:pt x="58" y="7"/>
                    </a:cubicBezTo>
                    <a:cubicBezTo>
                      <a:pt x="58" y="6"/>
                      <a:pt x="58" y="6"/>
                      <a:pt x="59" y="6"/>
                    </a:cubicBezTo>
                    <a:cubicBezTo>
                      <a:pt x="69" y="5"/>
                      <a:pt x="83" y="21"/>
                      <a:pt x="92" y="27"/>
                    </a:cubicBezTo>
                    <a:cubicBezTo>
                      <a:pt x="92" y="35"/>
                      <a:pt x="89" y="43"/>
                      <a:pt x="90" y="51"/>
                    </a:cubicBezTo>
                    <a:cubicBezTo>
                      <a:pt x="100" y="55"/>
                      <a:pt x="115" y="50"/>
                      <a:pt x="126" y="48"/>
                    </a:cubicBezTo>
                    <a:cubicBezTo>
                      <a:pt x="130" y="48"/>
                      <a:pt x="134" y="48"/>
                      <a:pt x="138" y="49"/>
                    </a:cubicBezTo>
                    <a:cubicBezTo>
                      <a:pt x="140" y="50"/>
                      <a:pt x="142" y="53"/>
                      <a:pt x="144" y="53"/>
                    </a:cubicBezTo>
                    <a:cubicBezTo>
                      <a:pt x="144" y="53"/>
                      <a:pt x="144" y="55"/>
                      <a:pt x="144" y="55"/>
                    </a:cubicBezTo>
                    <a:cubicBezTo>
                      <a:pt x="140" y="59"/>
                      <a:pt x="136" y="64"/>
                      <a:pt x="133" y="68"/>
                    </a:cubicBezTo>
                    <a:cubicBezTo>
                      <a:pt x="130" y="71"/>
                      <a:pt x="120" y="76"/>
                      <a:pt x="114" y="79"/>
                    </a:cubicBezTo>
                    <a:cubicBezTo>
                      <a:pt x="110" y="82"/>
                      <a:pt x="104" y="83"/>
                      <a:pt x="104" y="90"/>
                    </a:cubicBezTo>
                    <a:cubicBezTo>
                      <a:pt x="105" y="91"/>
                      <a:pt x="106" y="91"/>
                      <a:pt x="106" y="92"/>
                    </a:cubicBezTo>
                    <a:cubicBezTo>
                      <a:pt x="114" y="95"/>
                      <a:pt x="125" y="91"/>
                      <a:pt x="128" y="99"/>
                    </a:cubicBezTo>
                    <a:cubicBezTo>
                      <a:pt x="129" y="101"/>
                      <a:pt x="130" y="103"/>
                      <a:pt x="129" y="105"/>
                    </a:cubicBezTo>
                    <a:cubicBezTo>
                      <a:pt x="124" y="112"/>
                      <a:pt x="112" y="106"/>
                      <a:pt x="105" y="111"/>
                    </a:cubicBezTo>
                    <a:cubicBezTo>
                      <a:pt x="99" y="115"/>
                      <a:pt x="94" y="120"/>
                      <a:pt x="89" y="124"/>
                    </a:cubicBezTo>
                    <a:cubicBezTo>
                      <a:pt x="84" y="127"/>
                      <a:pt x="79" y="125"/>
                      <a:pt x="76" y="130"/>
                    </a:cubicBezTo>
                    <a:cubicBezTo>
                      <a:pt x="72" y="136"/>
                      <a:pt x="76" y="147"/>
                      <a:pt x="74" y="153"/>
                    </a:cubicBezTo>
                    <a:cubicBezTo>
                      <a:pt x="74" y="155"/>
                      <a:pt x="73" y="156"/>
                      <a:pt x="73" y="157"/>
                    </a:cubicBezTo>
                    <a:cubicBezTo>
                      <a:pt x="64" y="159"/>
                      <a:pt x="66" y="177"/>
                      <a:pt x="59" y="183"/>
                    </a:cubicBezTo>
                    <a:cubicBezTo>
                      <a:pt x="57" y="172"/>
                      <a:pt x="50" y="162"/>
                      <a:pt x="48" y="152"/>
                    </a:cubicBezTo>
                    <a:cubicBezTo>
                      <a:pt x="48" y="147"/>
                      <a:pt x="50" y="142"/>
                      <a:pt x="46" y="139"/>
                    </a:cubicBezTo>
                    <a:cubicBezTo>
                      <a:pt x="44" y="138"/>
                      <a:pt x="40" y="139"/>
                      <a:pt x="38" y="138"/>
                    </a:cubicBezTo>
                    <a:cubicBezTo>
                      <a:pt x="36" y="132"/>
                      <a:pt x="34" y="123"/>
                      <a:pt x="26" y="121"/>
                    </a:cubicBezTo>
                    <a:cubicBezTo>
                      <a:pt x="23" y="120"/>
                      <a:pt x="22" y="122"/>
                      <a:pt x="17" y="122"/>
                    </a:cubicBezTo>
                    <a:cubicBezTo>
                      <a:pt x="16" y="120"/>
                      <a:pt x="15" y="116"/>
                      <a:pt x="14" y="114"/>
                    </a:cubicBezTo>
                    <a:cubicBezTo>
                      <a:pt x="12" y="111"/>
                      <a:pt x="7" y="110"/>
                      <a:pt x="5" y="107"/>
                    </a:cubicBezTo>
                    <a:cubicBezTo>
                      <a:pt x="5" y="107"/>
                      <a:pt x="5" y="107"/>
                      <a:pt x="5" y="107"/>
                    </a:cubicBezTo>
                    <a:cubicBezTo>
                      <a:pt x="3" y="102"/>
                      <a:pt x="5" y="99"/>
                      <a:pt x="4" y="96"/>
                    </a:cubicBezTo>
                    <a:cubicBezTo>
                      <a:pt x="4" y="94"/>
                      <a:pt x="1" y="93"/>
                      <a:pt x="0" y="90"/>
                    </a:cubicBezTo>
                    <a:cubicBezTo>
                      <a:pt x="4" y="85"/>
                      <a:pt x="3" y="76"/>
                      <a:pt x="3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5371A66D-8DC2-F581-4799-86277C18209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7988" y="4643741"/>
                <a:ext cx="334963" cy="325438"/>
              </a:xfrm>
              <a:custGeom>
                <a:avLst/>
                <a:gdLst>
                  <a:gd name="T0" fmla="*/ 218 w 225"/>
                  <a:gd name="T1" fmla="*/ 76 h 216"/>
                  <a:gd name="T2" fmla="*/ 170 w 225"/>
                  <a:gd name="T3" fmla="*/ 32 h 216"/>
                  <a:gd name="T4" fmla="*/ 113 w 225"/>
                  <a:gd name="T5" fmla="*/ 0 h 216"/>
                  <a:gd name="T6" fmla="*/ 56 w 225"/>
                  <a:gd name="T7" fmla="*/ 32 h 216"/>
                  <a:gd name="T8" fmla="*/ 8 w 225"/>
                  <a:gd name="T9" fmla="*/ 76 h 216"/>
                  <a:gd name="T10" fmla="*/ 21 w 225"/>
                  <a:gd name="T11" fmla="*/ 140 h 216"/>
                  <a:gd name="T12" fmla="*/ 48 w 225"/>
                  <a:gd name="T13" fmla="*/ 200 h 216"/>
                  <a:gd name="T14" fmla="*/ 112 w 225"/>
                  <a:gd name="T15" fmla="*/ 207 h 216"/>
                  <a:gd name="T16" fmla="*/ 177 w 225"/>
                  <a:gd name="T17" fmla="*/ 200 h 216"/>
                  <a:gd name="T18" fmla="*/ 204 w 225"/>
                  <a:gd name="T19" fmla="*/ 140 h 216"/>
                  <a:gd name="T20" fmla="*/ 218 w 225"/>
                  <a:gd name="T21" fmla="*/ 76 h 216"/>
                  <a:gd name="T22" fmla="*/ 113 w 225"/>
                  <a:gd name="T23" fmla="*/ 201 h 216"/>
                  <a:gd name="T24" fmla="*/ 22 w 225"/>
                  <a:gd name="T25" fmla="*/ 110 h 216"/>
                  <a:gd name="T26" fmla="*/ 113 w 225"/>
                  <a:gd name="T27" fmla="*/ 20 h 216"/>
                  <a:gd name="T28" fmla="*/ 204 w 225"/>
                  <a:gd name="T29" fmla="*/ 111 h 216"/>
                  <a:gd name="T30" fmla="*/ 113 w 225"/>
                  <a:gd name="T31" fmla="*/ 20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5" h="216">
                    <a:moveTo>
                      <a:pt x="218" y="76"/>
                    </a:moveTo>
                    <a:cubicBezTo>
                      <a:pt x="210" y="53"/>
                      <a:pt x="191" y="37"/>
                      <a:pt x="170" y="32"/>
                    </a:cubicBezTo>
                    <a:cubicBezTo>
                      <a:pt x="158" y="13"/>
                      <a:pt x="137" y="0"/>
                      <a:pt x="113" y="0"/>
                    </a:cubicBezTo>
                    <a:cubicBezTo>
                      <a:pt x="89" y="0"/>
                      <a:pt x="68" y="13"/>
                      <a:pt x="56" y="32"/>
                    </a:cubicBezTo>
                    <a:cubicBezTo>
                      <a:pt x="34" y="37"/>
                      <a:pt x="15" y="53"/>
                      <a:pt x="8" y="76"/>
                    </a:cubicBezTo>
                    <a:cubicBezTo>
                      <a:pt x="0" y="99"/>
                      <a:pt x="6" y="123"/>
                      <a:pt x="21" y="140"/>
                    </a:cubicBezTo>
                    <a:cubicBezTo>
                      <a:pt x="18" y="163"/>
                      <a:pt x="28" y="185"/>
                      <a:pt x="48" y="200"/>
                    </a:cubicBezTo>
                    <a:cubicBezTo>
                      <a:pt x="67" y="214"/>
                      <a:pt x="92" y="216"/>
                      <a:pt x="112" y="207"/>
                    </a:cubicBezTo>
                    <a:cubicBezTo>
                      <a:pt x="133" y="216"/>
                      <a:pt x="158" y="214"/>
                      <a:pt x="177" y="200"/>
                    </a:cubicBezTo>
                    <a:cubicBezTo>
                      <a:pt x="197" y="186"/>
                      <a:pt x="206" y="163"/>
                      <a:pt x="204" y="140"/>
                    </a:cubicBezTo>
                    <a:cubicBezTo>
                      <a:pt x="220" y="123"/>
                      <a:pt x="225" y="99"/>
                      <a:pt x="218" y="76"/>
                    </a:cubicBezTo>
                    <a:close/>
                    <a:moveTo>
                      <a:pt x="113" y="201"/>
                    </a:moveTo>
                    <a:cubicBezTo>
                      <a:pt x="63" y="201"/>
                      <a:pt x="22" y="160"/>
                      <a:pt x="22" y="110"/>
                    </a:cubicBezTo>
                    <a:cubicBezTo>
                      <a:pt x="22" y="60"/>
                      <a:pt x="62" y="20"/>
                      <a:pt x="113" y="20"/>
                    </a:cubicBezTo>
                    <a:cubicBezTo>
                      <a:pt x="163" y="20"/>
                      <a:pt x="204" y="61"/>
                      <a:pt x="204" y="111"/>
                    </a:cubicBezTo>
                    <a:cubicBezTo>
                      <a:pt x="204" y="161"/>
                      <a:pt x="163" y="201"/>
                      <a:pt x="113" y="2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150E582C-1FC6-065B-60DB-0196ACE8ADB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72600" y="4775504"/>
                <a:ext cx="84138" cy="26988"/>
              </a:xfrm>
              <a:custGeom>
                <a:avLst/>
                <a:gdLst>
                  <a:gd name="T0" fmla="*/ 4 w 56"/>
                  <a:gd name="T1" fmla="*/ 17 h 18"/>
                  <a:gd name="T2" fmla="*/ 0 w 56"/>
                  <a:gd name="T3" fmla="*/ 7 h 18"/>
                  <a:gd name="T4" fmla="*/ 3 w 56"/>
                  <a:gd name="T5" fmla="*/ 2 h 18"/>
                  <a:gd name="T6" fmla="*/ 8 w 56"/>
                  <a:gd name="T7" fmla="*/ 0 h 18"/>
                  <a:gd name="T8" fmla="*/ 15 w 56"/>
                  <a:gd name="T9" fmla="*/ 13 h 18"/>
                  <a:gd name="T10" fmla="*/ 19 w 56"/>
                  <a:gd name="T11" fmla="*/ 14 h 18"/>
                  <a:gd name="T12" fmla="*/ 22 w 56"/>
                  <a:gd name="T13" fmla="*/ 14 h 18"/>
                  <a:gd name="T14" fmla="*/ 20 w 56"/>
                  <a:gd name="T15" fmla="*/ 12 h 18"/>
                  <a:gd name="T16" fmla="*/ 14 w 56"/>
                  <a:gd name="T17" fmla="*/ 6 h 18"/>
                  <a:gd name="T18" fmla="*/ 20 w 56"/>
                  <a:gd name="T19" fmla="*/ 0 h 18"/>
                  <a:gd name="T20" fmla="*/ 26 w 56"/>
                  <a:gd name="T21" fmla="*/ 8 h 18"/>
                  <a:gd name="T22" fmla="*/ 19 w 56"/>
                  <a:gd name="T23" fmla="*/ 18 h 18"/>
                  <a:gd name="T24" fmla="*/ 15 w 56"/>
                  <a:gd name="T25" fmla="*/ 13 h 18"/>
                  <a:gd name="T26" fmla="*/ 22 w 56"/>
                  <a:gd name="T27" fmla="*/ 3 h 18"/>
                  <a:gd name="T28" fmla="*/ 18 w 56"/>
                  <a:gd name="T29" fmla="*/ 3 h 18"/>
                  <a:gd name="T30" fmla="*/ 18 w 56"/>
                  <a:gd name="T31" fmla="*/ 8 h 18"/>
                  <a:gd name="T32" fmla="*/ 22 w 56"/>
                  <a:gd name="T33" fmla="*/ 8 h 18"/>
                  <a:gd name="T34" fmla="*/ 30 w 56"/>
                  <a:gd name="T35" fmla="*/ 13 h 18"/>
                  <a:gd name="T36" fmla="*/ 34 w 56"/>
                  <a:gd name="T37" fmla="*/ 14 h 18"/>
                  <a:gd name="T38" fmla="*/ 38 w 56"/>
                  <a:gd name="T39" fmla="*/ 14 h 18"/>
                  <a:gd name="T40" fmla="*/ 38 w 56"/>
                  <a:gd name="T41" fmla="*/ 9 h 18"/>
                  <a:gd name="T42" fmla="*/ 33 w 56"/>
                  <a:gd name="T43" fmla="*/ 10 h 18"/>
                  <a:gd name="T44" fmla="*/ 32 w 56"/>
                  <a:gd name="T45" fmla="*/ 0 h 18"/>
                  <a:gd name="T46" fmla="*/ 41 w 56"/>
                  <a:gd name="T47" fmla="*/ 3 h 18"/>
                  <a:gd name="T48" fmla="*/ 34 w 56"/>
                  <a:gd name="T49" fmla="*/ 6 h 18"/>
                  <a:gd name="T50" fmla="*/ 41 w 56"/>
                  <a:gd name="T51" fmla="*/ 8 h 18"/>
                  <a:gd name="T52" fmla="*/ 41 w 56"/>
                  <a:gd name="T53" fmla="*/ 16 h 18"/>
                  <a:gd name="T54" fmla="*/ 32 w 56"/>
                  <a:gd name="T55" fmla="*/ 17 h 18"/>
                  <a:gd name="T56" fmla="*/ 48 w 56"/>
                  <a:gd name="T57" fmla="*/ 8 h 18"/>
                  <a:gd name="T58" fmla="*/ 45 w 56"/>
                  <a:gd name="T59" fmla="*/ 4 h 18"/>
                  <a:gd name="T60" fmla="*/ 50 w 56"/>
                  <a:gd name="T61" fmla="*/ 0 h 18"/>
                  <a:gd name="T62" fmla="*/ 56 w 56"/>
                  <a:gd name="T63" fmla="*/ 4 h 18"/>
                  <a:gd name="T64" fmla="*/ 53 w 56"/>
                  <a:gd name="T65" fmla="*/ 8 h 18"/>
                  <a:gd name="T66" fmla="*/ 56 w 56"/>
                  <a:gd name="T67" fmla="*/ 12 h 18"/>
                  <a:gd name="T68" fmla="*/ 50 w 56"/>
                  <a:gd name="T69" fmla="*/ 18 h 18"/>
                  <a:gd name="T70" fmla="*/ 44 w 56"/>
                  <a:gd name="T71" fmla="*/ 13 h 18"/>
                  <a:gd name="T72" fmla="*/ 48 w 56"/>
                  <a:gd name="T73" fmla="*/ 8 h 18"/>
                  <a:gd name="T74" fmla="*/ 49 w 56"/>
                  <a:gd name="T75" fmla="*/ 6 h 18"/>
                  <a:gd name="T76" fmla="*/ 52 w 56"/>
                  <a:gd name="T77" fmla="*/ 6 h 18"/>
                  <a:gd name="T78" fmla="*/ 52 w 56"/>
                  <a:gd name="T79" fmla="*/ 3 h 18"/>
                  <a:gd name="T80" fmla="*/ 49 w 56"/>
                  <a:gd name="T81" fmla="*/ 3 h 18"/>
                  <a:gd name="T82" fmla="*/ 48 w 56"/>
                  <a:gd name="T83" fmla="*/ 12 h 18"/>
                  <a:gd name="T84" fmla="*/ 51 w 56"/>
                  <a:gd name="T85" fmla="*/ 15 h 18"/>
                  <a:gd name="T86" fmla="*/ 54 w 56"/>
                  <a:gd name="T87" fmla="*/ 12 h 18"/>
                  <a:gd name="T88" fmla="*/ 51 w 56"/>
                  <a:gd name="T89" fmla="*/ 9 h 18"/>
                  <a:gd name="T90" fmla="*/ 48 w 56"/>
                  <a:gd name="T9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18">
                    <a:moveTo>
                      <a:pt x="8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6"/>
                      <a:pt x="0" y="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7"/>
                      <a:pt x="8" y="17"/>
                      <a:pt x="8" y="17"/>
                    </a:cubicBezTo>
                    <a:close/>
                    <a:moveTo>
                      <a:pt x="15" y="13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8" y="14"/>
                      <a:pt x="19" y="14"/>
                    </a:cubicBezTo>
                    <a:cubicBezTo>
                      <a:pt x="19" y="15"/>
                      <a:pt x="20" y="15"/>
                      <a:pt x="20" y="15"/>
                    </a:cubicBezTo>
                    <a:cubicBezTo>
                      <a:pt x="21" y="15"/>
                      <a:pt x="21" y="14"/>
                      <a:pt x="22" y="14"/>
                    </a:cubicBezTo>
                    <a:cubicBezTo>
                      <a:pt x="22" y="13"/>
                      <a:pt x="23" y="12"/>
                      <a:pt x="23" y="10"/>
                    </a:cubicBezTo>
                    <a:cubicBezTo>
                      <a:pt x="22" y="11"/>
                      <a:pt x="21" y="12"/>
                      <a:pt x="20" y="12"/>
                    </a:cubicBezTo>
                    <a:cubicBezTo>
                      <a:pt x="18" y="12"/>
                      <a:pt x="17" y="11"/>
                      <a:pt x="16" y="10"/>
                    </a:cubicBezTo>
                    <a:cubicBezTo>
                      <a:pt x="15" y="9"/>
                      <a:pt x="14" y="8"/>
                      <a:pt x="14" y="6"/>
                    </a:cubicBezTo>
                    <a:cubicBezTo>
                      <a:pt x="14" y="4"/>
                      <a:pt x="15" y="2"/>
                      <a:pt x="16" y="1"/>
                    </a:cubicBezTo>
                    <a:cubicBezTo>
                      <a:pt x="17" y="0"/>
                      <a:pt x="18" y="0"/>
                      <a:pt x="20" y="0"/>
                    </a:cubicBezTo>
                    <a:cubicBezTo>
                      <a:pt x="22" y="0"/>
                      <a:pt x="23" y="0"/>
                      <a:pt x="24" y="2"/>
                    </a:cubicBezTo>
                    <a:cubicBezTo>
                      <a:pt x="26" y="3"/>
                      <a:pt x="26" y="5"/>
                      <a:pt x="26" y="8"/>
                    </a:cubicBezTo>
                    <a:cubicBezTo>
                      <a:pt x="26" y="12"/>
                      <a:pt x="25" y="14"/>
                      <a:pt x="24" y="16"/>
                    </a:cubicBezTo>
                    <a:cubicBezTo>
                      <a:pt x="23" y="17"/>
                      <a:pt x="21" y="18"/>
                      <a:pt x="19" y="18"/>
                    </a:cubicBezTo>
                    <a:cubicBezTo>
                      <a:pt x="18" y="18"/>
                      <a:pt x="17" y="17"/>
                      <a:pt x="16" y="16"/>
                    </a:cubicBezTo>
                    <a:cubicBezTo>
                      <a:pt x="16" y="16"/>
                      <a:pt x="15" y="15"/>
                      <a:pt x="15" y="13"/>
                    </a:cubicBezTo>
                    <a:close/>
                    <a:moveTo>
                      <a:pt x="22" y="6"/>
                    </a:moveTo>
                    <a:cubicBezTo>
                      <a:pt x="22" y="4"/>
                      <a:pt x="22" y="4"/>
                      <a:pt x="22" y="3"/>
                    </a:cubicBezTo>
                    <a:cubicBezTo>
                      <a:pt x="21" y="2"/>
                      <a:pt x="21" y="2"/>
                      <a:pt x="20" y="2"/>
                    </a:cubicBezTo>
                    <a:cubicBezTo>
                      <a:pt x="19" y="2"/>
                      <a:pt x="19" y="3"/>
                      <a:pt x="18" y="3"/>
                    </a:cubicBezTo>
                    <a:cubicBezTo>
                      <a:pt x="18" y="4"/>
                      <a:pt x="18" y="4"/>
                      <a:pt x="18" y="6"/>
                    </a:cubicBezTo>
                    <a:cubicBezTo>
                      <a:pt x="18" y="7"/>
                      <a:pt x="18" y="8"/>
                      <a:pt x="18" y="8"/>
                    </a:cubicBezTo>
                    <a:cubicBezTo>
                      <a:pt x="19" y="8"/>
                      <a:pt x="20" y="9"/>
                      <a:pt x="20" y="9"/>
                    </a:cubicBezTo>
                    <a:cubicBezTo>
                      <a:pt x="21" y="9"/>
                      <a:pt x="21" y="8"/>
                      <a:pt x="22" y="8"/>
                    </a:cubicBezTo>
                    <a:cubicBezTo>
                      <a:pt x="22" y="8"/>
                      <a:pt x="22" y="7"/>
                      <a:pt x="22" y="6"/>
                    </a:cubicBezTo>
                    <a:close/>
                    <a:moveTo>
                      <a:pt x="30" y="13"/>
                    </a:move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3"/>
                      <a:pt x="34" y="14"/>
                      <a:pt x="34" y="14"/>
                    </a:cubicBezTo>
                    <a:cubicBezTo>
                      <a:pt x="35" y="15"/>
                      <a:pt x="36" y="15"/>
                      <a:pt x="36" y="15"/>
                    </a:cubicBezTo>
                    <a:cubicBezTo>
                      <a:pt x="37" y="15"/>
                      <a:pt x="37" y="15"/>
                      <a:pt x="38" y="14"/>
                    </a:cubicBezTo>
                    <a:cubicBezTo>
                      <a:pt x="38" y="14"/>
                      <a:pt x="39" y="13"/>
                      <a:pt x="39" y="12"/>
                    </a:cubicBezTo>
                    <a:cubicBezTo>
                      <a:pt x="39" y="10"/>
                      <a:pt x="38" y="10"/>
                      <a:pt x="38" y="9"/>
                    </a:cubicBezTo>
                    <a:cubicBezTo>
                      <a:pt x="38" y="9"/>
                      <a:pt x="37" y="8"/>
                      <a:pt x="36" y="8"/>
                    </a:cubicBezTo>
                    <a:cubicBezTo>
                      <a:pt x="35" y="8"/>
                      <a:pt x="34" y="9"/>
                      <a:pt x="33" y="1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5" y="6"/>
                      <a:pt x="36" y="6"/>
                      <a:pt x="37" y="6"/>
                    </a:cubicBezTo>
                    <a:cubicBezTo>
                      <a:pt x="38" y="6"/>
                      <a:pt x="40" y="6"/>
                      <a:pt x="41" y="8"/>
                    </a:cubicBezTo>
                    <a:cubicBezTo>
                      <a:pt x="42" y="9"/>
                      <a:pt x="42" y="10"/>
                      <a:pt x="42" y="12"/>
                    </a:cubicBezTo>
                    <a:cubicBezTo>
                      <a:pt x="42" y="14"/>
                      <a:pt x="42" y="15"/>
                      <a:pt x="41" y="16"/>
                    </a:cubicBezTo>
                    <a:cubicBezTo>
                      <a:pt x="40" y="18"/>
                      <a:pt x="38" y="18"/>
                      <a:pt x="36" y="18"/>
                    </a:cubicBezTo>
                    <a:cubicBezTo>
                      <a:pt x="35" y="18"/>
                      <a:pt x="33" y="18"/>
                      <a:pt x="32" y="17"/>
                    </a:cubicBezTo>
                    <a:cubicBezTo>
                      <a:pt x="31" y="16"/>
                      <a:pt x="30" y="14"/>
                      <a:pt x="30" y="13"/>
                    </a:cubicBezTo>
                    <a:close/>
                    <a:moveTo>
                      <a:pt x="48" y="8"/>
                    </a:moveTo>
                    <a:cubicBezTo>
                      <a:pt x="47" y="7"/>
                      <a:pt x="46" y="7"/>
                      <a:pt x="46" y="6"/>
                    </a:cubicBezTo>
                    <a:cubicBezTo>
                      <a:pt x="46" y="5"/>
                      <a:pt x="45" y="5"/>
                      <a:pt x="45" y="4"/>
                    </a:cubicBezTo>
                    <a:cubicBezTo>
                      <a:pt x="45" y="3"/>
                      <a:pt x="46" y="2"/>
                      <a:pt x="46" y="1"/>
                    </a:cubicBezTo>
                    <a:cubicBezTo>
                      <a:pt x="47" y="0"/>
                      <a:pt x="49" y="0"/>
                      <a:pt x="50" y="0"/>
                    </a:cubicBezTo>
                    <a:cubicBezTo>
                      <a:pt x="52" y="0"/>
                      <a:pt x="54" y="0"/>
                      <a:pt x="54" y="1"/>
                    </a:cubicBezTo>
                    <a:cubicBezTo>
                      <a:pt x="55" y="2"/>
                      <a:pt x="56" y="3"/>
                      <a:pt x="56" y="4"/>
                    </a:cubicBezTo>
                    <a:cubicBezTo>
                      <a:pt x="56" y="5"/>
                      <a:pt x="56" y="6"/>
                      <a:pt x="55" y="6"/>
                    </a:cubicBezTo>
                    <a:cubicBezTo>
                      <a:pt x="55" y="7"/>
                      <a:pt x="54" y="8"/>
                      <a:pt x="53" y="8"/>
                    </a:cubicBezTo>
                    <a:cubicBezTo>
                      <a:pt x="54" y="8"/>
                      <a:pt x="55" y="9"/>
                      <a:pt x="56" y="10"/>
                    </a:cubicBezTo>
                    <a:cubicBezTo>
                      <a:pt x="56" y="10"/>
                      <a:pt x="56" y="11"/>
                      <a:pt x="56" y="12"/>
                    </a:cubicBezTo>
                    <a:cubicBezTo>
                      <a:pt x="56" y="14"/>
                      <a:pt x="56" y="15"/>
                      <a:pt x="55" y="16"/>
                    </a:cubicBezTo>
                    <a:cubicBezTo>
                      <a:pt x="54" y="18"/>
                      <a:pt x="52" y="18"/>
                      <a:pt x="50" y="18"/>
                    </a:cubicBezTo>
                    <a:cubicBezTo>
                      <a:pt x="49" y="18"/>
                      <a:pt x="48" y="18"/>
                      <a:pt x="46" y="17"/>
                    </a:cubicBezTo>
                    <a:cubicBezTo>
                      <a:pt x="45" y="16"/>
                      <a:pt x="44" y="14"/>
                      <a:pt x="44" y="13"/>
                    </a:cubicBezTo>
                    <a:cubicBezTo>
                      <a:pt x="44" y="12"/>
                      <a:pt x="45" y="11"/>
                      <a:pt x="45" y="10"/>
                    </a:cubicBezTo>
                    <a:cubicBezTo>
                      <a:pt x="46" y="9"/>
                      <a:pt x="47" y="8"/>
                      <a:pt x="48" y="8"/>
                    </a:cubicBezTo>
                    <a:close/>
                    <a:moveTo>
                      <a:pt x="49" y="4"/>
                    </a:moveTo>
                    <a:cubicBezTo>
                      <a:pt x="49" y="5"/>
                      <a:pt x="49" y="6"/>
                      <a:pt x="49" y="6"/>
                    </a:cubicBezTo>
                    <a:cubicBezTo>
                      <a:pt x="50" y="6"/>
                      <a:pt x="50" y="6"/>
                      <a:pt x="51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3" y="6"/>
                      <a:pt x="53" y="5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0" y="2"/>
                      <a:pt x="50" y="2"/>
                      <a:pt x="49" y="3"/>
                    </a:cubicBezTo>
                    <a:cubicBezTo>
                      <a:pt x="49" y="3"/>
                      <a:pt x="49" y="4"/>
                      <a:pt x="49" y="4"/>
                    </a:cubicBezTo>
                    <a:close/>
                    <a:moveTo>
                      <a:pt x="48" y="12"/>
                    </a:moveTo>
                    <a:cubicBezTo>
                      <a:pt x="48" y="13"/>
                      <a:pt x="49" y="14"/>
                      <a:pt x="49" y="14"/>
                    </a:cubicBezTo>
                    <a:cubicBezTo>
                      <a:pt x="50" y="15"/>
                      <a:pt x="50" y="15"/>
                      <a:pt x="51" y="15"/>
                    </a:cubicBezTo>
                    <a:cubicBezTo>
                      <a:pt x="52" y="15"/>
                      <a:pt x="52" y="15"/>
                      <a:pt x="53" y="14"/>
                    </a:cubicBezTo>
                    <a:cubicBezTo>
                      <a:pt x="53" y="14"/>
                      <a:pt x="54" y="13"/>
                      <a:pt x="54" y="12"/>
                    </a:cubicBezTo>
                    <a:cubicBezTo>
                      <a:pt x="54" y="11"/>
                      <a:pt x="53" y="10"/>
                      <a:pt x="53" y="10"/>
                    </a:cubicBezTo>
                    <a:cubicBezTo>
                      <a:pt x="52" y="10"/>
                      <a:pt x="52" y="9"/>
                      <a:pt x="51" y="9"/>
                    </a:cubicBezTo>
                    <a:cubicBezTo>
                      <a:pt x="50" y="9"/>
                      <a:pt x="50" y="10"/>
                      <a:pt x="49" y="10"/>
                    </a:cubicBezTo>
                    <a:cubicBezTo>
                      <a:pt x="49" y="11"/>
                      <a:pt x="48" y="11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Freeform 39">
                <a:extLst>
                  <a:ext uri="{FF2B5EF4-FFF2-40B4-BE49-F238E27FC236}">
                    <a16:creationId xmlns:a16="http://schemas.microsoft.com/office/drawing/2014/main" id="{32F35A13-156E-F7FA-8ADB-6D03F473E78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29725" y="4570716"/>
                <a:ext cx="474663" cy="477838"/>
              </a:xfrm>
              <a:custGeom>
                <a:avLst/>
                <a:gdLst>
                  <a:gd name="T0" fmla="*/ 159 w 318"/>
                  <a:gd name="T1" fmla="*/ 0 h 318"/>
                  <a:gd name="T2" fmla="*/ 0 w 318"/>
                  <a:gd name="T3" fmla="*/ 159 h 318"/>
                  <a:gd name="T4" fmla="*/ 159 w 318"/>
                  <a:gd name="T5" fmla="*/ 318 h 318"/>
                  <a:gd name="T6" fmla="*/ 318 w 318"/>
                  <a:gd name="T7" fmla="*/ 159 h 318"/>
                  <a:gd name="T8" fmla="*/ 159 w 318"/>
                  <a:gd name="T9" fmla="*/ 0 h 318"/>
                  <a:gd name="T10" fmla="*/ 159 w 318"/>
                  <a:gd name="T11" fmla="*/ 312 h 318"/>
                  <a:gd name="T12" fmla="*/ 6 w 318"/>
                  <a:gd name="T13" fmla="*/ 159 h 318"/>
                  <a:gd name="T14" fmla="*/ 159 w 318"/>
                  <a:gd name="T15" fmla="*/ 6 h 318"/>
                  <a:gd name="T16" fmla="*/ 312 w 318"/>
                  <a:gd name="T17" fmla="*/ 160 h 318"/>
                  <a:gd name="T18" fmla="*/ 159 w 318"/>
                  <a:gd name="T19" fmla="*/ 3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8" h="318">
                    <a:moveTo>
                      <a:pt x="159" y="0"/>
                    </a:moveTo>
                    <a:cubicBezTo>
                      <a:pt x="71" y="0"/>
                      <a:pt x="0" y="72"/>
                      <a:pt x="0" y="159"/>
                    </a:cubicBezTo>
                    <a:cubicBezTo>
                      <a:pt x="0" y="247"/>
                      <a:pt x="71" y="318"/>
                      <a:pt x="159" y="318"/>
                    </a:cubicBezTo>
                    <a:cubicBezTo>
                      <a:pt x="246" y="318"/>
                      <a:pt x="318" y="247"/>
                      <a:pt x="318" y="159"/>
                    </a:cubicBezTo>
                    <a:cubicBezTo>
                      <a:pt x="317" y="72"/>
                      <a:pt x="246" y="0"/>
                      <a:pt x="159" y="0"/>
                    </a:cubicBezTo>
                    <a:close/>
                    <a:moveTo>
                      <a:pt x="159" y="312"/>
                    </a:moveTo>
                    <a:cubicBezTo>
                      <a:pt x="74" y="312"/>
                      <a:pt x="6" y="244"/>
                      <a:pt x="6" y="159"/>
                    </a:cubicBezTo>
                    <a:cubicBezTo>
                      <a:pt x="6" y="75"/>
                      <a:pt x="74" y="6"/>
                      <a:pt x="159" y="6"/>
                    </a:cubicBezTo>
                    <a:cubicBezTo>
                      <a:pt x="243" y="6"/>
                      <a:pt x="312" y="75"/>
                      <a:pt x="312" y="160"/>
                    </a:cubicBezTo>
                    <a:cubicBezTo>
                      <a:pt x="312" y="244"/>
                      <a:pt x="243" y="312"/>
                      <a:pt x="159" y="3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Freeform 40">
                <a:extLst>
                  <a:ext uri="{FF2B5EF4-FFF2-40B4-BE49-F238E27FC236}">
                    <a16:creationId xmlns:a16="http://schemas.microsoft.com/office/drawing/2014/main" id="{F9F4D642-D6F1-ECDD-4B3E-8C383267900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63063" y="4810429"/>
                <a:ext cx="407988" cy="204788"/>
              </a:xfrm>
              <a:custGeom>
                <a:avLst/>
                <a:gdLst>
                  <a:gd name="T0" fmla="*/ 258 w 274"/>
                  <a:gd name="T1" fmla="*/ 63 h 137"/>
                  <a:gd name="T2" fmla="*/ 1 w 274"/>
                  <a:gd name="T3" fmla="*/ 12 h 137"/>
                  <a:gd name="T4" fmla="*/ 14 w 274"/>
                  <a:gd name="T5" fmla="*/ 9 h 137"/>
                  <a:gd name="T6" fmla="*/ 1 w 274"/>
                  <a:gd name="T7" fmla="*/ 17 h 137"/>
                  <a:gd name="T8" fmla="*/ 16 w 274"/>
                  <a:gd name="T9" fmla="*/ 29 h 137"/>
                  <a:gd name="T10" fmla="*/ 11 w 274"/>
                  <a:gd name="T11" fmla="*/ 27 h 137"/>
                  <a:gd name="T12" fmla="*/ 14 w 274"/>
                  <a:gd name="T13" fmla="*/ 36 h 137"/>
                  <a:gd name="T14" fmla="*/ 18 w 274"/>
                  <a:gd name="T15" fmla="*/ 47 h 137"/>
                  <a:gd name="T16" fmla="*/ 21 w 274"/>
                  <a:gd name="T17" fmla="*/ 57 h 137"/>
                  <a:gd name="T18" fmla="*/ 21 w 274"/>
                  <a:gd name="T19" fmla="*/ 55 h 137"/>
                  <a:gd name="T20" fmla="*/ 19 w 274"/>
                  <a:gd name="T21" fmla="*/ 66 h 137"/>
                  <a:gd name="T22" fmla="*/ 22 w 274"/>
                  <a:gd name="T23" fmla="*/ 62 h 137"/>
                  <a:gd name="T24" fmla="*/ 22 w 274"/>
                  <a:gd name="T25" fmla="*/ 71 h 137"/>
                  <a:gd name="T26" fmla="*/ 30 w 274"/>
                  <a:gd name="T27" fmla="*/ 71 h 137"/>
                  <a:gd name="T28" fmla="*/ 30 w 274"/>
                  <a:gd name="T29" fmla="*/ 86 h 137"/>
                  <a:gd name="T30" fmla="*/ 36 w 274"/>
                  <a:gd name="T31" fmla="*/ 79 h 137"/>
                  <a:gd name="T32" fmla="*/ 47 w 274"/>
                  <a:gd name="T33" fmla="*/ 90 h 137"/>
                  <a:gd name="T34" fmla="*/ 58 w 274"/>
                  <a:gd name="T35" fmla="*/ 96 h 137"/>
                  <a:gd name="T36" fmla="*/ 51 w 274"/>
                  <a:gd name="T37" fmla="*/ 95 h 137"/>
                  <a:gd name="T38" fmla="*/ 58 w 274"/>
                  <a:gd name="T39" fmla="*/ 105 h 137"/>
                  <a:gd name="T40" fmla="*/ 67 w 274"/>
                  <a:gd name="T41" fmla="*/ 106 h 137"/>
                  <a:gd name="T42" fmla="*/ 76 w 274"/>
                  <a:gd name="T43" fmla="*/ 112 h 137"/>
                  <a:gd name="T44" fmla="*/ 82 w 274"/>
                  <a:gd name="T45" fmla="*/ 111 h 137"/>
                  <a:gd name="T46" fmla="*/ 78 w 274"/>
                  <a:gd name="T47" fmla="*/ 113 h 137"/>
                  <a:gd name="T48" fmla="*/ 83 w 274"/>
                  <a:gd name="T49" fmla="*/ 123 h 137"/>
                  <a:gd name="T50" fmla="*/ 97 w 274"/>
                  <a:gd name="T51" fmla="*/ 121 h 137"/>
                  <a:gd name="T52" fmla="*/ 100 w 274"/>
                  <a:gd name="T53" fmla="*/ 125 h 137"/>
                  <a:gd name="T54" fmla="*/ 108 w 274"/>
                  <a:gd name="T55" fmla="*/ 126 h 137"/>
                  <a:gd name="T56" fmla="*/ 113 w 274"/>
                  <a:gd name="T57" fmla="*/ 126 h 137"/>
                  <a:gd name="T58" fmla="*/ 132 w 274"/>
                  <a:gd name="T59" fmla="*/ 136 h 137"/>
                  <a:gd name="T60" fmla="*/ 126 w 274"/>
                  <a:gd name="T61" fmla="*/ 130 h 137"/>
                  <a:gd name="T62" fmla="*/ 128 w 274"/>
                  <a:gd name="T63" fmla="*/ 135 h 137"/>
                  <a:gd name="T64" fmla="*/ 135 w 274"/>
                  <a:gd name="T65" fmla="*/ 135 h 137"/>
                  <a:gd name="T66" fmla="*/ 149 w 274"/>
                  <a:gd name="T67" fmla="*/ 136 h 137"/>
                  <a:gd name="T68" fmla="*/ 152 w 274"/>
                  <a:gd name="T69" fmla="*/ 133 h 137"/>
                  <a:gd name="T70" fmla="*/ 167 w 274"/>
                  <a:gd name="T71" fmla="*/ 131 h 137"/>
                  <a:gd name="T72" fmla="*/ 180 w 274"/>
                  <a:gd name="T73" fmla="*/ 128 h 137"/>
                  <a:gd name="T74" fmla="*/ 175 w 274"/>
                  <a:gd name="T75" fmla="*/ 122 h 137"/>
                  <a:gd name="T76" fmla="*/ 187 w 274"/>
                  <a:gd name="T77" fmla="*/ 119 h 137"/>
                  <a:gd name="T78" fmla="*/ 192 w 274"/>
                  <a:gd name="T79" fmla="*/ 117 h 137"/>
                  <a:gd name="T80" fmla="*/ 199 w 274"/>
                  <a:gd name="T81" fmla="*/ 119 h 137"/>
                  <a:gd name="T82" fmla="*/ 203 w 274"/>
                  <a:gd name="T83" fmla="*/ 119 h 137"/>
                  <a:gd name="T84" fmla="*/ 217 w 274"/>
                  <a:gd name="T85" fmla="*/ 111 h 137"/>
                  <a:gd name="T86" fmla="*/ 217 w 274"/>
                  <a:gd name="T87" fmla="*/ 106 h 137"/>
                  <a:gd name="T88" fmla="*/ 232 w 274"/>
                  <a:gd name="T89" fmla="*/ 96 h 137"/>
                  <a:gd name="T90" fmla="*/ 231 w 274"/>
                  <a:gd name="T91" fmla="*/ 97 h 137"/>
                  <a:gd name="T92" fmla="*/ 238 w 274"/>
                  <a:gd name="T93" fmla="*/ 95 h 137"/>
                  <a:gd name="T94" fmla="*/ 234 w 274"/>
                  <a:gd name="T95" fmla="*/ 85 h 137"/>
                  <a:gd name="T96" fmla="*/ 242 w 274"/>
                  <a:gd name="T97" fmla="*/ 73 h 137"/>
                  <a:gd name="T98" fmla="*/ 238 w 274"/>
                  <a:gd name="T99" fmla="*/ 77 h 137"/>
                  <a:gd name="T100" fmla="*/ 252 w 274"/>
                  <a:gd name="T101" fmla="*/ 71 h 137"/>
                  <a:gd name="T102" fmla="*/ 266 w 274"/>
                  <a:gd name="T103" fmla="*/ 40 h 137"/>
                  <a:gd name="T104" fmla="*/ 258 w 274"/>
                  <a:gd name="T105" fmla="*/ 48 h 137"/>
                  <a:gd name="T106" fmla="*/ 268 w 274"/>
                  <a:gd name="T107" fmla="*/ 35 h 137"/>
                  <a:gd name="T108" fmla="*/ 259 w 274"/>
                  <a:gd name="T109" fmla="*/ 22 h 137"/>
                  <a:gd name="T110" fmla="*/ 262 w 274"/>
                  <a:gd name="T111" fmla="*/ 27 h 137"/>
                  <a:gd name="T112" fmla="*/ 273 w 274"/>
                  <a:gd name="T113" fmla="*/ 17 h 137"/>
                  <a:gd name="T114" fmla="*/ 273 w 274"/>
                  <a:gd name="T115" fmla="*/ 12 h 137"/>
                  <a:gd name="T116" fmla="*/ 266 w 274"/>
                  <a:gd name="T117" fmla="*/ 7 h 137"/>
                  <a:gd name="T118" fmla="*/ 269 w 274"/>
                  <a:gd name="T119" fmla="*/ 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137">
                    <a:moveTo>
                      <a:pt x="250" y="51"/>
                    </a:move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2"/>
                      <a:pt x="250" y="52"/>
                      <a:pt x="250" y="52"/>
                    </a:cubicBezTo>
                    <a:cubicBezTo>
                      <a:pt x="250" y="53"/>
                      <a:pt x="250" y="53"/>
                      <a:pt x="249" y="53"/>
                    </a:cubicBezTo>
                    <a:cubicBezTo>
                      <a:pt x="249" y="53"/>
                      <a:pt x="248" y="53"/>
                      <a:pt x="248" y="53"/>
                    </a:cubicBezTo>
                    <a:cubicBezTo>
                      <a:pt x="248" y="53"/>
                      <a:pt x="248" y="53"/>
                      <a:pt x="248" y="53"/>
                    </a:cubicBezTo>
                    <a:cubicBezTo>
                      <a:pt x="248" y="54"/>
                      <a:pt x="248" y="54"/>
                      <a:pt x="249" y="55"/>
                    </a:cubicBezTo>
                    <a:cubicBezTo>
                      <a:pt x="251" y="56"/>
                      <a:pt x="251" y="56"/>
                      <a:pt x="251" y="56"/>
                    </a:cubicBezTo>
                    <a:cubicBezTo>
                      <a:pt x="252" y="53"/>
                      <a:pt x="252" y="53"/>
                      <a:pt x="252" y="53"/>
                    </a:cubicBezTo>
                    <a:cubicBezTo>
                      <a:pt x="253" y="54"/>
                      <a:pt x="253" y="54"/>
                      <a:pt x="253" y="54"/>
                    </a:cubicBezTo>
                    <a:cubicBezTo>
                      <a:pt x="252" y="56"/>
                      <a:pt x="252" y="56"/>
                      <a:pt x="252" y="56"/>
                    </a:cubicBezTo>
                    <a:cubicBezTo>
                      <a:pt x="258" y="59"/>
                      <a:pt x="258" y="59"/>
                      <a:pt x="258" y="59"/>
                    </a:cubicBezTo>
                    <a:cubicBezTo>
                      <a:pt x="258" y="60"/>
                      <a:pt x="259" y="59"/>
                      <a:pt x="260" y="58"/>
                    </a:cubicBezTo>
                    <a:cubicBezTo>
                      <a:pt x="260" y="58"/>
                      <a:pt x="260" y="58"/>
                      <a:pt x="260" y="58"/>
                    </a:cubicBezTo>
                    <a:cubicBezTo>
                      <a:pt x="258" y="63"/>
                      <a:pt x="258" y="63"/>
                      <a:pt x="258" y="63"/>
                    </a:cubicBezTo>
                    <a:cubicBezTo>
                      <a:pt x="257" y="63"/>
                      <a:pt x="257" y="63"/>
                      <a:pt x="257" y="63"/>
                    </a:cubicBezTo>
                    <a:cubicBezTo>
                      <a:pt x="258" y="62"/>
                      <a:pt x="258" y="62"/>
                      <a:pt x="257" y="61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0" y="60"/>
                      <a:pt x="250" y="60"/>
                      <a:pt x="250" y="60"/>
                    </a:cubicBezTo>
                    <a:cubicBezTo>
                      <a:pt x="250" y="59"/>
                      <a:pt x="250" y="59"/>
                      <a:pt x="250" y="59"/>
                    </a:cubicBezTo>
                    <a:cubicBezTo>
                      <a:pt x="250" y="58"/>
                      <a:pt x="250" y="58"/>
                      <a:pt x="250" y="58"/>
                    </a:cubicBezTo>
                    <a:cubicBezTo>
                      <a:pt x="250" y="57"/>
                      <a:pt x="250" y="57"/>
                      <a:pt x="250" y="57"/>
                    </a:cubicBezTo>
                    <a:cubicBezTo>
                      <a:pt x="249" y="57"/>
                      <a:pt x="248" y="56"/>
                      <a:pt x="248" y="55"/>
                    </a:cubicBezTo>
                    <a:cubicBezTo>
                      <a:pt x="247" y="54"/>
                      <a:pt x="247" y="53"/>
                      <a:pt x="248" y="52"/>
                    </a:cubicBezTo>
                    <a:cubicBezTo>
                      <a:pt x="248" y="52"/>
                      <a:pt x="249" y="51"/>
                      <a:pt x="250" y="51"/>
                    </a:cubicBezTo>
                    <a:cubicBezTo>
                      <a:pt x="250" y="51"/>
                      <a:pt x="250" y="51"/>
                      <a:pt x="250" y="51"/>
                    </a:cubicBezTo>
                    <a:close/>
                    <a:moveTo>
                      <a:pt x="14" y="15"/>
                    </a:moveTo>
                    <a:cubicBezTo>
                      <a:pt x="14" y="14"/>
                      <a:pt x="14" y="13"/>
                      <a:pt x="12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2" y="13"/>
                      <a:pt x="1" y="12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7"/>
                      <a:pt x="0" y="5"/>
                      <a:pt x="1" y="5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1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5"/>
                      <a:pt x="13" y="4"/>
                      <a:pt x="12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5"/>
                      <a:pt x="3" y="5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11"/>
                      <a:pt x="3" y="12"/>
                      <a:pt x="6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11"/>
                      <a:pt x="14" y="11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5"/>
                      <a:pt x="14" y="15"/>
                      <a:pt x="14" y="15"/>
                    </a:cubicBezTo>
                    <a:close/>
                    <a:moveTo>
                      <a:pt x="3" y="27"/>
                    </a:move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3"/>
                      <a:pt x="3" y="24"/>
                      <a:pt x="4" y="2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1" y="22"/>
                      <a:pt x="11" y="21"/>
                      <a:pt x="10" y="21"/>
                    </a:cubicBezTo>
                    <a:cubicBezTo>
                      <a:pt x="10" y="20"/>
                      <a:pt x="10" y="19"/>
                      <a:pt x="9" y="19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2" y="20"/>
                      <a:pt x="2" y="21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2" y="18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1" y="24"/>
                      <a:pt x="9" y="2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lose/>
                    <a:moveTo>
                      <a:pt x="16" y="29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6" y="27"/>
                      <a:pt x="16" y="27"/>
                    </a:cubicBezTo>
                    <a:cubicBezTo>
                      <a:pt x="16" y="27"/>
                      <a:pt x="16" y="27"/>
                      <a:pt x="17" y="27"/>
                    </a:cubicBezTo>
                    <a:cubicBezTo>
                      <a:pt x="17" y="27"/>
                      <a:pt x="17" y="28"/>
                      <a:pt x="17" y="28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6" y="29"/>
                    </a:cubicBezTo>
                    <a:close/>
                    <a:moveTo>
                      <a:pt x="4" y="33"/>
                    </a:moveTo>
                    <a:cubicBezTo>
                      <a:pt x="3" y="29"/>
                      <a:pt x="3" y="29"/>
                      <a:pt x="3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0"/>
                      <a:pt x="4" y="30"/>
                      <a:pt x="5" y="30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1" y="29"/>
                      <a:pt x="11" y="28"/>
                      <a:pt x="11" y="2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lose/>
                    <a:moveTo>
                      <a:pt x="16" y="42"/>
                    </a:moveTo>
                    <a:cubicBezTo>
                      <a:pt x="16" y="41"/>
                      <a:pt x="15" y="41"/>
                      <a:pt x="14" y="41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4"/>
                      <a:pt x="14" y="33"/>
                      <a:pt x="14" y="33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3" y="37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6" y="40"/>
                      <a:pt x="16" y="40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6" y="42"/>
                      <a:pt x="16" y="42"/>
                    </a:cubicBezTo>
                    <a:close/>
                    <a:moveTo>
                      <a:pt x="14" y="53"/>
                    </a:moveTo>
                    <a:cubicBezTo>
                      <a:pt x="13" y="53"/>
                      <a:pt x="12" y="53"/>
                      <a:pt x="11" y="52"/>
                    </a:cubicBezTo>
                    <a:cubicBezTo>
                      <a:pt x="10" y="51"/>
                      <a:pt x="10" y="51"/>
                      <a:pt x="9" y="50"/>
                    </a:cubicBezTo>
                    <a:cubicBezTo>
                      <a:pt x="9" y="49"/>
                      <a:pt x="9" y="48"/>
                      <a:pt x="9" y="47"/>
                    </a:cubicBezTo>
                    <a:cubicBezTo>
                      <a:pt x="10" y="46"/>
                      <a:pt x="11" y="45"/>
                      <a:pt x="12" y="45"/>
                    </a:cubicBezTo>
                    <a:cubicBezTo>
                      <a:pt x="13" y="44"/>
                      <a:pt x="14" y="44"/>
                      <a:pt x="16" y="45"/>
                    </a:cubicBezTo>
                    <a:cubicBezTo>
                      <a:pt x="17" y="45"/>
                      <a:pt x="18" y="46"/>
                      <a:pt x="18" y="47"/>
                    </a:cubicBezTo>
                    <a:cubicBezTo>
                      <a:pt x="18" y="48"/>
                      <a:pt x="18" y="49"/>
                      <a:pt x="18" y="50"/>
                    </a:cubicBezTo>
                    <a:cubicBezTo>
                      <a:pt x="18" y="51"/>
                      <a:pt x="17" y="51"/>
                      <a:pt x="16" y="5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2" y="46"/>
                      <a:pt x="12" y="47"/>
                      <a:pt x="11" y="48"/>
                    </a:cubicBezTo>
                    <a:cubicBezTo>
                      <a:pt x="10" y="49"/>
                      <a:pt x="10" y="49"/>
                      <a:pt x="10" y="51"/>
                    </a:cubicBezTo>
                    <a:cubicBezTo>
                      <a:pt x="11" y="51"/>
                      <a:pt x="11" y="52"/>
                      <a:pt x="12" y="52"/>
                    </a:cubicBezTo>
                    <a:cubicBezTo>
                      <a:pt x="13" y="52"/>
                      <a:pt x="14" y="52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lose/>
                    <a:moveTo>
                      <a:pt x="16" y="49"/>
                    </a:moveTo>
                    <a:cubicBezTo>
                      <a:pt x="18" y="49"/>
                      <a:pt x="18" y="48"/>
                      <a:pt x="18" y="47"/>
                    </a:cubicBezTo>
                    <a:cubicBezTo>
                      <a:pt x="17" y="45"/>
                      <a:pt x="16" y="45"/>
                      <a:pt x="14" y="45"/>
                    </a:cubicBezTo>
                    <a:cubicBezTo>
                      <a:pt x="16" y="49"/>
                      <a:pt x="16" y="49"/>
                      <a:pt x="16" y="49"/>
                    </a:cubicBezTo>
                    <a:close/>
                    <a:moveTo>
                      <a:pt x="22" y="58"/>
                    </a:moveTo>
                    <a:cubicBezTo>
                      <a:pt x="22" y="58"/>
                      <a:pt x="21" y="58"/>
                      <a:pt x="21" y="57"/>
                    </a:cubicBezTo>
                    <a:cubicBezTo>
                      <a:pt x="21" y="57"/>
                      <a:pt x="21" y="57"/>
                      <a:pt x="21" y="5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5"/>
                      <a:pt x="21" y="55"/>
                      <a:pt x="20" y="55"/>
                    </a:cubicBezTo>
                    <a:cubicBezTo>
                      <a:pt x="20" y="55"/>
                      <a:pt x="20" y="55"/>
                      <a:pt x="19" y="55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3" y="56"/>
                      <a:pt x="14" y="56"/>
                      <a:pt x="14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3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2" y="55"/>
                      <a:pt x="23" y="56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8"/>
                      <a:pt x="22" y="58"/>
                      <a:pt x="22" y="58"/>
                    </a:cubicBezTo>
                    <a:close/>
                    <a:moveTo>
                      <a:pt x="21" y="67"/>
                    </a:moveTo>
                    <a:cubicBezTo>
                      <a:pt x="20" y="68"/>
                      <a:pt x="19" y="68"/>
                      <a:pt x="18" y="67"/>
                    </a:cubicBezTo>
                    <a:cubicBezTo>
                      <a:pt x="18" y="67"/>
                      <a:pt x="17" y="67"/>
                      <a:pt x="17" y="66"/>
                    </a:cubicBezTo>
                    <a:cubicBezTo>
                      <a:pt x="17" y="65"/>
                      <a:pt x="16" y="65"/>
                      <a:pt x="16" y="65"/>
                    </a:cubicBezTo>
                    <a:cubicBezTo>
                      <a:pt x="16" y="64"/>
                      <a:pt x="16" y="64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3"/>
                      <a:pt x="16" y="64"/>
                      <a:pt x="17" y="65"/>
                    </a:cubicBezTo>
                    <a:cubicBezTo>
                      <a:pt x="18" y="65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6"/>
                    </a:cubicBezTo>
                    <a:cubicBezTo>
                      <a:pt x="20" y="65"/>
                      <a:pt x="20" y="65"/>
                      <a:pt x="20" y="63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1"/>
                      <a:pt x="20" y="60"/>
                      <a:pt x="21" y="59"/>
                    </a:cubicBezTo>
                    <a:cubicBezTo>
                      <a:pt x="22" y="59"/>
                      <a:pt x="22" y="59"/>
                      <a:pt x="23" y="59"/>
                    </a:cubicBezTo>
                    <a:cubicBezTo>
                      <a:pt x="24" y="59"/>
                      <a:pt x="24" y="60"/>
                      <a:pt x="25" y="61"/>
                    </a:cubicBezTo>
                    <a:cubicBezTo>
                      <a:pt x="25" y="61"/>
                      <a:pt x="25" y="61"/>
                      <a:pt x="25" y="62"/>
                    </a:cubicBezTo>
                    <a:cubicBezTo>
                      <a:pt x="25" y="62"/>
                      <a:pt x="25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5" y="63"/>
                      <a:pt x="25" y="61"/>
                      <a:pt x="25" y="61"/>
                    </a:cubicBezTo>
                    <a:cubicBezTo>
                      <a:pt x="25" y="60"/>
                      <a:pt x="24" y="60"/>
                      <a:pt x="24" y="60"/>
                    </a:cubicBezTo>
                    <a:cubicBezTo>
                      <a:pt x="24" y="60"/>
                      <a:pt x="23" y="60"/>
                      <a:pt x="23" y="60"/>
                    </a:cubicBezTo>
                    <a:cubicBezTo>
                      <a:pt x="22" y="60"/>
                      <a:pt x="22" y="61"/>
                      <a:pt x="22" y="62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2" y="66"/>
                      <a:pt x="22" y="67"/>
                      <a:pt x="21" y="67"/>
                    </a:cubicBezTo>
                    <a:close/>
                    <a:moveTo>
                      <a:pt x="33" y="67"/>
                    </a:moveTo>
                    <a:cubicBezTo>
                      <a:pt x="32" y="67"/>
                      <a:pt x="32" y="67"/>
                      <a:pt x="32" y="67"/>
                    </a:cubicBezTo>
                    <a:cubicBezTo>
                      <a:pt x="32" y="67"/>
                      <a:pt x="32" y="66"/>
                      <a:pt x="31" y="66"/>
                    </a:cubicBezTo>
                    <a:cubicBezTo>
                      <a:pt x="31" y="66"/>
                      <a:pt x="31" y="66"/>
                      <a:pt x="31" y="65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5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3" y="65"/>
                      <a:pt x="34" y="65"/>
                      <a:pt x="33" y="66"/>
                    </a:cubicBezTo>
                    <a:cubicBezTo>
                      <a:pt x="33" y="66"/>
                      <a:pt x="33" y="66"/>
                      <a:pt x="33" y="67"/>
                    </a:cubicBezTo>
                    <a:close/>
                    <a:moveTo>
                      <a:pt x="22" y="75"/>
                    </a:move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1" y="71"/>
                      <a:pt x="22" y="72"/>
                      <a:pt x="22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68"/>
                      <a:pt x="28" y="68"/>
                      <a:pt x="28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2" y="73"/>
                      <a:pt x="22" y="73"/>
                      <a:pt x="22" y="75"/>
                    </a:cubicBezTo>
                    <a:cubicBezTo>
                      <a:pt x="22" y="75"/>
                      <a:pt x="22" y="75"/>
                      <a:pt x="22" y="75"/>
                    </a:cubicBezTo>
                    <a:close/>
                    <a:moveTo>
                      <a:pt x="28" y="80"/>
                    </a:moveTo>
                    <a:cubicBezTo>
                      <a:pt x="27" y="80"/>
                      <a:pt x="26" y="80"/>
                      <a:pt x="26" y="79"/>
                    </a:cubicBezTo>
                    <a:cubicBezTo>
                      <a:pt x="26" y="79"/>
                      <a:pt x="25" y="79"/>
                      <a:pt x="25" y="79"/>
                    </a:cubicBezTo>
                    <a:cubicBezTo>
                      <a:pt x="24" y="78"/>
                      <a:pt x="24" y="77"/>
                      <a:pt x="26" y="76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1" y="72"/>
                      <a:pt x="32" y="72"/>
                      <a:pt x="34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9"/>
                      <a:pt x="27" y="79"/>
                      <a:pt x="28" y="80"/>
                    </a:cubicBezTo>
                    <a:cubicBezTo>
                      <a:pt x="28" y="80"/>
                      <a:pt x="28" y="80"/>
                      <a:pt x="28" y="80"/>
                    </a:cubicBezTo>
                    <a:close/>
                    <a:moveTo>
                      <a:pt x="40" y="84"/>
                    </a:moveTo>
                    <a:cubicBezTo>
                      <a:pt x="40" y="84"/>
                      <a:pt x="40" y="83"/>
                      <a:pt x="40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28" y="87"/>
                      <a:pt x="26" y="87"/>
                      <a:pt x="25" y="86"/>
                    </a:cubicBezTo>
                    <a:cubicBezTo>
                      <a:pt x="24" y="85"/>
                      <a:pt x="25" y="84"/>
                      <a:pt x="25" y="84"/>
                    </a:cubicBezTo>
                    <a:cubicBezTo>
                      <a:pt x="25" y="84"/>
                      <a:pt x="26" y="84"/>
                      <a:pt x="26" y="84"/>
                    </a:cubicBezTo>
                    <a:cubicBezTo>
                      <a:pt x="26" y="84"/>
                      <a:pt x="26" y="84"/>
                      <a:pt x="26" y="84"/>
                    </a:cubicBezTo>
                    <a:cubicBezTo>
                      <a:pt x="26" y="84"/>
                      <a:pt x="27" y="85"/>
                      <a:pt x="27" y="8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6"/>
                      <a:pt x="29" y="86"/>
                      <a:pt x="31" y="8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77"/>
                      <a:pt x="35" y="77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9"/>
                    </a:cubicBezTo>
                    <a:cubicBezTo>
                      <a:pt x="36" y="79"/>
                      <a:pt x="36" y="79"/>
                      <a:pt x="36" y="79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9" y="82"/>
                      <a:pt x="39" y="82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9" y="81"/>
                      <a:pt x="39" y="81"/>
                      <a:pt x="38" y="81"/>
                    </a:cubicBezTo>
                    <a:cubicBezTo>
                      <a:pt x="39" y="81"/>
                      <a:pt x="39" y="81"/>
                      <a:pt x="39" y="81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lose/>
                    <a:moveTo>
                      <a:pt x="47" y="97"/>
                    </a:moveTo>
                    <a:cubicBezTo>
                      <a:pt x="46" y="97"/>
                      <a:pt x="45" y="98"/>
                      <a:pt x="44" y="98"/>
                    </a:cubicBezTo>
                    <a:cubicBezTo>
                      <a:pt x="42" y="98"/>
                      <a:pt x="41" y="98"/>
                      <a:pt x="40" y="97"/>
                    </a:cubicBezTo>
                    <a:cubicBezTo>
                      <a:pt x="40" y="96"/>
                      <a:pt x="39" y="95"/>
                      <a:pt x="39" y="94"/>
                    </a:cubicBezTo>
                    <a:cubicBezTo>
                      <a:pt x="39" y="93"/>
                      <a:pt x="40" y="91"/>
                      <a:pt x="41" y="91"/>
                    </a:cubicBezTo>
                    <a:cubicBezTo>
                      <a:pt x="42" y="90"/>
                      <a:pt x="43" y="89"/>
                      <a:pt x="44" y="89"/>
                    </a:cubicBezTo>
                    <a:cubicBezTo>
                      <a:pt x="45" y="89"/>
                      <a:pt x="46" y="89"/>
                      <a:pt x="47" y="90"/>
                    </a:cubicBezTo>
                    <a:cubicBezTo>
                      <a:pt x="48" y="91"/>
                      <a:pt x="49" y="92"/>
                      <a:pt x="49" y="93"/>
                    </a:cubicBezTo>
                    <a:cubicBezTo>
                      <a:pt x="49" y="95"/>
                      <a:pt x="48" y="95"/>
                      <a:pt x="47" y="97"/>
                    </a:cubicBezTo>
                    <a:close/>
                    <a:moveTo>
                      <a:pt x="45" y="96"/>
                    </a:moveTo>
                    <a:cubicBezTo>
                      <a:pt x="46" y="95"/>
                      <a:pt x="47" y="94"/>
                      <a:pt x="47" y="93"/>
                    </a:cubicBezTo>
                    <a:cubicBezTo>
                      <a:pt x="48" y="92"/>
                      <a:pt x="47" y="91"/>
                      <a:pt x="47" y="90"/>
                    </a:cubicBezTo>
                    <a:cubicBezTo>
                      <a:pt x="46" y="90"/>
                      <a:pt x="46" y="89"/>
                      <a:pt x="45" y="90"/>
                    </a:cubicBezTo>
                    <a:cubicBezTo>
                      <a:pt x="44" y="90"/>
                      <a:pt x="44" y="91"/>
                      <a:pt x="43" y="91"/>
                    </a:cubicBezTo>
                    <a:cubicBezTo>
                      <a:pt x="42" y="92"/>
                      <a:pt x="41" y="93"/>
                      <a:pt x="41" y="94"/>
                    </a:cubicBezTo>
                    <a:cubicBezTo>
                      <a:pt x="40" y="95"/>
                      <a:pt x="40" y="96"/>
                      <a:pt x="41" y="97"/>
                    </a:cubicBezTo>
                    <a:cubicBezTo>
                      <a:pt x="42" y="97"/>
                      <a:pt x="42" y="97"/>
                      <a:pt x="43" y="97"/>
                    </a:cubicBezTo>
                    <a:cubicBezTo>
                      <a:pt x="44" y="97"/>
                      <a:pt x="44" y="97"/>
                      <a:pt x="45" y="96"/>
                    </a:cubicBezTo>
                    <a:close/>
                    <a:moveTo>
                      <a:pt x="60" y="97"/>
                    </a:move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8" y="97"/>
                      <a:pt x="58" y="97"/>
                      <a:pt x="58" y="96"/>
                    </a:cubicBezTo>
                    <a:cubicBezTo>
                      <a:pt x="58" y="96"/>
                      <a:pt x="58" y="95"/>
                      <a:pt x="58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4"/>
                      <a:pt x="57" y="94"/>
                      <a:pt x="56" y="95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0" y="103"/>
                      <a:pt x="50" y="103"/>
                      <a:pt x="50" y="103"/>
                    </a:cubicBezTo>
                    <a:cubicBezTo>
                      <a:pt x="49" y="103"/>
                      <a:pt x="49" y="104"/>
                      <a:pt x="50" y="105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46" y="102"/>
                      <a:pt x="46" y="102"/>
                      <a:pt x="46" y="102"/>
                    </a:cubicBezTo>
                    <a:cubicBezTo>
                      <a:pt x="46" y="101"/>
                      <a:pt x="46" y="101"/>
                      <a:pt x="46" y="101"/>
                    </a:cubicBezTo>
                    <a:cubicBezTo>
                      <a:pt x="47" y="102"/>
                      <a:pt x="48" y="102"/>
                      <a:pt x="48" y="101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2" y="95"/>
                      <a:pt x="52" y="95"/>
                      <a:pt x="52" y="95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3" y="95"/>
                      <a:pt x="53" y="95"/>
                      <a:pt x="53" y="95"/>
                    </a:cubicBezTo>
                    <a:cubicBezTo>
                      <a:pt x="54" y="95"/>
                      <a:pt x="55" y="94"/>
                      <a:pt x="56" y="94"/>
                    </a:cubicBezTo>
                    <a:cubicBezTo>
                      <a:pt x="57" y="94"/>
                      <a:pt x="58" y="94"/>
                      <a:pt x="59" y="95"/>
                    </a:cubicBezTo>
                    <a:cubicBezTo>
                      <a:pt x="59" y="95"/>
                      <a:pt x="60" y="95"/>
                      <a:pt x="60" y="96"/>
                    </a:cubicBezTo>
                    <a:cubicBezTo>
                      <a:pt x="60" y="96"/>
                      <a:pt x="60" y="96"/>
                      <a:pt x="60" y="97"/>
                    </a:cubicBezTo>
                    <a:close/>
                    <a:moveTo>
                      <a:pt x="65" y="111"/>
                    </a:moveTo>
                    <a:cubicBezTo>
                      <a:pt x="64" y="113"/>
                      <a:pt x="63" y="113"/>
                      <a:pt x="62" y="113"/>
                    </a:cubicBezTo>
                    <a:cubicBezTo>
                      <a:pt x="61" y="113"/>
                      <a:pt x="60" y="113"/>
                      <a:pt x="59" y="112"/>
                    </a:cubicBezTo>
                    <a:cubicBezTo>
                      <a:pt x="58" y="112"/>
                      <a:pt x="58" y="111"/>
                      <a:pt x="58" y="111"/>
                    </a:cubicBezTo>
                    <a:cubicBezTo>
                      <a:pt x="57" y="111"/>
                      <a:pt x="57" y="110"/>
                      <a:pt x="57" y="110"/>
                    </a:cubicBezTo>
                    <a:cubicBezTo>
                      <a:pt x="56" y="109"/>
                      <a:pt x="56" y="110"/>
                      <a:pt x="56" y="110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6"/>
                    </a:cubicBezTo>
                    <a:cubicBezTo>
                      <a:pt x="57" y="108"/>
                      <a:pt x="58" y="110"/>
                      <a:pt x="59" y="111"/>
                    </a:cubicBezTo>
                    <a:cubicBezTo>
                      <a:pt x="60" y="112"/>
                      <a:pt x="60" y="112"/>
                      <a:pt x="61" y="112"/>
                    </a:cubicBezTo>
                    <a:cubicBezTo>
                      <a:pt x="62" y="112"/>
                      <a:pt x="62" y="111"/>
                      <a:pt x="62" y="111"/>
                    </a:cubicBezTo>
                    <a:cubicBezTo>
                      <a:pt x="63" y="110"/>
                      <a:pt x="63" y="109"/>
                      <a:pt x="62" y="107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1" y="104"/>
                      <a:pt x="61" y="102"/>
                      <a:pt x="62" y="101"/>
                    </a:cubicBezTo>
                    <a:cubicBezTo>
                      <a:pt x="62" y="100"/>
                      <a:pt x="63" y="100"/>
                      <a:pt x="64" y="99"/>
                    </a:cubicBezTo>
                    <a:cubicBezTo>
                      <a:pt x="65" y="99"/>
                      <a:pt x="66" y="99"/>
                      <a:pt x="67" y="100"/>
                    </a:cubicBezTo>
                    <a:cubicBezTo>
                      <a:pt x="67" y="101"/>
                      <a:pt x="68" y="101"/>
                      <a:pt x="68" y="101"/>
                    </a:cubicBezTo>
                    <a:cubicBezTo>
                      <a:pt x="68" y="102"/>
                      <a:pt x="68" y="102"/>
                      <a:pt x="69" y="102"/>
                    </a:cubicBezTo>
                    <a:cubicBezTo>
                      <a:pt x="69" y="102"/>
                      <a:pt x="69" y="102"/>
                      <a:pt x="70" y="102"/>
                    </a:cubicBezTo>
                    <a:cubicBezTo>
                      <a:pt x="70" y="103"/>
                      <a:pt x="70" y="103"/>
                      <a:pt x="70" y="103"/>
                    </a:cubicBezTo>
                    <a:cubicBezTo>
                      <a:pt x="68" y="107"/>
                      <a:pt x="68" y="107"/>
                      <a:pt x="68" y="107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68" y="104"/>
                      <a:pt x="68" y="102"/>
                      <a:pt x="66" y="101"/>
                    </a:cubicBezTo>
                    <a:cubicBezTo>
                      <a:pt x="66" y="101"/>
                      <a:pt x="65" y="101"/>
                      <a:pt x="64" y="101"/>
                    </a:cubicBezTo>
                    <a:cubicBezTo>
                      <a:pt x="64" y="101"/>
                      <a:pt x="64" y="101"/>
                      <a:pt x="63" y="101"/>
                    </a:cubicBezTo>
                    <a:cubicBezTo>
                      <a:pt x="63" y="102"/>
                      <a:pt x="63" y="102"/>
                      <a:pt x="63" y="103"/>
                    </a:cubicBezTo>
                    <a:cubicBezTo>
                      <a:pt x="63" y="103"/>
                      <a:pt x="63" y="104"/>
                      <a:pt x="64" y="105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6" y="109"/>
                      <a:pt x="66" y="111"/>
                      <a:pt x="65" y="111"/>
                    </a:cubicBezTo>
                    <a:close/>
                    <a:moveTo>
                      <a:pt x="74" y="117"/>
                    </a:moveTo>
                    <a:cubicBezTo>
                      <a:pt x="73" y="118"/>
                      <a:pt x="72" y="119"/>
                      <a:pt x="71" y="119"/>
                    </a:cubicBezTo>
                    <a:cubicBezTo>
                      <a:pt x="70" y="119"/>
                      <a:pt x="69" y="119"/>
                      <a:pt x="68" y="118"/>
                    </a:cubicBezTo>
                    <a:cubicBezTo>
                      <a:pt x="68" y="118"/>
                      <a:pt x="67" y="117"/>
                      <a:pt x="67" y="116"/>
                    </a:cubicBezTo>
                    <a:cubicBezTo>
                      <a:pt x="66" y="115"/>
                      <a:pt x="67" y="113"/>
                      <a:pt x="68" y="112"/>
                    </a:cubicBezTo>
                    <a:cubicBezTo>
                      <a:pt x="68" y="111"/>
                      <a:pt x="69" y="110"/>
                      <a:pt x="70" y="110"/>
                    </a:cubicBezTo>
                    <a:cubicBezTo>
                      <a:pt x="72" y="109"/>
                      <a:pt x="73" y="109"/>
                      <a:pt x="74" y="110"/>
                    </a:cubicBezTo>
                    <a:cubicBezTo>
                      <a:pt x="75" y="111"/>
                      <a:pt x="75" y="111"/>
                      <a:pt x="76" y="112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4" y="114"/>
                    </a:cubicBezTo>
                    <a:cubicBezTo>
                      <a:pt x="74" y="114"/>
                      <a:pt x="74" y="113"/>
                      <a:pt x="74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74" y="112"/>
                      <a:pt x="74" y="112"/>
                      <a:pt x="74" y="111"/>
                    </a:cubicBezTo>
                    <a:cubicBezTo>
                      <a:pt x="74" y="111"/>
                      <a:pt x="74" y="111"/>
                      <a:pt x="73" y="111"/>
                    </a:cubicBezTo>
                    <a:cubicBezTo>
                      <a:pt x="72" y="110"/>
                      <a:pt x="72" y="110"/>
                      <a:pt x="70" y="111"/>
                    </a:cubicBezTo>
                    <a:cubicBezTo>
                      <a:pt x="70" y="111"/>
                      <a:pt x="69" y="111"/>
                      <a:pt x="69" y="112"/>
                    </a:cubicBezTo>
                    <a:cubicBezTo>
                      <a:pt x="68" y="113"/>
                      <a:pt x="68" y="114"/>
                      <a:pt x="68" y="115"/>
                    </a:cubicBezTo>
                    <a:cubicBezTo>
                      <a:pt x="68" y="116"/>
                      <a:pt x="68" y="117"/>
                      <a:pt x="69" y="117"/>
                    </a:cubicBezTo>
                    <a:cubicBezTo>
                      <a:pt x="71" y="118"/>
                      <a:pt x="72" y="118"/>
                      <a:pt x="74" y="117"/>
                    </a:cubicBezTo>
                    <a:cubicBezTo>
                      <a:pt x="74" y="117"/>
                      <a:pt x="74" y="117"/>
                      <a:pt x="74" y="117"/>
                    </a:cubicBezTo>
                    <a:close/>
                    <a:moveTo>
                      <a:pt x="83" y="111"/>
                    </a:moveTo>
                    <a:cubicBezTo>
                      <a:pt x="83" y="111"/>
                      <a:pt x="82" y="111"/>
                      <a:pt x="82" y="111"/>
                    </a:cubicBezTo>
                    <a:cubicBezTo>
                      <a:pt x="82" y="111"/>
                      <a:pt x="82" y="111"/>
                      <a:pt x="81" y="111"/>
                    </a:cubicBezTo>
                    <a:cubicBezTo>
                      <a:pt x="81" y="111"/>
                      <a:pt x="81" y="111"/>
                      <a:pt x="81" y="111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1" y="109"/>
                      <a:pt x="81" y="109"/>
                      <a:pt x="82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3" y="109"/>
                      <a:pt x="83" y="110"/>
                      <a:pt x="83" y="110"/>
                    </a:cubicBezTo>
                    <a:cubicBezTo>
                      <a:pt x="83" y="111"/>
                      <a:pt x="83" y="111"/>
                      <a:pt x="83" y="111"/>
                    </a:cubicBezTo>
                    <a:close/>
                    <a:moveTo>
                      <a:pt x="78" y="123"/>
                    </a:moveTo>
                    <a:cubicBezTo>
                      <a:pt x="74" y="121"/>
                      <a:pt x="74" y="121"/>
                      <a:pt x="74" y="121"/>
                    </a:cubicBezTo>
                    <a:cubicBezTo>
                      <a:pt x="74" y="121"/>
                      <a:pt x="74" y="121"/>
                      <a:pt x="74" y="121"/>
                    </a:cubicBezTo>
                    <a:cubicBezTo>
                      <a:pt x="75" y="121"/>
                      <a:pt x="76" y="121"/>
                      <a:pt x="76" y="120"/>
                    </a:cubicBezTo>
                    <a:cubicBezTo>
                      <a:pt x="78" y="115"/>
                      <a:pt x="78" y="115"/>
                      <a:pt x="78" y="115"/>
                    </a:cubicBezTo>
                    <a:cubicBezTo>
                      <a:pt x="79" y="115"/>
                      <a:pt x="79" y="114"/>
                      <a:pt x="78" y="11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3"/>
                      <a:pt x="78" y="113"/>
                      <a:pt x="78" y="113"/>
                    </a:cubicBezTo>
                    <a:cubicBezTo>
                      <a:pt x="81" y="114"/>
                      <a:pt x="81" y="114"/>
                      <a:pt x="81" y="114"/>
                    </a:cubicBezTo>
                    <a:cubicBezTo>
                      <a:pt x="78" y="121"/>
                      <a:pt x="78" y="121"/>
                      <a:pt x="78" y="121"/>
                    </a:cubicBezTo>
                    <a:cubicBezTo>
                      <a:pt x="77" y="122"/>
                      <a:pt x="78" y="123"/>
                      <a:pt x="78" y="123"/>
                    </a:cubicBezTo>
                    <a:cubicBezTo>
                      <a:pt x="78" y="123"/>
                      <a:pt x="78" y="123"/>
                      <a:pt x="78" y="123"/>
                    </a:cubicBezTo>
                    <a:close/>
                    <a:moveTo>
                      <a:pt x="89" y="124"/>
                    </a:moveTo>
                    <a:cubicBezTo>
                      <a:pt x="88" y="125"/>
                      <a:pt x="87" y="125"/>
                      <a:pt x="86" y="126"/>
                    </a:cubicBezTo>
                    <a:cubicBezTo>
                      <a:pt x="85" y="126"/>
                      <a:pt x="84" y="126"/>
                      <a:pt x="84" y="126"/>
                    </a:cubicBezTo>
                    <a:cubicBezTo>
                      <a:pt x="82" y="125"/>
                      <a:pt x="82" y="125"/>
                      <a:pt x="82" y="124"/>
                    </a:cubicBezTo>
                    <a:cubicBezTo>
                      <a:pt x="81" y="123"/>
                      <a:pt x="81" y="121"/>
                      <a:pt x="82" y="120"/>
                    </a:cubicBezTo>
                    <a:cubicBezTo>
                      <a:pt x="82" y="119"/>
                      <a:pt x="83" y="118"/>
                      <a:pt x="84" y="117"/>
                    </a:cubicBezTo>
                    <a:cubicBezTo>
                      <a:pt x="85" y="117"/>
                      <a:pt x="86" y="117"/>
                      <a:pt x="87" y="117"/>
                    </a:cubicBezTo>
                    <a:cubicBezTo>
                      <a:pt x="88" y="118"/>
                      <a:pt x="89" y="119"/>
                      <a:pt x="89" y="119"/>
                    </a:cubicBezTo>
                    <a:cubicBezTo>
                      <a:pt x="90" y="120"/>
                      <a:pt x="90" y="121"/>
                      <a:pt x="89" y="122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21"/>
                      <a:pt x="83" y="122"/>
                      <a:pt x="83" y="123"/>
                    </a:cubicBezTo>
                    <a:cubicBezTo>
                      <a:pt x="83" y="124"/>
                      <a:pt x="84" y="124"/>
                      <a:pt x="84" y="125"/>
                    </a:cubicBezTo>
                    <a:cubicBezTo>
                      <a:pt x="85" y="125"/>
                      <a:pt x="86" y="125"/>
                      <a:pt x="86" y="125"/>
                    </a:cubicBezTo>
                    <a:cubicBezTo>
                      <a:pt x="88" y="125"/>
                      <a:pt x="88" y="124"/>
                      <a:pt x="89" y="124"/>
                    </a:cubicBezTo>
                    <a:cubicBezTo>
                      <a:pt x="89" y="124"/>
                      <a:pt x="89" y="124"/>
                      <a:pt x="89" y="124"/>
                    </a:cubicBezTo>
                    <a:close/>
                    <a:moveTo>
                      <a:pt x="88" y="120"/>
                    </a:moveTo>
                    <a:cubicBezTo>
                      <a:pt x="88" y="119"/>
                      <a:pt x="88" y="118"/>
                      <a:pt x="87" y="117"/>
                    </a:cubicBezTo>
                    <a:cubicBezTo>
                      <a:pt x="86" y="117"/>
                      <a:pt x="84" y="117"/>
                      <a:pt x="84" y="119"/>
                    </a:cubicBezTo>
                    <a:cubicBezTo>
                      <a:pt x="88" y="120"/>
                      <a:pt x="88" y="120"/>
                      <a:pt x="88" y="120"/>
                    </a:cubicBezTo>
                    <a:close/>
                    <a:moveTo>
                      <a:pt x="98" y="131"/>
                    </a:moveTo>
                    <a:cubicBezTo>
                      <a:pt x="94" y="129"/>
                      <a:pt x="94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5" y="129"/>
                      <a:pt x="96" y="129"/>
                      <a:pt x="96" y="128"/>
                    </a:cubicBezTo>
                    <a:cubicBezTo>
                      <a:pt x="98" y="123"/>
                      <a:pt x="98" y="123"/>
                      <a:pt x="98" y="123"/>
                    </a:cubicBezTo>
                    <a:cubicBezTo>
                      <a:pt x="98" y="123"/>
                      <a:pt x="98" y="123"/>
                      <a:pt x="98" y="122"/>
                    </a:cubicBezTo>
                    <a:cubicBezTo>
                      <a:pt x="98" y="122"/>
                      <a:pt x="97" y="122"/>
                      <a:pt x="97" y="121"/>
                    </a:cubicBezTo>
                    <a:cubicBezTo>
                      <a:pt x="96" y="121"/>
                      <a:pt x="95" y="121"/>
                      <a:pt x="94" y="122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92" y="128"/>
                      <a:pt x="93" y="129"/>
                      <a:pt x="94" y="129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90" y="128"/>
                      <a:pt x="90" y="128"/>
                      <a:pt x="90" y="128"/>
                    </a:cubicBezTo>
                    <a:cubicBezTo>
                      <a:pt x="90" y="127"/>
                      <a:pt x="90" y="127"/>
                      <a:pt x="90" y="127"/>
                    </a:cubicBezTo>
                    <a:cubicBezTo>
                      <a:pt x="90" y="128"/>
                      <a:pt x="91" y="127"/>
                      <a:pt x="91" y="127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0"/>
                      <a:pt x="92" y="120"/>
                    </a:cubicBezTo>
                    <a:cubicBezTo>
                      <a:pt x="92" y="120"/>
                      <a:pt x="92" y="120"/>
                      <a:pt x="9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96" y="121"/>
                      <a:pt x="98" y="121"/>
                      <a:pt x="99" y="121"/>
                    </a:cubicBezTo>
                    <a:cubicBezTo>
                      <a:pt x="100" y="121"/>
                      <a:pt x="101" y="123"/>
                      <a:pt x="100" y="125"/>
                    </a:cubicBezTo>
                    <a:cubicBezTo>
                      <a:pt x="98" y="129"/>
                      <a:pt x="98" y="129"/>
                      <a:pt x="98" y="129"/>
                    </a:cubicBezTo>
                    <a:cubicBezTo>
                      <a:pt x="98" y="130"/>
                      <a:pt x="98" y="131"/>
                      <a:pt x="98" y="131"/>
                    </a:cubicBezTo>
                    <a:cubicBezTo>
                      <a:pt x="98" y="131"/>
                      <a:pt x="98" y="131"/>
                      <a:pt x="98" y="131"/>
                    </a:cubicBezTo>
                    <a:close/>
                    <a:moveTo>
                      <a:pt x="109" y="130"/>
                    </a:moveTo>
                    <a:cubicBezTo>
                      <a:pt x="108" y="131"/>
                      <a:pt x="107" y="132"/>
                      <a:pt x="107" y="132"/>
                    </a:cubicBezTo>
                    <a:cubicBezTo>
                      <a:pt x="106" y="133"/>
                      <a:pt x="105" y="133"/>
                      <a:pt x="104" y="133"/>
                    </a:cubicBezTo>
                    <a:cubicBezTo>
                      <a:pt x="103" y="132"/>
                      <a:pt x="102" y="132"/>
                      <a:pt x="102" y="131"/>
                    </a:cubicBezTo>
                    <a:cubicBezTo>
                      <a:pt x="101" y="129"/>
                      <a:pt x="101" y="128"/>
                      <a:pt x="101" y="127"/>
                    </a:cubicBezTo>
                    <a:cubicBezTo>
                      <a:pt x="102" y="126"/>
                      <a:pt x="102" y="125"/>
                      <a:pt x="103" y="124"/>
                    </a:cubicBezTo>
                    <a:cubicBezTo>
                      <a:pt x="104" y="123"/>
                      <a:pt x="106" y="123"/>
                      <a:pt x="107" y="123"/>
                    </a:cubicBezTo>
                    <a:cubicBezTo>
                      <a:pt x="108" y="123"/>
                      <a:pt x="108" y="123"/>
                      <a:pt x="109" y="124"/>
                    </a:cubicBezTo>
                    <a:cubicBezTo>
                      <a:pt x="109" y="125"/>
                      <a:pt x="110" y="125"/>
                      <a:pt x="109" y="12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08" y="125"/>
                      <a:pt x="108" y="125"/>
                      <a:pt x="108" y="125"/>
                    </a:cubicBezTo>
                    <a:cubicBezTo>
                      <a:pt x="108" y="125"/>
                      <a:pt x="108" y="124"/>
                      <a:pt x="108" y="124"/>
                    </a:cubicBezTo>
                    <a:cubicBezTo>
                      <a:pt x="107" y="123"/>
                      <a:pt x="107" y="123"/>
                      <a:pt x="107" y="123"/>
                    </a:cubicBezTo>
                    <a:cubicBezTo>
                      <a:pt x="106" y="123"/>
                      <a:pt x="105" y="123"/>
                      <a:pt x="104" y="124"/>
                    </a:cubicBezTo>
                    <a:cubicBezTo>
                      <a:pt x="104" y="124"/>
                      <a:pt x="104" y="125"/>
                      <a:pt x="103" y="126"/>
                    </a:cubicBezTo>
                    <a:cubicBezTo>
                      <a:pt x="103" y="127"/>
                      <a:pt x="103" y="128"/>
                      <a:pt x="104" y="129"/>
                    </a:cubicBezTo>
                    <a:cubicBezTo>
                      <a:pt x="104" y="129"/>
                      <a:pt x="105" y="130"/>
                      <a:pt x="106" y="130"/>
                    </a:cubicBezTo>
                    <a:cubicBezTo>
                      <a:pt x="106" y="131"/>
                      <a:pt x="107" y="131"/>
                      <a:pt x="109" y="130"/>
                    </a:cubicBezTo>
                    <a:cubicBezTo>
                      <a:pt x="109" y="130"/>
                      <a:pt x="109" y="130"/>
                      <a:pt x="109" y="130"/>
                    </a:cubicBezTo>
                    <a:close/>
                    <a:moveTo>
                      <a:pt x="119" y="132"/>
                    </a:moveTo>
                    <a:cubicBezTo>
                      <a:pt x="118" y="133"/>
                      <a:pt x="118" y="133"/>
                      <a:pt x="117" y="134"/>
                    </a:cubicBezTo>
                    <a:cubicBezTo>
                      <a:pt x="116" y="134"/>
                      <a:pt x="115" y="135"/>
                      <a:pt x="114" y="134"/>
                    </a:cubicBezTo>
                    <a:cubicBezTo>
                      <a:pt x="113" y="134"/>
                      <a:pt x="112" y="133"/>
                      <a:pt x="112" y="133"/>
                    </a:cubicBezTo>
                    <a:cubicBezTo>
                      <a:pt x="111" y="131"/>
                      <a:pt x="111" y="130"/>
                      <a:pt x="111" y="129"/>
                    </a:cubicBezTo>
                    <a:cubicBezTo>
                      <a:pt x="112" y="128"/>
                      <a:pt x="112" y="127"/>
                      <a:pt x="113" y="126"/>
                    </a:cubicBezTo>
                    <a:cubicBezTo>
                      <a:pt x="114" y="125"/>
                      <a:pt x="115" y="125"/>
                      <a:pt x="116" y="125"/>
                    </a:cubicBezTo>
                    <a:cubicBezTo>
                      <a:pt x="118" y="125"/>
                      <a:pt x="118" y="126"/>
                      <a:pt x="119" y="127"/>
                    </a:cubicBezTo>
                    <a:cubicBezTo>
                      <a:pt x="119" y="127"/>
                      <a:pt x="120" y="128"/>
                      <a:pt x="119" y="129"/>
                    </a:cubicBezTo>
                    <a:cubicBezTo>
                      <a:pt x="113" y="128"/>
                      <a:pt x="113" y="128"/>
                      <a:pt x="113" y="128"/>
                    </a:cubicBezTo>
                    <a:cubicBezTo>
                      <a:pt x="112" y="129"/>
                      <a:pt x="113" y="131"/>
                      <a:pt x="113" y="131"/>
                    </a:cubicBezTo>
                    <a:cubicBezTo>
                      <a:pt x="114" y="132"/>
                      <a:pt x="114" y="133"/>
                      <a:pt x="115" y="133"/>
                    </a:cubicBezTo>
                    <a:cubicBezTo>
                      <a:pt x="116" y="133"/>
                      <a:pt x="116" y="133"/>
                      <a:pt x="117" y="133"/>
                    </a:cubicBezTo>
                    <a:cubicBezTo>
                      <a:pt x="118" y="133"/>
                      <a:pt x="118" y="132"/>
                      <a:pt x="119" y="132"/>
                    </a:cubicBezTo>
                    <a:cubicBezTo>
                      <a:pt x="119" y="132"/>
                      <a:pt x="119" y="132"/>
                      <a:pt x="119" y="132"/>
                    </a:cubicBezTo>
                    <a:close/>
                    <a:moveTo>
                      <a:pt x="117" y="129"/>
                    </a:moveTo>
                    <a:cubicBezTo>
                      <a:pt x="117" y="127"/>
                      <a:pt x="116" y="126"/>
                      <a:pt x="115" y="126"/>
                    </a:cubicBezTo>
                    <a:cubicBezTo>
                      <a:pt x="114" y="125"/>
                      <a:pt x="113" y="126"/>
                      <a:pt x="112" y="128"/>
                    </a:cubicBezTo>
                    <a:cubicBezTo>
                      <a:pt x="117" y="129"/>
                      <a:pt x="117" y="129"/>
                      <a:pt x="117" y="129"/>
                    </a:cubicBezTo>
                    <a:close/>
                    <a:moveTo>
                      <a:pt x="133" y="135"/>
                    </a:moveTo>
                    <a:cubicBezTo>
                      <a:pt x="132" y="136"/>
                      <a:pt x="132" y="136"/>
                      <a:pt x="132" y="136"/>
                    </a:cubicBezTo>
                    <a:cubicBezTo>
                      <a:pt x="132" y="137"/>
                      <a:pt x="131" y="137"/>
                      <a:pt x="131" y="137"/>
                    </a:cubicBezTo>
                    <a:cubicBezTo>
                      <a:pt x="130" y="137"/>
                      <a:pt x="130" y="136"/>
                      <a:pt x="130" y="135"/>
                    </a:cubicBezTo>
                    <a:cubicBezTo>
                      <a:pt x="130" y="135"/>
                      <a:pt x="129" y="136"/>
                      <a:pt x="128" y="136"/>
                    </a:cubicBezTo>
                    <a:cubicBezTo>
                      <a:pt x="128" y="136"/>
                      <a:pt x="127" y="136"/>
                      <a:pt x="127" y="136"/>
                    </a:cubicBezTo>
                    <a:cubicBezTo>
                      <a:pt x="126" y="136"/>
                      <a:pt x="126" y="136"/>
                      <a:pt x="125" y="135"/>
                    </a:cubicBezTo>
                    <a:cubicBezTo>
                      <a:pt x="125" y="135"/>
                      <a:pt x="125" y="135"/>
                      <a:pt x="125" y="134"/>
                    </a:cubicBezTo>
                    <a:cubicBezTo>
                      <a:pt x="125" y="133"/>
                      <a:pt x="126" y="132"/>
                      <a:pt x="127" y="131"/>
                    </a:cubicBezTo>
                    <a:cubicBezTo>
                      <a:pt x="128" y="131"/>
                      <a:pt x="129" y="130"/>
                      <a:pt x="130" y="130"/>
                    </a:cubicBezTo>
                    <a:cubicBezTo>
                      <a:pt x="130" y="129"/>
                      <a:pt x="130" y="129"/>
                      <a:pt x="130" y="129"/>
                    </a:cubicBezTo>
                    <a:cubicBezTo>
                      <a:pt x="130" y="128"/>
                      <a:pt x="130" y="127"/>
                      <a:pt x="129" y="127"/>
                    </a:cubicBezTo>
                    <a:cubicBezTo>
                      <a:pt x="128" y="127"/>
                      <a:pt x="128" y="127"/>
                      <a:pt x="128" y="128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9"/>
                      <a:pt x="128" y="129"/>
                      <a:pt x="127" y="129"/>
                    </a:cubicBezTo>
                    <a:cubicBezTo>
                      <a:pt x="127" y="130"/>
                      <a:pt x="127" y="130"/>
                      <a:pt x="126" y="130"/>
                    </a:cubicBezTo>
                    <a:cubicBezTo>
                      <a:pt x="126" y="130"/>
                      <a:pt x="126" y="130"/>
                      <a:pt x="126" y="129"/>
                    </a:cubicBezTo>
                    <a:cubicBezTo>
                      <a:pt x="125" y="129"/>
                      <a:pt x="125" y="129"/>
                      <a:pt x="126" y="129"/>
                    </a:cubicBezTo>
                    <a:cubicBezTo>
                      <a:pt x="126" y="128"/>
                      <a:pt x="126" y="128"/>
                      <a:pt x="127" y="127"/>
                    </a:cubicBezTo>
                    <a:cubicBezTo>
                      <a:pt x="128" y="127"/>
                      <a:pt x="128" y="127"/>
                      <a:pt x="129" y="127"/>
                    </a:cubicBezTo>
                    <a:cubicBezTo>
                      <a:pt x="130" y="127"/>
                      <a:pt x="131" y="127"/>
                      <a:pt x="132" y="128"/>
                    </a:cubicBezTo>
                    <a:cubicBezTo>
                      <a:pt x="132" y="128"/>
                      <a:pt x="132" y="129"/>
                      <a:pt x="132" y="130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2" y="135"/>
                      <a:pt x="132" y="135"/>
                      <a:pt x="133" y="135"/>
                    </a:cubicBezTo>
                    <a:cubicBezTo>
                      <a:pt x="133" y="135"/>
                      <a:pt x="133" y="135"/>
                      <a:pt x="133" y="135"/>
                    </a:cubicBezTo>
                    <a:close/>
                    <a:moveTo>
                      <a:pt x="130" y="134"/>
                    </a:moveTo>
                    <a:cubicBezTo>
                      <a:pt x="130" y="131"/>
                      <a:pt x="130" y="131"/>
                      <a:pt x="130" y="131"/>
                    </a:cubicBezTo>
                    <a:cubicBezTo>
                      <a:pt x="129" y="131"/>
                      <a:pt x="128" y="131"/>
                      <a:pt x="128" y="131"/>
                    </a:cubicBezTo>
                    <a:cubicBezTo>
                      <a:pt x="127" y="132"/>
                      <a:pt x="126" y="132"/>
                      <a:pt x="126" y="133"/>
                    </a:cubicBezTo>
                    <a:cubicBezTo>
                      <a:pt x="126" y="134"/>
                      <a:pt x="127" y="135"/>
                      <a:pt x="128" y="135"/>
                    </a:cubicBezTo>
                    <a:cubicBezTo>
                      <a:pt x="128" y="135"/>
                      <a:pt x="129" y="135"/>
                      <a:pt x="130" y="134"/>
                    </a:cubicBezTo>
                    <a:close/>
                    <a:moveTo>
                      <a:pt x="144" y="136"/>
                    </a:move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40" y="136"/>
                      <a:pt x="141" y="135"/>
                      <a:pt x="141" y="135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0" y="128"/>
                    </a:cubicBezTo>
                    <a:cubicBezTo>
                      <a:pt x="140" y="128"/>
                      <a:pt x="140" y="128"/>
                      <a:pt x="139" y="128"/>
                    </a:cubicBezTo>
                    <a:cubicBezTo>
                      <a:pt x="138" y="128"/>
                      <a:pt x="138" y="128"/>
                      <a:pt x="137" y="129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5"/>
                      <a:pt x="137" y="136"/>
                      <a:pt x="138" y="136"/>
                    </a:cubicBezTo>
                    <a:cubicBezTo>
                      <a:pt x="138" y="136"/>
                      <a:pt x="138" y="136"/>
                      <a:pt x="138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4" y="136"/>
                      <a:pt x="134" y="136"/>
                    </a:cubicBezTo>
                    <a:cubicBezTo>
                      <a:pt x="134" y="136"/>
                      <a:pt x="135" y="135"/>
                      <a:pt x="135" y="135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29"/>
                      <a:pt x="135" y="128"/>
                      <a:pt x="134" y="128"/>
                    </a:cubicBezTo>
                    <a:cubicBezTo>
                      <a:pt x="134" y="128"/>
                      <a:pt x="134" y="128"/>
                      <a:pt x="133" y="128"/>
                    </a:cubicBez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36" y="127"/>
                      <a:pt x="136" y="127"/>
                      <a:pt x="136" y="127"/>
                    </a:cubicBezTo>
                    <a:cubicBezTo>
                      <a:pt x="136" y="128"/>
                      <a:pt x="136" y="128"/>
                      <a:pt x="136" y="128"/>
                    </a:cubicBezTo>
                    <a:cubicBezTo>
                      <a:pt x="137" y="127"/>
                      <a:pt x="138" y="127"/>
                      <a:pt x="140" y="127"/>
                    </a:cubicBezTo>
                    <a:cubicBezTo>
                      <a:pt x="141" y="127"/>
                      <a:pt x="142" y="127"/>
                      <a:pt x="142" y="130"/>
                    </a:cubicBezTo>
                    <a:cubicBezTo>
                      <a:pt x="142" y="135"/>
                      <a:pt x="142" y="135"/>
                      <a:pt x="142" y="135"/>
                    </a:cubicBezTo>
                    <a:cubicBezTo>
                      <a:pt x="143" y="135"/>
                      <a:pt x="143" y="136"/>
                      <a:pt x="144" y="136"/>
                    </a:cubicBezTo>
                    <a:cubicBezTo>
                      <a:pt x="144" y="136"/>
                      <a:pt x="144" y="136"/>
                      <a:pt x="144" y="136"/>
                    </a:cubicBezTo>
                    <a:close/>
                    <a:moveTo>
                      <a:pt x="155" y="134"/>
                    </a:moveTo>
                    <a:cubicBezTo>
                      <a:pt x="154" y="135"/>
                      <a:pt x="153" y="135"/>
                      <a:pt x="152" y="136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1" y="135"/>
                      <a:pt x="150" y="136"/>
                      <a:pt x="149" y="136"/>
                    </a:cubicBezTo>
                    <a:cubicBezTo>
                      <a:pt x="148" y="136"/>
                      <a:pt x="148" y="136"/>
                      <a:pt x="147" y="135"/>
                    </a:cubicBezTo>
                    <a:cubicBezTo>
                      <a:pt x="146" y="134"/>
                      <a:pt x="145" y="133"/>
                      <a:pt x="145" y="131"/>
                    </a:cubicBezTo>
                    <a:cubicBezTo>
                      <a:pt x="145" y="130"/>
                      <a:pt x="146" y="129"/>
                      <a:pt x="146" y="128"/>
                    </a:cubicBezTo>
                    <a:cubicBezTo>
                      <a:pt x="146" y="127"/>
                      <a:pt x="148" y="126"/>
                      <a:pt x="149" y="126"/>
                    </a:cubicBezTo>
                    <a:cubicBezTo>
                      <a:pt x="150" y="126"/>
                      <a:pt x="150" y="126"/>
                      <a:pt x="151" y="127"/>
                    </a:cubicBezTo>
                    <a:cubicBezTo>
                      <a:pt x="150" y="124"/>
                      <a:pt x="150" y="124"/>
                      <a:pt x="150" y="124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50" y="123"/>
                      <a:pt x="150" y="123"/>
                      <a:pt x="149" y="123"/>
                    </a:cubicBezTo>
                    <a:cubicBezTo>
                      <a:pt x="149" y="123"/>
                      <a:pt x="149" y="123"/>
                      <a:pt x="149" y="123"/>
                    </a:cubicBezTo>
                    <a:cubicBezTo>
                      <a:pt x="150" y="123"/>
                      <a:pt x="150" y="122"/>
                      <a:pt x="152" y="121"/>
                    </a:cubicBezTo>
                    <a:cubicBezTo>
                      <a:pt x="153" y="133"/>
                      <a:pt x="153" y="133"/>
                      <a:pt x="153" y="133"/>
                    </a:cubicBezTo>
                    <a:cubicBezTo>
                      <a:pt x="153" y="134"/>
                      <a:pt x="153" y="134"/>
                      <a:pt x="153" y="134"/>
                    </a:cubicBezTo>
                    <a:cubicBezTo>
                      <a:pt x="154" y="134"/>
                      <a:pt x="155" y="134"/>
                      <a:pt x="155" y="134"/>
                    </a:cubicBezTo>
                    <a:cubicBezTo>
                      <a:pt x="155" y="134"/>
                      <a:pt x="155" y="134"/>
                      <a:pt x="155" y="134"/>
                    </a:cubicBezTo>
                    <a:close/>
                    <a:moveTo>
                      <a:pt x="152" y="133"/>
                    </a:moveTo>
                    <a:cubicBezTo>
                      <a:pt x="152" y="129"/>
                      <a:pt x="152" y="129"/>
                      <a:pt x="152" y="129"/>
                    </a:cubicBezTo>
                    <a:cubicBezTo>
                      <a:pt x="152" y="128"/>
                      <a:pt x="151" y="128"/>
                      <a:pt x="151" y="127"/>
                    </a:cubicBezTo>
                    <a:cubicBezTo>
                      <a:pt x="150" y="127"/>
                      <a:pt x="150" y="127"/>
                      <a:pt x="149" y="127"/>
                    </a:cubicBezTo>
                    <a:cubicBezTo>
                      <a:pt x="148" y="127"/>
                      <a:pt x="148" y="127"/>
                      <a:pt x="147" y="128"/>
                    </a:cubicBezTo>
                    <a:cubicBezTo>
                      <a:pt x="147" y="129"/>
                      <a:pt x="147" y="130"/>
                      <a:pt x="147" y="131"/>
                    </a:cubicBezTo>
                    <a:cubicBezTo>
                      <a:pt x="147" y="132"/>
                      <a:pt x="147" y="133"/>
                      <a:pt x="148" y="134"/>
                    </a:cubicBezTo>
                    <a:cubicBezTo>
                      <a:pt x="148" y="135"/>
                      <a:pt x="149" y="135"/>
                      <a:pt x="150" y="135"/>
                    </a:cubicBezTo>
                    <a:cubicBezTo>
                      <a:pt x="150" y="135"/>
                      <a:pt x="150" y="135"/>
                      <a:pt x="151" y="135"/>
                    </a:cubicBezTo>
                    <a:cubicBezTo>
                      <a:pt x="152" y="134"/>
                      <a:pt x="152" y="134"/>
                      <a:pt x="152" y="133"/>
                    </a:cubicBezTo>
                    <a:close/>
                    <a:moveTo>
                      <a:pt x="170" y="122"/>
                    </a:move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69" y="121"/>
                      <a:pt x="169" y="120"/>
                      <a:pt x="169" y="120"/>
                    </a:cubicBezTo>
                    <a:cubicBezTo>
                      <a:pt x="168" y="120"/>
                      <a:pt x="168" y="120"/>
                      <a:pt x="167" y="120"/>
                    </a:cubicBezTo>
                    <a:cubicBezTo>
                      <a:pt x="165" y="120"/>
                      <a:pt x="165" y="120"/>
                      <a:pt x="165" y="120"/>
                    </a:cubicBezTo>
                    <a:cubicBezTo>
                      <a:pt x="167" y="131"/>
                      <a:pt x="167" y="131"/>
                      <a:pt x="167" y="131"/>
                    </a:cubicBezTo>
                    <a:cubicBezTo>
                      <a:pt x="168" y="132"/>
                      <a:pt x="168" y="132"/>
                      <a:pt x="170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4" y="133"/>
                      <a:pt x="164" y="133"/>
                      <a:pt x="164" y="133"/>
                    </a:cubicBezTo>
                    <a:cubicBezTo>
                      <a:pt x="165" y="133"/>
                      <a:pt x="166" y="132"/>
                      <a:pt x="165" y="131"/>
                    </a:cubicBezTo>
                    <a:cubicBezTo>
                      <a:pt x="163" y="121"/>
                      <a:pt x="163" y="121"/>
                      <a:pt x="163" y="121"/>
                    </a:cubicBezTo>
                    <a:cubicBezTo>
                      <a:pt x="161" y="121"/>
                      <a:pt x="161" y="121"/>
                      <a:pt x="161" y="121"/>
                    </a:cubicBezTo>
                    <a:cubicBezTo>
                      <a:pt x="160" y="121"/>
                      <a:pt x="160" y="122"/>
                      <a:pt x="159" y="122"/>
                    </a:cubicBezTo>
                    <a:cubicBezTo>
                      <a:pt x="159" y="123"/>
                      <a:pt x="159" y="123"/>
                      <a:pt x="159" y="124"/>
                    </a:cubicBezTo>
                    <a:cubicBezTo>
                      <a:pt x="159" y="124"/>
                      <a:pt x="159" y="124"/>
                      <a:pt x="159" y="124"/>
                    </a:cubicBezTo>
                    <a:cubicBezTo>
                      <a:pt x="158" y="121"/>
                      <a:pt x="158" y="121"/>
                      <a:pt x="158" y="121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0" y="122"/>
                      <a:pt x="170" y="122"/>
                      <a:pt x="170" y="122"/>
                    </a:cubicBezTo>
                    <a:close/>
                    <a:moveTo>
                      <a:pt x="181" y="125"/>
                    </a:moveTo>
                    <a:cubicBezTo>
                      <a:pt x="181" y="126"/>
                      <a:pt x="181" y="127"/>
                      <a:pt x="180" y="128"/>
                    </a:cubicBezTo>
                    <a:cubicBezTo>
                      <a:pt x="180" y="129"/>
                      <a:pt x="179" y="130"/>
                      <a:pt x="178" y="130"/>
                    </a:cubicBezTo>
                    <a:cubicBezTo>
                      <a:pt x="177" y="131"/>
                      <a:pt x="176" y="131"/>
                      <a:pt x="176" y="130"/>
                    </a:cubicBezTo>
                    <a:cubicBezTo>
                      <a:pt x="174" y="129"/>
                      <a:pt x="174" y="128"/>
                      <a:pt x="173" y="127"/>
                    </a:cubicBezTo>
                    <a:cubicBezTo>
                      <a:pt x="173" y="126"/>
                      <a:pt x="173" y="125"/>
                      <a:pt x="173" y="123"/>
                    </a:cubicBezTo>
                    <a:cubicBezTo>
                      <a:pt x="174" y="122"/>
                      <a:pt x="174" y="121"/>
                      <a:pt x="176" y="121"/>
                    </a:cubicBezTo>
                    <a:cubicBezTo>
                      <a:pt x="177" y="121"/>
                      <a:pt x="178" y="121"/>
                      <a:pt x="178" y="121"/>
                    </a:cubicBezTo>
                    <a:cubicBezTo>
                      <a:pt x="179" y="121"/>
                      <a:pt x="180" y="122"/>
                      <a:pt x="180" y="123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6"/>
                      <a:pt x="176" y="127"/>
                      <a:pt x="176" y="128"/>
                    </a:cubicBezTo>
                    <a:cubicBezTo>
                      <a:pt x="177" y="129"/>
                      <a:pt x="178" y="129"/>
                      <a:pt x="179" y="128"/>
                    </a:cubicBezTo>
                    <a:cubicBezTo>
                      <a:pt x="180" y="128"/>
                      <a:pt x="180" y="127"/>
                      <a:pt x="181" y="127"/>
                    </a:cubicBez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lose/>
                    <a:moveTo>
                      <a:pt x="178" y="123"/>
                    </a:moveTo>
                    <a:cubicBezTo>
                      <a:pt x="177" y="122"/>
                      <a:pt x="176" y="121"/>
                      <a:pt x="175" y="122"/>
                    </a:cubicBezTo>
                    <a:cubicBezTo>
                      <a:pt x="174" y="122"/>
                      <a:pt x="173" y="123"/>
                      <a:pt x="173" y="125"/>
                    </a:cubicBezTo>
                    <a:cubicBezTo>
                      <a:pt x="178" y="123"/>
                      <a:pt x="178" y="123"/>
                      <a:pt x="178" y="123"/>
                    </a:cubicBezTo>
                    <a:close/>
                    <a:moveTo>
                      <a:pt x="190" y="122"/>
                    </a:moveTo>
                    <a:cubicBezTo>
                      <a:pt x="190" y="123"/>
                      <a:pt x="190" y="124"/>
                      <a:pt x="190" y="125"/>
                    </a:cubicBezTo>
                    <a:cubicBezTo>
                      <a:pt x="189" y="126"/>
                      <a:pt x="188" y="127"/>
                      <a:pt x="188" y="127"/>
                    </a:cubicBezTo>
                    <a:cubicBezTo>
                      <a:pt x="186" y="127"/>
                      <a:pt x="186" y="127"/>
                      <a:pt x="184" y="127"/>
                    </a:cubicBezTo>
                    <a:cubicBezTo>
                      <a:pt x="183" y="127"/>
                      <a:pt x="182" y="125"/>
                      <a:pt x="182" y="124"/>
                    </a:cubicBezTo>
                    <a:cubicBezTo>
                      <a:pt x="182" y="123"/>
                      <a:pt x="182" y="122"/>
                      <a:pt x="182" y="121"/>
                    </a:cubicBezTo>
                    <a:cubicBezTo>
                      <a:pt x="182" y="119"/>
                      <a:pt x="183" y="119"/>
                      <a:pt x="185" y="118"/>
                    </a:cubicBezTo>
                    <a:cubicBezTo>
                      <a:pt x="186" y="118"/>
                      <a:pt x="186" y="118"/>
                      <a:pt x="187" y="118"/>
                    </a:cubicBezTo>
                    <a:cubicBezTo>
                      <a:pt x="188" y="118"/>
                      <a:pt x="188" y="118"/>
                      <a:pt x="188" y="119"/>
                    </a:cubicBezTo>
                    <a:cubicBezTo>
                      <a:pt x="188" y="119"/>
                      <a:pt x="188" y="119"/>
                      <a:pt x="188" y="119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88" y="120"/>
                      <a:pt x="188" y="120"/>
                      <a:pt x="187" y="120"/>
                    </a:cubicBezTo>
                    <a:cubicBezTo>
                      <a:pt x="187" y="120"/>
                      <a:pt x="187" y="119"/>
                      <a:pt x="187" y="119"/>
                    </a:cubicBezTo>
                    <a:cubicBezTo>
                      <a:pt x="187" y="119"/>
                      <a:pt x="186" y="119"/>
                      <a:pt x="186" y="119"/>
                    </a:cubicBezTo>
                    <a:cubicBezTo>
                      <a:pt x="186" y="119"/>
                      <a:pt x="185" y="119"/>
                      <a:pt x="185" y="119"/>
                    </a:cubicBezTo>
                    <a:cubicBezTo>
                      <a:pt x="184" y="119"/>
                      <a:pt x="183" y="120"/>
                      <a:pt x="183" y="121"/>
                    </a:cubicBezTo>
                    <a:cubicBezTo>
                      <a:pt x="183" y="121"/>
                      <a:pt x="183" y="122"/>
                      <a:pt x="184" y="123"/>
                    </a:cubicBezTo>
                    <a:cubicBezTo>
                      <a:pt x="184" y="124"/>
                      <a:pt x="185" y="125"/>
                      <a:pt x="186" y="125"/>
                    </a:cubicBezTo>
                    <a:cubicBezTo>
                      <a:pt x="186" y="126"/>
                      <a:pt x="187" y="126"/>
                      <a:pt x="188" y="126"/>
                    </a:cubicBezTo>
                    <a:cubicBezTo>
                      <a:pt x="189" y="125"/>
                      <a:pt x="190" y="124"/>
                      <a:pt x="190" y="122"/>
                    </a:cubicBezTo>
                    <a:cubicBezTo>
                      <a:pt x="190" y="122"/>
                      <a:pt x="190" y="122"/>
                      <a:pt x="190" y="122"/>
                    </a:cubicBezTo>
                    <a:close/>
                    <a:moveTo>
                      <a:pt x="202" y="120"/>
                    </a:moveTo>
                    <a:cubicBezTo>
                      <a:pt x="198" y="122"/>
                      <a:pt x="198" y="122"/>
                      <a:pt x="198" y="122"/>
                    </a:cubicBezTo>
                    <a:cubicBezTo>
                      <a:pt x="198" y="121"/>
                      <a:pt x="198" y="121"/>
                      <a:pt x="198" y="121"/>
                    </a:cubicBezTo>
                    <a:cubicBezTo>
                      <a:pt x="199" y="121"/>
                      <a:pt x="199" y="121"/>
                      <a:pt x="198" y="120"/>
                    </a:cubicBezTo>
                    <a:cubicBezTo>
                      <a:pt x="196" y="115"/>
                      <a:pt x="196" y="115"/>
                      <a:pt x="196" y="115"/>
                    </a:cubicBezTo>
                    <a:cubicBezTo>
                      <a:pt x="195" y="114"/>
                      <a:pt x="195" y="114"/>
                      <a:pt x="194" y="115"/>
                    </a:cubicBezTo>
                    <a:cubicBezTo>
                      <a:pt x="193" y="115"/>
                      <a:pt x="192" y="116"/>
                      <a:pt x="192" y="117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5" y="122"/>
                      <a:pt x="196" y="122"/>
                      <a:pt x="196" y="122"/>
                    </a:cubicBezTo>
                    <a:cubicBezTo>
                      <a:pt x="196" y="122"/>
                      <a:pt x="196" y="122"/>
                      <a:pt x="196" y="122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2" y="124"/>
                      <a:pt x="192" y="124"/>
                      <a:pt x="192" y="124"/>
                    </a:cubicBezTo>
                    <a:cubicBezTo>
                      <a:pt x="193" y="123"/>
                      <a:pt x="193" y="123"/>
                      <a:pt x="192" y="122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7" y="113"/>
                      <a:pt x="187" y="113"/>
                      <a:pt x="187" y="113"/>
                    </a:cubicBezTo>
                    <a:cubicBezTo>
                      <a:pt x="187" y="113"/>
                      <a:pt x="186" y="113"/>
                      <a:pt x="186" y="113"/>
                    </a:cubicBezTo>
                    <a:cubicBezTo>
                      <a:pt x="186" y="113"/>
                      <a:pt x="186" y="113"/>
                      <a:pt x="186" y="113"/>
                    </a:cubicBezTo>
                    <a:cubicBezTo>
                      <a:pt x="186" y="112"/>
                      <a:pt x="187" y="111"/>
                      <a:pt x="188" y="110"/>
                    </a:cubicBezTo>
                    <a:cubicBezTo>
                      <a:pt x="191" y="116"/>
                      <a:pt x="191" y="116"/>
                      <a:pt x="191" y="116"/>
                    </a:cubicBezTo>
                    <a:cubicBezTo>
                      <a:pt x="192" y="114"/>
                      <a:pt x="192" y="113"/>
                      <a:pt x="193" y="113"/>
                    </a:cubicBezTo>
                    <a:cubicBezTo>
                      <a:pt x="195" y="112"/>
                      <a:pt x="196" y="113"/>
                      <a:pt x="197" y="115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0" y="120"/>
                      <a:pt x="201" y="120"/>
                      <a:pt x="202" y="120"/>
                    </a:cubicBezTo>
                    <a:cubicBezTo>
                      <a:pt x="202" y="120"/>
                      <a:pt x="202" y="120"/>
                      <a:pt x="202" y="120"/>
                    </a:cubicBezTo>
                    <a:close/>
                    <a:moveTo>
                      <a:pt x="212" y="114"/>
                    </a:move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8" y="116"/>
                      <a:pt x="208" y="116"/>
                      <a:pt x="208" y="116"/>
                    </a:cubicBezTo>
                    <a:cubicBezTo>
                      <a:pt x="209" y="115"/>
                      <a:pt x="209" y="115"/>
                      <a:pt x="209" y="114"/>
                    </a:cubicBezTo>
                    <a:cubicBezTo>
                      <a:pt x="206" y="110"/>
                      <a:pt x="206" y="110"/>
                      <a:pt x="206" y="110"/>
                    </a:cubicBezTo>
                    <a:cubicBezTo>
                      <a:pt x="206" y="109"/>
                      <a:pt x="206" y="109"/>
                      <a:pt x="206" y="109"/>
                    </a:cubicBezTo>
                    <a:cubicBezTo>
                      <a:pt x="205" y="109"/>
                      <a:pt x="205" y="109"/>
                      <a:pt x="204" y="109"/>
                    </a:cubicBezTo>
                    <a:cubicBezTo>
                      <a:pt x="203" y="110"/>
                      <a:pt x="202" y="111"/>
                      <a:pt x="202" y="111"/>
                    </a:cubicBezTo>
                    <a:cubicBezTo>
                      <a:pt x="205" y="116"/>
                      <a:pt x="205" y="116"/>
                      <a:pt x="205" y="116"/>
                    </a:cubicBezTo>
                    <a:cubicBezTo>
                      <a:pt x="206" y="117"/>
                      <a:pt x="206" y="117"/>
                      <a:pt x="207" y="117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3" y="119"/>
                      <a:pt x="203" y="119"/>
                      <a:pt x="203" y="119"/>
                    </a:cubicBezTo>
                    <a:cubicBezTo>
                      <a:pt x="204" y="119"/>
                      <a:pt x="204" y="118"/>
                      <a:pt x="204" y="117"/>
                    </a:cubicBezTo>
                    <a:cubicBezTo>
                      <a:pt x="201" y="113"/>
                      <a:pt x="201" y="113"/>
                      <a:pt x="201" y="113"/>
                    </a:cubicBezTo>
                    <a:cubicBezTo>
                      <a:pt x="200" y="112"/>
                      <a:pt x="200" y="112"/>
                      <a:pt x="200" y="112"/>
                    </a:cubicBezTo>
                    <a:cubicBezTo>
                      <a:pt x="200" y="112"/>
                      <a:pt x="200" y="112"/>
                      <a:pt x="199" y="113"/>
                    </a:cubicBezTo>
                    <a:cubicBezTo>
                      <a:pt x="199" y="112"/>
                      <a:pt x="199" y="112"/>
                      <a:pt x="199" y="112"/>
                    </a:cubicBezTo>
                    <a:cubicBezTo>
                      <a:pt x="201" y="110"/>
                      <a:pt x="201" y="110"/>
                      <a:pt x="201" y="110"/>
                    </a:cubicBezTo>
                    <a:cubicBezTo>
                      <a:pt x="202" y="111"/>
                      <a:pt x="202" y="111"/>
                      <a:pt x="202" y="111"/>
                    </a:cubicBezTo>
                    <a:cubicBezTo>
                      <a:pt x="202" y="110"/>
                      <a:pt x="203" y="109"/>
                      <a:pt x="204" y="108"/>
                    </a:cubicBezTo>
                    <a:cubicBezTo>
                      <a:pt x="205" y="107"/>
                      <a:pt x="206" y="108"/>
                      <a:pt x="208" y="110"/>
                    </a:cubicBezTo>
                    <a:cubicBezTo>
                      <a:pt x="210" y="114"/>
                      <a:pt x="210" y="114"/>
                      <a:pt x="210" y="114"/>
                    </a:cubicBezTo>
                    <a:cubicBezTo>
                      <a:pt x="210" y="114"/>
                      <a:pt x="211" y="115"/>
                      <a:pt x="212" y="114"/>
                    </a:cubicBezTo>
                    <a:cubicBezTo>
                      <a:pt x="212" y="114"/>
                      <a:pt x="212" y="114"/>
                      <a:pt x="212" y="114"/>
                    </a:cubicBezTo>
                    <a:close/>
                    <a:moveTo>
                      <a:pt x="218" y="104"/>
                    </a:moveTo>
                    <a:cubicBezTo>
                      <a:pt x="219" y="105"/>
                      <a:pt x="219" y="107"/>
                      <a:pt x="219" y="108"/>
                    </a:cubicBezTo>
                    <a:cubicBezTo>
                      <a:pt x="219" y="109"/>
                      <a:pt x="218" y="110"/>
                      <a:pt x="217" y="111"/>
                    </a:cubicBezTo>
                    <a:cubicBezTo>
                      <a:pt x="216" y="112"/>
                      <a:pt x="215" y="112"/>
                      <a:pt x="214" y="112"/>
                    </a:cubicBezTo>
                    <a:cubicBezTo>
                      <a:pt x="212" y="111"/>
                      <a:pt x="211" y="111"/>
                      <a:pt x="210" y="110"/>
                    </a:cubicBezTo>
                    <a:cubicBezTo>
                      <a:pt x="210" y="109"/>
                      <a:pt x="209" y="107"/>
                      <a:pt x="209" y="106"/>
                    </a:cubicBezTo>
                    <a:cubicBezTo>
                      <a:pt x="209" y="105"/>
                      <a:pt x="210" y="104"/>
                      <a:pt x="211" y="103"/>
                    </a:cubicBezTo>
                    <a:cubicBezTo>
                      <a:pt x="212" y="102"/>
                      <a:pt x="214" y="102"/>
                      <a:pt x="215" y="102"/>
                    </a:cubicBezTo>
                    <a:cubicBezTo>
                      <a:pt x="216" y="102"/>
                      <a:pt x="217" y="103"/>
                      <a:pt x="218" y="104"/>
                    </a:cubicBezTo>
                    <a:close/>
                    <a:moveTo>
                      <a:pt x="217" y="106"/>
                    </a:moveTo>
                    <a:cubicBezTo>
                      <a:pt x="216" y="105"/>
                      <a:pt x="215" y="104"/>
                      <a:pt x="214" y="103"/>
                    </a:cubicBezTo>
                    <a:cubicBezTo>
                      <a:pt x="213" y="103"/>
                      <a:pt x="212" y="103"/>
                      <a:pt x="212" y="103"/>
                    </a:cubicBezTo>
                    <a:cubicBezTo>
                      <a:pt x="211" y="104"/>
                      <a:pt x="211" y="105"/>
                      <a:pt x="211" y="105"/>
                    </a:cubicBezTo>
                    <a:cubicBezTo>
                      <a:pt x="211" y="106"/>
                      <a:pt x="211" y="107"/>
                      <a:pt x="212" y="108"/>
                    </a:cubicBezTo>
                    <a:cubicBezTo>
                      <a:pt x="212" y="109"/>
                      <a:pt x="213" y="110"/>
                      <a:pt x="214" y="110"/>
                    </a:cubicBezTo>
                    <a:cubicBezTo>
                      <a:pt x="215" y="111"/>
                      <a:pt x="216" y="111"/>
                      <a:pt x="217" y="110"/>
                    </a:cubicBezTo>
                    <a:cubicBezTo>
                      <a:pt x="218" y="110"/>
                      <a:pt x="218" y="109"/>
                      <a:pt x="218" y="108"/>
                    </a:cubicBezTo>
                    <a:cubicBezTo>
                      <a:pt x="218" y="107"/>
                      <a:pt x="217" y="107"/>
                      <a:pt x="217" y="106"/>
                    </a:cubicBezTo>
                    <a:close/>
                    <a:moveTo>
                      <a:pt x="226" y="103"/>
                    </a:moveTo>
                    <a:cubicBezTo>
                      <a:pt x="222" y="107"/>
                      <a:pt x="222" y="107"/>
                      <a:pt x="222" y="107"/>
                    </a:cubicBezTo>
                    <a:cubicBezTo>
                      <a:pt x="222" y="106"/>
                      <a:pt x="222" y="106"/>
                      <a:pt x="222" y="106"/>
                    </a:cubicBezTo>
                    <a:cubicBezTo>
                      <a:pt x="223" y="105"/>
                      <a:pt x="223" y="105"/>
                      <a:pt x="223" y="104"/>
                    </a:cubicBezTo>
                    <a:cubicBezTo>
                      <a:pt x="216" y="97"/>
                      <a:pt x="216" y="97"/>
                      <a:pt x="216" y="97"/>
                    </a:cubicBezTo>
                    <a:cubicBezTo>
                      <a:pt x="216" y="96"/>
                      <a:pt x="216" y="96"/>
                      <a:pt x="215" y="96"/>
                    </a:cubicBezTo>
                    <a:cubicBezTo>
                      <a:pt x="215" y="96"/>
                      <a:pt x="215" y="96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7"/>
                      <a:pt x="214" y="97"/>
                      <a:pt x="214" y="97"/>
                    </a:cubicBezTo>
                    <a:cubicBezTo>
                      <a:pt x="214" y="96"/>
                      <a:pt x="215" y="95"/>
                      <a:pt x="216" y="94"/>
                    </a:cubicBezTo>
                    <a:cubicBezTo>
                      <a:pt x="224" y="103"/>
                      <a:pt x="224" y="103"/>
                      <a:pt x="224" y="103"/>
                    </a:cubicBezTo>
                    <a:cubicBezTo>
                      <a:pt x="224" y="104"/>
                      <a:pt x="225" y="104"/>
                      <a:pt x="226" y="103"/>
                    </a:cubicBezTo>
                    <a:cubicBezTo>
                      <a:pt x="226" y="103"/>
                      <a:pt x="226" y="103"/>
                      <a:pt x="226" y="103"/>
                    </a:cubicBezTo>
                    <a:close/>
                    <a:moveTo>
                      <a:pt x="231" y="93"/>
                    </a:moveTo>
                    <a:cubicBezTo>
                      <a:pt x="232" y="94"/>
                      <a:pt x="232" y="95"/>
                      <a:pt x="232" y="96"/>
                    </a:cubicBezTo>
                    <a:cubicBezTo>
                      <a:pt x="232" y="97"/>
                      <a:pt x="232" y="99"/>
                      <a:pt x="230" y="99"/>
                    </a:cubicBezTo>
                    <a:cubicBezTo>
                      <a:pt x="230" y="100"/>
                      <a:pt x="228" y="101"/>
                      <a:pt x="227" y="101"/>
                    </a:cubicBezTo>
                    <a:cubicBezTo>
                      <a:pt x="226" y="101"/>
                      <a:pt x="225" y="100"/>
                      <a:pt x="224" y="99"/>
                    </a:cubicBezTo>
                    <a:cubicBezTo>
                      <a:pt x="223" y="98"/>
                      <a:pt x="222" y="97"/>
                      <a:pt x="222" y="96"/>
                    </a:cubicBezTo>
                    <a:cubicBezTo>
                      <a:pt x="222" y="95"/>
                      <a:pt x="223" y="93"/>
                      <a:pt x="224" y="93"/>
                    </a:cubicBezTo>
                    <a:cubicBezTo>
                      <a:pt x="225" y="92"/>
                      <a:pt x="226" y="91"/>
                      <a:pt x="227" y="91"/>
                    </a:cubicBezTo>
                    <a:cubicBezTo>
                      <a:pt x="229" y="91"/>
                      <a:pt x="230" y="91"/>
                      <a:pt x="231" y="93"/>
                    </a:cubicBezTo>
                    <a:close/>
                    <a:moveTo>
                      <a:pt x="230" y="95"/>
                    </a:moveTo>
                    <a:cubicBezTo>
                      <a:pt x="229" y="94"/>
                      <a:pt x="228" y="93"/>
                      <a:pt x="227" y="93"/>
                    </a:cubicBezTo>
                    <a:cubicBezTo>
                      <a:pt x="226" y="92"/>
                      <a:pt x="225" y="92"/>
                      <a:pt x="224" y="93"/>
                    </a:cubicBezTo>
                    <a:cubicBezTo>
                      <a:pt x="224" y="93"/>
                      <a:pt x="224" y="94"/>
                      <a:pt x="224" y="95"/>
                    </a:cubicBezTo>
                    <a:cubicBezTo>
                      <a:pt x="224" y="96"/>
                      <a:pt x="224" y="96"/>
                      <a:pt x="225" y="97"/>
                    </a:cubicBezTo>
                    <a:cubicBezTo>
                      <a:pt x="226" y="98"/>
                      <a:pt x="227" y="99"/>
                      <a:pt x="228" y="99"/>
                    </a:cubicBezTo>
                    <a:cubicBezTo>
                      <a:pt x="229" y="99"/>
                      <a:pt x="230" y="99"/>
                      <a:pt x="231" y="99"/>
                    </a:cubicBezTo>
                    <a:cubicBezTo>
                      <a:pt x="232" y="98"/>
                      <a:pt x="232" y="97"/>
                      <a:pt x="231" y="97"/>
                    </a:cubicBezTo>
                    <a:cubicBezTo>
                      <a:pt x="231" y="96"/>
                      <a:pt x="231" y="95"/>
                      <a:pt x="230" y="95"/>
                    </a:cubicBezTo>
                    <a:close/>
                    <a:moveTo>
                      <a:pt x="236" y="82"/>
                    </a:move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3"/>
                      <a:pt x="236" y="84"/>
                      <a:pt x="236" y="84"/>
                    </a:cubicBezTo>
                    <a:cubicBezTo>
                      <a:pt x="237" y="85"/>
                      <a:pt x="237" y="85"/>
                      <a:pt x="237" y="87"/>
                    </a:cubicBezTo>
                    <a:cubicBezTo>
                      <a:pt x="237" y="87"/>
                      <a:pt x="237" y="88"/>
                      <a:pt x="236" y="89"/>
                    </a:cubicBezTo>
                    <a:cubicBezTo>
                      <a:pt x="236" y="89"/>
                      <a:pt x="236" y="89"/>
                      <a:pt x="236" y="90"/>
                    </a:cubicBezTo>
                    <a:cubicBezTo>
                      <a:pt x="236" y="91"/>
                      <a:pt x="236" y="91"/>
                      <a:pt x="236" y="91"/>
                    </a:cubicBezTo>
                    <a:cubicBezTo>
                      <a:pt x="236" y="92"/>
                      <a:pt x="237" y="91"/>
                      <a:pt x="238" y="90"/>
                    </a:cubicBezTo>
                    <a:cubicBezTo>
                      <a:pt x="239" y="89"/>
                      <a:pt x="240" y="88"/>
                      <a:pt x="240" y="87"/>
                    </a:cubicBezTo>
                    <a:cubicBezTo>
                      <a:pt x="241" y="87"/>
                      <a:pt x="242" y="87"/>
                      <a:pt x="242" y="88"/>
                    </a:cubicBezTo>
                    <a:cubicBezTo>
                      <a:pt x="243" y="88"/>
                      <a:pt x="243" y="89"/>
                      <a:pt x="243" y="91"/>
                    </a:cubicBezTo>
                    <a:cubicBezTo>
                      <a:pt x="243" y="92"/>
                      <a:pt x="242" y="93"/>
                      <a:pt x="242" y="94"/>
                    </a:cubicBezTo>
                    <a:cubicBezTo>
                      <a:pt x="241" y="95"/>
                      <a:pt x="240" y="95"/>
                      <a:pt x="239" y="96"/>
                    </a:cubicBezTo>
                    <a:cubicBezTo>
                      <a:pt x="238" y="96"/>
                      <a:pt x="238" y="96"/>
                      <a:pt x="238" y="95"/>
                    </a:cubicBezTo>
                    <a:cubicBezTo>
                      <a:pt x="237" y="95"/>
                      <a:pt x="237" y="95"/>
                      <a:pt x="237" y="94"/>
                    </a:cubicBezTo>
                    <a:cubicBezTo>
                      <a:pt x="237" y="94"/>
                      <a:pt x="237" y="93"/>
                      <a:pt x="237" y="93"/>
                    </a:cubicBezTo>
                    <a:cubicBezTo>
                      <a:pt x="237" y="93"/>
                      <a:pt x="237" y="93"/>
                      <a:pt x="236" y="93"/>
                    </a:cubicBezTo>
                    <a:cubicBezTo>
                      <a:pt x="236" y="93"/>
                      <a:pt x="236" y="93"/>
                      <a:pt x="236" y="93"/>
                    </a:cubicBezTo>
                    <a:cubicBezTo>
                      <a:pt x="235" y="93"/>
                      <a:pt x="235" y="92"/>
                      <a:pt x="235" y="92"/>
                    </a:cubicBezTo>
                    <a:cubicBezTo>
                      <a:pt x="235" y="91"/>
                      <a:pt x="235" y="91"/>
                      <a:pt x="235" y="90"/>
                    </a:cubicBezTo>
                    <a:cubicBezTo>
                      <a:pt x="234" y="91"/>
                      <a:pt x="233" y="91"/>
                      <a:pt x="232" y="90"/>
                    </a:cubicBezTo>
                    <a:cubicBezTo>
                      <a:pt x="231" y="89"/>
                      <a:pt x="230" y="89"/>
                      <a:pt x="230" y="87"/>
                    </a:cubicBezTo>
                    <a:cubicBezTo>
                      <a:pt x="230" y="87"/>
                      <a:pt x="231" y="85"/>
                      <a:pt x="232" y="85"/>
                    </a:cubicBezTo>
                    <a:cubicBezTo>
                      <a:pt x="232" y="84"/>
                      <a:pt x="232" y="84"/>
                      <a:pt x="233" y="83"/>
                    </a:cubicBezTo>
                    <a:cubicBezTo>
                      <a:pt x="234" y="83"/>
                      <a:pt x="234" y="83"/>
                      <a:pt x="234" y="83"/>
                    </a:cubicBezTo>
                    <a:cubicBezTo>
                      <a:pt x="235" y="81"/>
                      <a:pt x="235" y="81"/>
                      <a:pt x="235" y="81"/>
                    </a:cubicBezTo>
                    <a:cubicBezTo>
                      <a:pt x="236" y="82"/>
                      <a:pt x="236" y="82"/>
                      <a:pt x="236" y="82"/>
                    </a:cubicBezTo>
                    <a:close/>
                    <a:moveTo>
                      <a:pt x="236" y="86"/>
                    </a:moveTo>
                    <a:cubicBezTo>
                      <a:pt x="235" y="86"/>
                      <a:pt x="234" y="85"/>
                      <a:pt x="234" y="85"/>
                    </a:cubicBezTo>
                    <a:cubicBezTo>
                      <a:pt x="233" y="85"/>
                      <a:pt x="232" y="85"/>
                      <a:pt x="232" y="85"/>
                    </a:cubicBezTo>
                    <a:cubicBezTo>
                      <a:pt x="231" y="86"/>
                      <a:pt x="231" y="86"/>
                      <a:pt x="231" y="87"/>
                    </a:cubicBezTo>
                    <a:cubicBezTo>
                      <a:pt x="231" y="87"/>
                      <a:pt x="232" y="87"/>
                      <a:pt x="232" y="88"/>
                    </a:cubicBezTo>
                    <a:cubicBezTo>
                      <a:pt x="233" y="88"/>
                      <a:pt x="233" y="89"/>
                      <a:pt x="234" y="89"/>
                    </a:cubicBezTo>
                    <a:cubicBezTo>
                      <a:pt x="235" y="89"/>
                      <a:pt x="235" y="89"/>
                      <a:pt x="236" y="89"/>
                    </a:cubicBezTo>
                    <a:cubicBezTo>
                      <a:pt x="237" y="88"/>
                      <a:pt x="236" y="87"/>
                      <a:pt x="236" y="86"/>
                    </a:cubicBezTo>
                    <a:close/>
                    <a:moveTo>
                      <a:pt x="242" y="89"/>
                    </a:moveTo>
                    <a:cubicBezTo>
                      <a:pt x="242" y="89"/>
                      <a:pt x="241" y="89"/>
                      <a:pt x="240" y="89"/>
                    </a:cubicBezTo>
                    <a:cubicBezTo>
                      <a:pt x="240" y="90"/>
                      <a:pt x="240" y="90"/>
                      <a:pt x="239" y="91"/>
                    </a:cubicBezTo>
                    <a:cubicBezTo>
                      <a:pt x="238" y="92"/>
                      <a:pt x="238" y="92"/>
                      <a:pt x="237" y="93"/>
                    </a:cubicBezTo>
                    <a:cubicBezTo>
                      <a:pt x="237" y="93"/>
                      <a:pt x="238" y="94"/>
                      <a:pt x="238" y="95"/>
                    </a:cubicBezTo>
                    <a:cubicBezTo>
                      <a:pt x="239" y="95"/>
                      <a:pt x="240" y="95"/>
                      <a:pt x="241" y="93"/>
                    </a:cubicBezTo>
                    <a:cubicBezTo>
                      <a:pt x="242" y="93"/>
                      <a:pt x="242" y="91"/>
                      <a:pt x="243" y="91"/>
                    </a:cubicBezTo>
                    <a:cubicBezTo>
                      <a:pt x="243" y="90"/>
                      <a:pt x="242" y="89"/>
                      <a:pt x="242" y="89"/>
                    </a:cubicBezTo>
                    <a:close/>
                    <a:moveTo>
                      <a:pt x="242" y="73"/>
                    </a:moveTo>
                    <a:cubicBezTo>
                      <a:pt x="242" y="73"/>
                      <a:pt x="242" y="73"/>
                      <a:pt x="242" y="74"/>
                    </a:cubicBezTo>
                    <a:cubicBezTo>
                      <a:pt x="242" y="74"/>
                      <a:pt x="242" y="74"/>
                      <a:pt x="242" y="75"/>
                    </a:cubicBezTo>
                    <a:cubicBezTo>
                      <a:pt x="247" y="83"/>
                      <a:pt x="247" y="83"/>
                      <a:pt x="247" y="83"/>
                    </a:cubicBezTo>
                    <a:cubicBezTo>
                      <a:pt x="248" y="85"/>
                      <a:pt x="248" y="86"/>
                      <a:pt x="247" y="87"/>
                    </a:cubicBezTo>
                    <a:cubicBezTo>
                      <a:pt x="246" y="88"/>
                      <a:pt x="246" y="88"/>
                      <a:pt x="245" y="87"/>
                    </a:cubicBezTo>
                    <a:cubicBezTo>
                      <a:pt x="245" y="87"/>
                      <a:pt x="245" y="87"/>
                      <a:pt x="245" y="87"/>
                    </a:cubicBezTo>
                    <a:cubicBezTo>
                      <a:pt x="245" y="86"/>
                      <a:pt x="245" y="86"/>
                      <a:pt x="245" y="86"/>
                    </a:cubicBezTo>
                    <a:cubicBezTo>
                      <a:pt x="245" y="86"/>
                      <a:pt x="246" y="85"/>
                      <a:pt x="246" y="85"/>
                    </a:cubicBezTo>
                    <a:cubicBezTo>
                      <a:pt x="246" y="85"/>
                      <a:pt x="246" y="85"/>
                      <a:pt x="246" y="85"/>
                    </a:cubicBezTo>
                    <a:cubicBezTo>
                      <a:pt x="247" y="85"/>
                      <a:pt x="246" y="83"/>
                      <a:pt x="245" y="81"/>
                    </a:cubicBezTo>
                    <a:cubicBezTo>
                      <a:pt x="238" y="80"/>
                      <a:pt x="238" y="80"/>
                      <a:pt x="238" y="80"/>
                    </a:cubicBezTo>
                    <a:cubicBezTo>
                      <a:pt x="237" y="80"/>
                      <a:pt x="237" y="80"/>
                      <a:pt x="236" y="80"/>
                    </a:cubicBezTo>
                    <a:cubicBezTo>
                      <a:pt x="236" y="80"/>
                      <a:pt x="236" y="80"/>
                      <a:pt x="236" y="80"/>
                    </a:cubicBezTo>
                    <a:cubicBezTo>
                      <a:pt x="235" y="80"/>
                      <a:pt x="235" y="80"/>
                      <a:pt x="235" y="80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7"/>
                      <a:pt x="238" y="77"/>
                      <a:pt x="238" y="77"/>
                    </a:cubicBezTo>
                    <a:cubicBezTo>
                      <a:pt x="238" y="78"/>
                      <a:pt x="238" y="78"/>
                      <a:pt x="238" y="78"/>
                    </a:cubicBezTo>
                    <a:cubicBezTo>
                      <a:pt x="238" y="78"/>
                      <a:pt x="238" y="79"/>
                      <a:pt x="239" y="79"/>
                    </a:cubicBezTo>
                    <a:cubicBezTo>
                      <a:pt x="244" y="80"/>
                      <a:pt x="244" y="80"/>
                      <a:pt x="244" y="80"/>
                    </a:cubicBezTo>
                    <a:cubicBezTo>
                      <a:pt x="242" y="75"/>
                      <a:pt x="242" y="75"/>
                      <a:pt x="242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1" y="75"/>
                      <a:pt x="241" y="75"/>
                      <a:pt x="241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2" y="73"/>
                      <a:pt x="242" y="73"/>
                      <a:pt x="242" y="73"/>
                    </a:cubicBezTo>
                    <a:cubicBezTo>
                      <a:pt x="242" y="73"/>
                      <a:pt x="242" y="73"/>
                      <a:pt x="242" y="73"/>
                    </a:cubicBezTo>
                    <a:close/>
                    <a:moveTo>
                      <a:pt x="253" y="63"/>
                    </a:moveTo>
                    <a:cubicBezTo>
                      <a:pt x="254" y="64"/>
                      <a:pt x="255" y="65"/>
                      <a:pt x="255" y="66"/>
                    </a:cubicBezTo>
                    <a:cubicBezTo>
                      <a:pt x="256" y="67"/>
                      <a:pt x="256" y="68"/>
                      <a:pt x="255" y="69"/>
                    </a:cubicBezTo>
                    <a:cubicBezTo>
                      <a:pt x="254" y="71"/>
                      <a:pt x="253" y="71"/>
                      <a:pt x="252" y="71"/>
                    </a:cubicBezTo>
                    <a:cubicBezTo>
                      <a:pt x="251" y="72"/>
                      <a:pt x="250" y="71"/>
                      <a:pt x="248" y="71"/>
                    </a:cubicBezTo>
                    <a:cubicBezTo>
                      <a:pt x="247" y="70"/>
                      <a:pt x="246" y="69"/>
                      <a:pt x="246" y="68"/>
                    </a:cubicBezTo>
                    <a:cubicBezTo>
                      <a:pt x="246" y="67"/>
                      <a:pt x="246" y="66"/>
                      <a:pt x="246" y="65"/>
                    </a:cubicBezTo>
                    <a:cubicBezTo>
                      <a:pt x="247" y="63"/>
                      <a:pt x="248" y="63"/>
                      <a:pt x="249" y="62"/>
                    </a:cubicBezTo>
                    <a:cubicBezTo>
                      <a:pt x="250" y="62"/>
                      <a:pt x="252" y="62"/>
                      <a:pt x="253" y="63"/>
                    </a:cubicBezTo>
                    <a:close/>
                    <a:moveTo>
                      <a:pt x="252" y="65"/>
                    </a:moveTo>
                    <a:cubicBezTo>
                      <a:pt x="251" y="64"/>
                      <a:pt x="250" y="64"/>
                      <a:pt x="249" y="64"/>
                    </a:cubicBezTo>
                    <a:cubicBezTo>
                      <a:pt x="248" y="64"/>
                      <a:pt x="247" y="64"/>
                      <a:pt x="247" y="65"/>
                    </a:cubicBezTo>
                    <a:cubicBezTo>
                      <a:pt x="246" y="66"/>
                      <a:pt x="246" y="66"/>
                      <a:pt x="247" y="67"/>
                    </a:cubicBezTo>
                    <a:cubicBezTo>
                      <a:pt x="247" y="68"/>
                      <a:pt x="248" y="68"/>
                      <a:pt x="249" y="69"/>
                    </a:cubicBezTo>
                    <a:cubicBezTo>
                      <a:pt x="250" y="69"/>
                      <a:pt x="251" y="69"/>
                      <a:pt x="252" y="70"/>
                    </a:cubicBezTo>
                    <a:cubicBezTo>
                      <a:pt x="253" y="70"/>
                      <a:pt x="254" y="69"/>
                      <a:pt x="254" y="69"/>
                    </a:cubicBezTo>
                    <a:cubicBezTo>
                      <a:pt x="255" y="68"/>
                      <a:pt x="255" y="67"/>
                      <a:pt x="254" y="66"/>
                    </a:cubicBezTo>
                    <a:cubicBezTo>
                      <a:pt x="254" y="66"/>
                      <a:pt x="253" y="65"/>
                      <a:pt x="252" y="65"/>
                    </a:cubicBezTo>
                    <a:close/>
                    <a:moveTo>
                      <a:pt x="266" y="40"/>
                    </a:moveTo>
                    <a:cubicBezTo>
                      <a:pt x="267" y="42"/>
                      <a:pt x="267" y="44"/>
                      <a:pt x="266" y="46"/>
                    </a:cubicBezTo>
                    <a:cubicBezTo>
                      <a:pt x="265" y="48"/>
                      <a:pt x="264" y="49"/>
                      <a:pt x="262" y="50"/>
                    </a:cubicBezTo>
                    <a:cubicBezTo>
                      <a:pt x="261" y="51"/>
                      <a:pt x="259" y="51"/>
                      <a:pt x="257" y="50"/>
                    </a:cubicBezTo>
                    <a:cubicBezTo>
                      <a:pt x="255" y="49"/>
                      <a:pt x="254" y="48"/>
                      <a:pt x="253" y="47"/>
                    </a:cubicBezTo>
                    <a:cubicBezTo>
                      <a:pt x="252" y="45"/>
                      <a:pt x="252" y="43"/>
                      <a:pt x="253" y="41"/>
                    </a:cubicBezTo>
                    <a:cubicBezTo>
                      <a:pt x="254" y="41"/>
                      <a:pt x="254" y="40"/>
                      <a:pt x="254" y="39"/>
                    </a:cubicBezTo>
                    <a:cubicBezTo>
                      <a:pt x="255" y="39"/>
                      <a:pt x="255" y="38"/>
                      <a:pt x="255" y="38"/>
                    </a:cubicBezTo>
                    <a:cubicBezTo>
                      <a:pt x="255" y="38"/>
                      <a:pt x="255" y="37"/>
                      <a:pt x="255" y="37"/>
                    </a:cubicBezTo>
                    <a:cubicBezTo>
                      <a:pt x="255" y="37"/>
                      <a:pt x="255" y="37"/>
                      <a:pt x="255" y="37"/>
                    </a:cubicBezTo>
                    <a:cubicBezTo>
                      <a:pt x="259" y="38"/>
                      <a:pt x="259" y="38"/>
                      <a:pt x="259" y="38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9"/>
                      <a:pt x="257" y="39"/>
                      <a:pt x="256" y="39"/>
                    </a:cubicBezTo>
                    <a:cubicBezTo>
                      <a:pt x="255" y="39"/>
                      <a:pt x="254" y="40"/>
                      <a:pt x="254" y="41"/>
                    </a:cubicBezTo>
                    <a:cubicBezTo>
                      <a:pt x="254" y="43"/>
                      <a:pt x="254" y="44"/>
                      <a:pt x="254" y="45"/>
                    </a:cubicBezTo>
                    <a:cubicBezTo>
                      <a:pt x="255" y="47"/>
                      <a:pt x="256" y="47"/>
                      <a:pt x="258" y="48"/>
                    </a:cubicBezTo>
                    <a:cubicBezTo>
                      <a:pt x="260" y="49"/>
                      <a:pt x="261" y="49"/>
                      <a:pt x="263" y="49"/>
                    </a:cubicBezTo>
                    <a:cubicBezTo>
                      <a:pt x="264" y="48"/>
                      <a:pt x="265" y="47"/>
                      <a:pt x="266" y="46"/>
                    </a:cubicBezTo>
                    <a:cubicBezTo>
                      <a:pt x="266" y="45"/>
                      <a:pt x="266" y="43"/>
                      <a:pt x="266" y="42"/>
                    </a:cubicBezTo>
                    <a:cubicBezTo>
                      <a:pt x="266" y="42"/>
                      <a:pt x="266" y="41"/>
                      <a:pt x="266" y="40"/>
                    </a:cubicBezTo>
                    <a:cubicBezTo>
                      <a:pt x="266" y="40"/>
                      <a:pt x="266" y="40"/>
                      <a:pt x="266" y="40"/>
                    </a:cubicBezTo>
                    <a:close/>
                    <a:moveTo>
                      <a:pt x="270" y="30"/>
                    </a:move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4"/>
                      <a:pt x="269" y="34"/>
                      <a:pt x="269" y="34"/>
                    </a:cubicBezTo>
                    <a:cubicBezTo>
                      <a:pt x="269" y="33"/>
                      <a:pt x="269" y="33"/>
                      <a:pt x="268" y="32"/>
                    </a:cubicBezTo>
                    <a:cubicBezTo>
                      <a:pt x="263" y="31"/>
                      <a:pt x="263" y="31"/>
                      <a:pt x="263" y="31"/>
                    </a:cubicBezTo>
                    <a:cubicBezTo>
                      <a:pt x="262" y="31"/>
                      <a:pt x="261" y="31"/>
                      <a:pt x="261" y="32"/>
                    </a:cubicBezTo>
                    <a:cubicBezTo>
                      <a:pt x="260" y="33"/>
                      <a:pt x="261" y="33"/>
                      <a:pt x="261" y="34"/>
                    </a:cubicBezTo>
                    <a:cubicBezTo>
                      <a:pt x="266" y="36"/>
                      <a:pt x="266" y="36"/>
                      <a:pt x="266" y="36"/>
                    </a:cubicBezTo>
                    <a:cubicBezTo>
                      <a:pt x="267" y="36"/>
                      <a:pt x="268" y="36"/>
                      <a:pt x="268" y="35"/>
                    </a:cubicBezTo>
                    <a:cubicBezTo>
                      <a:pt x="268" y="35"/>
                      <a:pt x="268" y="35"/>
                      <a:pt x="268" y="35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9"/>
                      <a:pt x="267" y="39"/>
                      <a:pt x="267" y="39"/>
                    </a:cubicBezTo>
                    <a:cubicBezTo>
                      <a:pt x="267" y="38"/>
                      <a:pt x="267" y="38"/>
                      <a:pt x="266" y="37"/>
                    </a:cubicBezTo>
                    <a:cubicBezTo>
                      <a:pt x="256" y="35"/>
                      <a:pt x="256" y="35"/>
                      <a:pt x="256" y="35"/>
                    </a:cubicBezTo>
                    <a:cubicBezTo>
                      <a:pt x="256" y="35"/>
                      <a:pt x="255" y="35"/>
                      <a:pt x="255" y="35"/>
                    </a:cubicBezTo>
                    <a:cubicBezTo>
                      <a:pt x="255" y="35"/>
                      <a:pt x="255" y="35"/>
                      <a:pt x="255" y="35"/>
                    </a:cubicBezTo>
                    <a:cubicBezTo>
                      <a:pt x="254" y="35"/>
                      <a:pt x="254" y="35"/>
                      <a:pt x="254" y="35"/>
                    </a:cubicBezTo>
                    <a:cubicBezTo>
                      <a:pt x="254" y="35"/>
                      <a:pt x="254" y="34"/>
                      <a:pt x="254" y="32"/>
                    </a:cubicBezTo>
                    <a:cubicBezTo>
                      <a:pt x="260" y="34"/>
                      <a:pt x="260" y="34"/>
                      <a:pt x="260" y="34"/>
                    </a:cubicBezTo>
                    <a:cubicBezTo>
                      <a:pt x="260" y="33"/>
                      <a:pt x="259" y="31"/>
                      <a:pt x="260" y="31"/>
                    </a:cubicBezTo>
                    <a:cubicBezTo>
                      <a:pt x="260" y="29"/>
                      <a:pt x="261" y="28"/>
                      <a:pt x="263" y="29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0" y="31"/>
                      <a:pt x="270" y="31"/>
                      <a:pt x="270" y="30"/>
                    </a:cubicBezTo>
                    <a:cubicBezTo>
                      <a:pt x="270" y="30"/>
                      <a:pt x="270" y="30"/>
                      <a:pt x="270" y="30"/>
                    </a:cubicBezTo>
                    <a:close/>
                    <a:moveTo>
                      <a:pt x="259" y="22"/>
                    </a:moveTo>
                    <a:cubicBezTo>
                      <a:pt x="259" y="22"/>
                      <a:pt x="259" y="22"/>
                      <a:pt x="260" y="23"/>
                    </a:cubicBezTo>
                    <a:cubicBezTo>
                      <a:pt x="260" y="23"/>
                      <a:pt x="260" y="23"/>
                      <a:pt x="260" y="23"/>
                    </a:cubicBezTo>
                    <a:cubicBezTo>
                      <a:pt x="259" y="24"/>
                      <a:pt x="260" y="24"/>
                      <a:pt x="259" y="24"/>
                    </a:cubicBezTo>
                    <a:cubicBezTo>
                      <a:pt x="259" y="24"/>
                      <a:pt x="259" y="25"/>
                      <a:pt x="258" y="24"/>
                    </a:cubicBezTo>
                    <a:cubicBezTo>
                      <a:pt x="258" y="24"/>
                      <a:pt x="258" y="24"/>
                      <a:pt x="258" y="24"/>
                    </a:cubicBezTo>
                    <a:cubicBezTo>
                      <a:pt x="258" y="23"/>
                      <a:pt x="257" y="23"/>
                      <a:pt x="258" y="23"/>
                    </a:cubicBezTo>
                    <a:cubicBezTo>
                      <a:pt x="258" y="23"/>
                      <a:pt x="258" y="23"/>
                      <a:pt x="258" y="22"/>
                    </a:cubicBezTo>
                    <a:cubicBezTo>
                      <a:pt x="258" y="22"/>
                      <a:pt x="258" y="22"/>
                      <a:pt x="259" y="22"/>
                    </a:cubicBezTo>
                    <a:close/>
                    <a:moveTo>
                      <a:pt x="272" y="23"/>
                    </a:moveTo>
                    <a:cubicBezTo>
                      <a:pt x="271" y="28"/>
                      <a:pt x="271" y="28"/>
                      <a:pt x="271" y="28"/>
                    </a:cubicBezTo>
                    <a:cubicBezTo>
                      <a:pt x="270" y="28"/>
                      <a:pt x="270" y="28"/>
                      <a:pt x="270" y="28"/>
                    </a:cubicBezTo>
                    <a:cubicBezTo>
                      <a:pt x="270" y="27"/>
                      <a:pt x="270" y="26"/>
                      <a:pt x="269" y="26"/>
                    </a:cubicBezTo>
                    <a:cubicBezTo>
                      <a:pt x="264" y="25"/>
                      <a:pt x="264" y="25"/>
                      <a:pt x="264" y="25"/>
                    </a:cubicBezTo>
                    <a:cubicBezTo>
                      <a:pt x="263" y="25"/>
                      <a:pt x="262" y="25"/>
                      <a:pt x="262" y="26"/>
                    </a:cubicBezTo>
                    <a:cubicBezTo>
                      <a:pt x="262" y="26"/>
                      <a:pt x="262" y="26"/>
                      <a:pt x="262" y="27"/>
                    </a:cubicBezTo>
                    <a:cubicBezTo>
                      <a:pt x="262" y="27"/>
                      <a:pt x="262" y="27"/>
                      <a:pt x="262" y="27"/>
                    </a:cubicBezTo>
                    <a:cubicBezTo>
                      <a:pt x="262" y="23"/>
                      <a:pt x="262" y="23"/>
                      <a:pt x="262" y="23"/>
                    </a:cubicBezTo>
                    <a:cubicBezTo>
                      <a:pt x="269" y="24"/>
                      <a:pt x="269" y="24"/>
                      <a:pt x="269" y="24"/>
                    </a:cubicBezTo>
                    <a:cubicBezTo>
                      <a:pt x="271" y="25"/>
                      <a:pt x="271" y="24"/>
                      <a:pt x="272" y="23"/>
                    </a:cubicBezTo>
                    <a:cubicBezTo>
                      <a:pt x="272" y="23"/>
                      <a:pt x="272" y="23"/>
                      <a:pt x="272" y="23"/>
                    </a:cubicBezTo>
                    <a:close/>
                    <a:moveTo>
                      <a:pt x="273" y="12"/>
                    </a:moveTo>
                    <a:cubicBezTo>
                      <a:pt x="273" y="16"/>
                      <a:pt x="273" y="16"/>
                      <a:pt x="273" y="16"/>
                    </a:cubicBezTo>
                    <a:cubicBezTo>
                      <a:pt x="272" y="16"/>
                      <a:pt x="272" y="16"/>
                      <a:pt x="272" y="16"/>
                    </a:cubicBezTo>
                    <a:cubicBezTo>
                      <a:pt x="272" y="15"/>
                      <a:pt x="272" y="15"/>
                      <a:pt x="271" y="15"/>
                    </a:cubicBezTo>
                    <a:cubicBezTo>
                      <a:pt x="266" y="14"/>
                      <a:pt x="266" y="14"/>
                      <a:pt x="266" y="14"/>
                    </a:cubicBezTo>
                    <a:cubicBezTo>
                      <a:pt x="266" y="14"/>
                      <a:pt x="266" y="14"/>
                      <a:pt x="265" y="14"/>
                    </a:cubicBezTo>
                    <a:cubicBezTo>
                      <a:pt x="265" y="15"/>
                      <a:pt x="265" y="15"/>
                      <a:pt x="265" y="15"/>
                    </a:cubicBezTo>
                    <a:cubicBezTo>
                      <a:pt x="265" y="16"/>
                      <a:pt x="265" y="17"/>
                      <a:pt x="266" y="18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72" y="19"/>
                      <a:pt x="272" y="18"/>
                      <a:pt x="273" y="17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73" y="22"/>
                      <a:pt x="273" y="22"/>
                      <a:pt x="273" y="22"/>
                    </a:cubicBezTo>
                    <a:cubicBezTo>
                      <a:pt x="272" y="22"/>
                      <a:pt x="272" y="22"/>
                      <a:pt x="272" y="22"/>
                    </a:cubicBezTo>
                    <a:cubicBezTo>
                      <a:pt x="272" y="21"/>
                      <a:pt x="272" y="21"/>
                      <a:pt x="271" y="20"/>
                    </a:cubicBezTo>
                    <a:cubicBezTo>
                      <a:pt x="265" y="19"/>
                      <a:pt x="265" y="19"/>
                      <a:pt x="265" y="19"/>
                    </a:cubicBezTo>
                    <a:cubicBezTo>
                      <a:pt x="265" y="19"/>
                      <a:pt x="264" y="19"/>
                      <a:pt x="264" y="19"/>
                    </a:cubicBezTo>
                    <a:cubicBezTo>
                      <a:pt x="264" y="19"/>
                      <a:pt x="264" y="20"/>
                      <a:pt x="264" y="21"/>
                    </a:cubicBezTo>
                    <a:cubicBezTo>
                      <a:pt x="264" y="21"/>
                      <a:pt x="264" y="21"/>
                      <a:pt x="264" y="21"/>
                    </a:cubicBezTo>
                    <a:cubicBezTo>
                      <a:pt x="263" y="17"/>
                      <a:pt x="263" y="17"/>
                      <a:pt x="263" y="17"/>
                    </a:cubicBezTo>
                    <a:cubicBezTo>
                      <a:pt x="265" y="18"/>
                      <a:pt x="265" y="18"/>
                      <a:pt x="265" y="18"/>
                    </a:cubicBezTo>
                    <a:cubicBezTo>
                      <a:pt x="264" y="17"/>
                      <a:pt x="263" y="16"/>
                      <a:pt x="264" y="15"/>
                    </a:cubicBezTo>
                    <a:cubicBezTo>
                      <a:pt x="264" y="13"/>
                      <a:pt x="265" y="12"/>
                      <a:pt x="267" y="13"/>
                    </a:cubicBezTo>
                    <a:cubicBezTo>
                      <a:pt x="272" y="13"/>
                      <a:pt x="272" y="13"/>
                      <a:pt x="272" y="13"/>
                    </a:cubicBezTo>
                    <a:cubicBezTo>
                      <a:pt x="272" y="13"/>
                      <a:pt x="273" y="13"/>
                      <a:pt x="273" y="12"/>
                    </a:cubicBezTo>
                    <a:cubicBezTo>
                      <a:pt x="273" y="12"/>
                      <a:pt x="273" y="12"/>
                      <a:pt x="273" y="12"/>
                    </a:cubicBezTo>
                    <a:close/>
                    <a:moveTo>
                      <a:pt x="273" y="1"/>
                    </a:moveTo>
                    <a:cubicBezTo>
                      <a:pt x="273" y="2"/>
                      <a:pt x="273" y="2"/>
                      <a:pt x="274" y="2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74" y="4"/>
                      <a:pt x="274" y="4"/>
                      <a:pt x="272" y="5"/>
                    </a:cubicBezTo>
                    <a:cubicBezTo>
                      <a:pt x="273" y="5"/>
                      <a:pt x="273" y="5"/>
                      <a:pt x="274" y="6"/>
                    </a:cubicBezTo>
                    <a:cubicBezTo>
                      <a:pt x="274" y="7"/>
                      <a:pt x="274" y="7"/>
                      <a:pt x="274" y="7"/>
                    </a:cubicBezTo>
                    <a:cubicBezTo>
                      <a:pt x="274" y="8"/>
                      <a:pt x="274" y="9"/>
                      <a:pt x="273" y="9"/>
                    </a:cubicBezTo>
                    <a:cubicBezTo>
                      <a:pt x="273" y="9"/>
                      <a:pt x="272" y="10"/>
                      <a:pt x="272" y="10"/>
                    </a:cubicBezTo>
                    <a:cubicBezTo>
                      <a:pt x="270" y="10"/>
                      <a:pt x="270" y="9"/>
                      <a:pt x="269" y="8"/>
                    </a:cubicBezTo>
                    <a:cubicBezTo>
                      <a:pt x="268" y="7"/>
                      <a:pt x="268" y="6"/>
                      <a:pt x="268" y="5"/>
                    </a:cubicBezTo>
                    <a:cubicBezTo>
                      <a:pt x="267" y="5"/>
                      <a:pt x="267" y="5"/>
                      <a:pt x="267" y="5"/>
                    </a:cubicBezTo>
                    <a:cubicBezTo>
                      <a:pt x="265" y="5"/>
                      <a:pt x="264" y="5"/>
                      <a:pt x="264" y="6"/>
                    </a:cubicBezTo>
                    <a:cubicBezTo>
                      <a:pt x="264" y="7"/>
                      <a:pt x="265" y="7"/>
                      <a:pt x="265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6" y="7"/>
                    </a:cubicBezTo>
                    <a:cubicBezTo>
                      <a:pt x="266" y="7"/>
                      <a:pt x="266" y="7"/>
                      <a:pt x="267" y="8"/>
                    </a:cubicBezTo>
                    <a:cubicBezTo>
                      <a:pt x="267" y="8"/>
                      <a:pt x="267" y="8"/>
                      <a:pt x="267" y="9"/>
                    </a:cubicBezTo>
                    <a:cubicBezTo>
                      <a:pt x="267" y="9"/>
                      <a:pt x="267" y="9"/>
                      <a:pt x="267" y="9"/>
                    </a:cubicBezTo>
                    <a:cubicBezTo>
                      <a:pt x="266" y="10"/>
                      <a:pt x="266" y="10"/>
                      <a:pt x="266" y="10"/>
                    </a:cubicBezTo>
                    <a:cubicBezTo>
                      <a:pt x="266" y="10"/>
                      <a:pt x="265" y="9"/>
                      <a:pt x="265" y="9"/>
                    </a:cubicBezTo>
                    <a:cubicBezTo>
                      <a:pt x="264" y="8"/>
                      <a:pt x="264" y="7"/>
                      <a:pt x="264" y="7"/>
                    </a:cubicBezTo>
                    <a:cubicBezTo>
                      <a:pt x="264" y="5"/>
                      <a:pt x="265" y="5"/>
                      <a:pt x="265" y="4"/>
                    </a:cubicBezTo>
                    <a:cubicBezTo>
                      <a:pt x="266" y="4"/>
                      <a:pt x="266" y="3"/>
                      <a:pt x="268" y="3"/>
                    </a:cubicBezTo>
                    <a:cubicBezTo>
                      <a:pt x="272" y="3"/>
                      <a:pt x="272" y="3"/>
                      <a:pt x="272" y="3"/>
                    </a:cubicBezTo>
                    <a:cubicBezTo>
                      <a:pt x="272" y="3"/>
                      <a:pt x="273" y="3"/>
                      <a:pt x="273" y="3"/>
                    </a:cubicBezTo>
                    <a:cubicBezTo>
                      <a:pt x="273" y="3"/>
                      <a:pt x="273" y="3"/>
                      <a:pt x="272" y="2"/>
                    </a:cubicBezTo>
                    <a:cubicBezTo>
                      <a:pt x="273" y="1"/>
                      <a:pt x="273" y="1"/>
                      <a:pt x="273" y="1"/>
                    </a:cubicBezTo>
                    <a:close/>
                    <a:moveTo>
                      <a:pt x="272" y="5"/>
                    </a:moveTo>
                    <a:cubicBezTo>
                      <a:pt x="268" y="5"/>
                      <a:pt x="268" y="5"/>
                      <a:pt x="268" y="5"/>
                    </a:cubicBezTo>
                    <a:cubicBezTo>
                      <a:pt x="269" y="6"/>
                      <a:pt x="269" y="7"/>
                      <a:pt x="269" y="7"/>
                    </a:cubicBezTo>
                    <a:cubicBezTo>
                      <a:pt x="270" y="8"/>
                      <a:pt x="270" y="8"/>
                      <a:pt x="271" y="8"/>
                    </a:cubicBezTo>
                    <a:cubicBezTo>
                      <a:pt x="272" y="8"/>
                      <a:pt x="272" y="8"/>
                      <a:pt x="272" y="7"/>
                    </a:cubicBezTo>
                    <a:cubicBezTo>
                      <a:pt x="273" y="6"/>
                      <a:pt x="272" y="5"/>
                      <a:pt x="27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Freeform 41">
                <a:extLst>
                  <a:ext uri="{FF2B5EF4-FFF2-40B4-BE49-F238E27FC236}">
                    <a16:creationId xmlns:a16="http://schemas.microsoft.com/office/drawing/2014/main" id="{34F05518-81B5-706C-4D0B-41743EE1545E}"/>
                  </a:ext>
                </a:extLst>
              </p:cNvPr>
              <p:cNvSpPr/>
              <p:nvPr userDrawn="1"/>
            </p:nvSpPr>
            <p:spPr bwMode="auto">
              <a:xfrm>
                <a:off x="8913875" y="4712004"/>
                <a:ext cx="161925" cy="150813"/>
              </a:xfrm>
              <a:custGeom>
                <a:avLst/>
                <a:gdLst>
                  <a:gd name="T0" fmla="*/ 86 w 108"/>
                  <a:gd name="T1" fmla="*/ 99 h 100"/>
                  <a:gd name="T2" fmla="*/ 46 w 108"/>
                  <a:gd name="T3" fmla="*/ 0 h 100"/>
                  <a:gd name="T4" fmla="*/ 56 w 108"/>
                  <a:gd name="T5" fmla="*/ 58 h 100"/>
                  <a:gd name="T6" fmla="*/ 0 w 108"/>
                  <a:gd name="T7" fmla="*/ 100 h 100"/>
                  <a:gd name="T8" fmla="*/ 57 w 108"/>
                  <a:gd name="T9" fmla="*/ 59 h 100"/>
                  <a:gd name="T10" fmla="*/ 65 w 108"/>
                  <a:gd name="T11" fmla="*/ 18 h 100"/>
                  <a:gd name="T12" fmla="*/ 41 w 108"/>
                  <a:gd name="T13" fmla="*/ 97 h 100"/>
                  <a:gd name="T14" fmla="*/ 64 w 108"/>
                  <a:gd name="T15" fmla="*/ 14 h 100"/>
                  <a:gd name="T16" fmla="*/ 65 w 108"/>
                  <a:gd name="T17" fmla="*/ 98 h 100"/>
                  <a:gd name="T18" fmla="*/ 62 w 108"/>
                  <a:gd name="T19" fmla="*/ 9 h 100"/>
                  <a:gd name="T20" fmla="*/ 86 w 108"/>
                  <a:gd name="T21" fmla="*/ 9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" h="100">
                    <a:moveTo>
                      <a:pt x="86" y="99"/>
                    </a:moveTo>
                    <a:cubicBezTo>
                      <a:pt x="108" y="48"/>
                      <a:pt x="88" y="16"/>
                      <a:pt x="46" y="0"/>
                    </a:cubicBezTo>
                    <a:cubicBezTo>
                      <a:pt x="71" y="10"/>
                      <a:pt x="66" y="42"/>
                      <a:pt x="56" y="58"/>
                    </a:cubicBezTo>
                    <a:cubicBezTo>
                      <a:pt x="45" y="74"/>
                      <a:pt x="28" y="87"/>
                      <a:pt x="0" y="100"/>
                    </a:cubicBezTo>
                    <a:cubicBezTo>
                      <a:pt x="30" y="88"/>
                      <a:pt x="48" y="73"/>
                      <a:pt x="57" y="59"/>
                    </a:cubicBezTo>
                    <a:cubicBezTo>
                      <a:pt x="65" y="44"/>
                      <a:pt x="67" y="32"/>
                      <a:pt x="65" y="18"/>
                    </a:cubicBezTo>
                    <a:cubicBezTo>
                      <a:pt x="78" y="47"/>
                      <a:pt x="67" y="72"/>
                      <a:pt x="41" y="97"/>
                    </a:cubicBezTo>
                    <a:cubicBezTo>
                      <a:pt x="71" y="71"/>
                      <a:pt x="81" y="43"/>
                      <a:pt x="64" y="14"/>
                    </a:cubicBezTo>
                    <a:cubicBezTo>
                      <a:pt x="89" y="42"/>
                      <a:pt x="82" y="72"/>
                      <a:pt x="65" y="98"/>
                    </a:cubicBezTo>
                    <a:cubicBezTo>
                      <a:pt x="86" y="68"/>
                      <a:pt x="90" y="36"/>
                      <a:pt x="62" y="9"/>
                    </a:cubicBezTo>
                    <a:cubicBezTo>
                      <a:pt x="96" y="30"/>
                      <a:pt x="101" y="59"/>
                      <a:pt x="8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Freeform 42">
                <a:extLst>
                  <a:ext uri="{FF2B5EF4-FFF2-40B4-BE49-F238E27FC236}">
                    <a16:creationId xmlns:a16="http://schemas.microsoft.com/office/drawing/2014/main" id="{CF31508E-770C-53E6-4739-E373ABE83DE1}"/>
                  </a:ext>
                </a:extLst>
              </p:cNvPr>
              <p:cNvSpPr/>
              <p:nvPr userDrawn="1"/>
            </p:nvSpPr>
            <p:spPr bwMode="auto">
              <a:xfrm>
                <a:off x="8942450" y="4694541"/>
                <a:ext cx="49213" cy="20638"/>
              </a:xfrm>
              <a:custGeom>
                <a:avLst/>
                <a:gdLst>
                  <a:gd name="T0" fmla="*/ 19 w 33"/>
                  <a:gd name="T1" fmla="*/ 14 h 14"/>
                  <a:gd name="T2" fmla="*/ 0 w 33"/>
                  <a:gd name="T3" fmla="*/ 0 h 14"/>
                  <a:gd name="T4" fmla="*/ 33 w 33"/>
                  <a:gd name="T5" fmla="*/ 5 h 14"/>
                  <a:gd name="T6" fmla="*/ 18 w 33"/>
                  <a:gd name="T7" fmla="*/ 6 h 14"/>
                  <a:gd name="T8" fmla="*/ 19 w 33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">
                    <a:moveTo>
                      <a:pt x="19" y="14"/>
                    </a:moveTo>
                    <a:cubicBezTo>
                      <a:pt x="13" y="8"/>
                      <a:pt x="8" y="4"/>
                      <a:pt x="0" y="0"/>
                    </a:cubicBezTo>
                    <a:cubicBezTo>
                      <a:pt x="11" y="0"/>
                      <a:pt x="25" y="3"/>
                      <a:pt x="33" y="5"/>
                    </a:cubicBezTo>
                    <a:cubicBezTo>
                      <a:pt x="24" y="4"/>
                      <a:pt x="20" y="5"/>
                      <a:pt x="18" y="6"/>
                    </a:cubicBezTo>
                    <a:cubicBezTo>
                      <a:pt x="16" y="8"/>
                      <a:pt x="17" y="10"/>
                      <a:pt x="1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43">
                <a:extLst>
                  <a:ext uri="{FF2B5EF4-FFF2-40B4-BE49-F238E27FC236}">
                    <a16:creationId xmlns:a16="http://schemas.microsoft.com/office/drawing/2014/main" id="{840B5057-7BF7-4C6A-218A-D170C5D30AD1}"/>
                  </a:ext>
                </a:extLst>
              </p:cNvPr>
              <p:cNvSpPr/>
              <p:nvPr userDrawn="1"/>
            </p:nvSpPr>
            <p:spPr bwMode="auto">
              <a:xfrm>
                <a:off x="8867838" y="4856466"/>
                <a:ext cx="195263" cy="30163"/>
              </a:xfrm>
              <a:custGeom>
                <a:avLst/>
                <a:gdLst>
                  <a:gd name="T0" fmla="*/ 70 w 131"/>
                  <a:gd name="T1" fmla="*/ 20 h 20"/>
                  <a:gd name="T2" fmla="*/ 77 w 131"/>
                  <a:gd name="T3" fmla="*/ 12 h 20"/>
                  <a:gd name="T4" fmla="*/ 100 w 131"/>
                  <a:gd name="T5" fmla="*/ 12 h 20"/>
                  <a:gd name="T6" fmla="*/ 131 w 131"/>
                  <a:gd name="T7" fmla="*/ 14 h 20"/>
                  <a:gd name="T8" fmla="*/ 124 w 131"/>
                  <a:gd name="T9" fmla="*/ 8 h 20"/>
                  <a:gd name="T10" fmla="*/ 101 w 131"/>
                  <a:gd name="T11" fmla="*/ 5 h 20"/>
                  <a:gd name="T12" fmla="*/ 77 w 131"/>
                  <a:gd name="T13" fmla="*/ 0 h 20"/>
                  <a:gd name="T14" fmla="*/ 65 w 131"/>
                  <a:gd name="T15" fmla="*/ 12 h 20"/>
                  <a:gd name="T16" fmla="*/ 53 w 131"/>
                  <a:gd name="T17" fmla="*/ 0 h 20"/>
                  <a:gd name="T18" fmla="*/ 30 w 131"/>
                  <a:gd name="T19" fmla="*/ 5 h 20"/>
                  <a:gd name="T20" fmla="*/ 7 w 131"/>
                  <a:gd name="T21" fmla="*/ 8 h 20"/>
                  <a:gd name="T22" fmla="*/ 0 w 131"/>
                  <a:gd name="T23" fmla="*/ 14 h 20"/>
                  <a:gd name="T24" fmla="*/ 31 w 131"/>
                  <a:gd name="T25" fmla="*/ 12 h 20"/>
                  <a:gd name="T26" fmla="*/ 54 w 131"/>
                  <a:gd name="T27" fmla="*/ 12 h 20"/>
                  <a:gd name="T28" fmla="*/ 61 w 131"/>
                  <a:gd name="T29" fmla="*/ 20 h 20"/>
                  <a:gd name="T30" fmla="*/ 70 w 131"/>
                  <a:gd name="T31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1" h="20">
                    <a:moveTo>
                      <a:pt x="70" y="20"/>
                    </a:moveTo>
                    <a:cubicBezTo>
                      <a:pt x="70" y="16"/>
                      <a:pt x="71" y="14"/>
                      <a:pt x="77" y="12"/>
                    </a:cubicBezTo>
                    <a:cubicBezTo>
                      <a:pt x="83" y="10"/>
                      <a:pt x="89" y="11"/>
                      <a:pt x="100" y="12"/>
                    </a:cubicBezTo>
                    <a:cubicBezTo>
                      <a:pt x="111" y="14"/>
                      <a:pt x="120" y="15"/>
                      <a:pt x="131" y="14"/>
                    </a:cubicBezTo>
                    <a:cubicBezTo>
                      <a:pt x="127" y="12"/>
                      <a:pt x="126" y="10"/>
                      <a:pt x="124" y="8"/>
                    </a:cubicBezTo>
                    <a:cubicBezTo>
                      <a:pt x="115" y="8"/>
                      <a:pt x="109" y="7"/>
                      <a:pt x="101" y="5"/>
                    </a:cubicBezTo>
                    <a:cubicBezTo>
                      <a:pt x="93" y="2"/>
                      <a:pt x="83" y="0"/>
                      <a:pt x="77" y="0"/>
                    </a:cubicBezTo>
                    <a:cubicBezTo>
                      <a:pt x="71" y="1"/>
                      <a:pt x="67" y="4"/>
                      <a:pt x="65" y="12"/>
                    </a:cubicBezTo>
                    <a:cubicBezTo>
                      <a:pt x="63" y="4"/>
                      <a:pt x="59" y="1"/>
                      <a:pt x="53" y="0"/>
                    </a:cubicBezTo>
                    <a:cubicBezTo>
                      <a:pt x="47" y="0"/>
                      <a:pt x="38" y="2"/>
                      <a:pt x="30" y="5"/>
                    </a:cubicBezTo>
                    <a:cubicBezTo>
                      <a:pt x="22" y="7"/>
                      <a:pt x="16" y="8"/>
                      <a:pt x="7" y="8"/>
                    </a:cubicBezTo>
                    <a:cubicBezTo>
                      <a:pt x="5" y="10"/>
                      <a:pt x="4" y="12"/>
                      <a:pt x="0" y="14"/>
                    </a:cubicBezTo>
                    <a:cubicBezTo>
                      <a:pt x="11" y="15"/>
                      <a:pt x="20" y="14"/>
                      <a:pt x="31" y="12"/>
                    </a:cubicBezTo>
                    <a:cubicBezTo>
                      <a:pt x="41" y="11"/>
                      <a:pt x="48" y="10"/>
                      <a:pt x="54" y="12"/>
                    </a:cubicBezTo>
                    <a:cubicBezTo>
                      <a:pt x="60" y="14"/>
                      <a:pt x="61" y="16"/>
                      <a:pt x="61" y="20"/>
                    </a:cubicBezTo>
                    <a:cubicBezTo>
                      <a:pt x="70" y="20"/>
                      <a:pt x="70" y="20"/>
                      <a:pt x="7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Freeform 44">
                <a:extLst>
                  <a:ext uri="{FF2B5EF4-FFF2-40B4-BE49-F238E27FC236}">
                    <a16:creationId xmlns:a16="http://schemas.microsoft.com/office/drawing/2014/main" id="{3D5C1451-AAB3-5399-D645-D3276CF1C16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0850" y="4681841"/>
                <a:ext cx="252413" cy="257175"/>
              </a:xfrm>
              <a:custGeom>
                <a:avLst/>
                <a:gdLst>
                  <a:gd name="T0" fmla="*/ 85 w 170"/>
                  <a:gd name="T1" fmla="*/ 0 h 171"/>
                  <a:gd name="T2" fmla="*/ 0 w 170"/>
                  <a:gd name="T3" fmla="*/ 86 h 171"/>
                  <a:gd name="T4" fmla="*/ 85 w 170"/>
                  <a:gd name="T5" fmla="*/ 171 h 171"/>
                  <a:gd name="T6" fmla="*/ 170 w 170"/>
                  <a:gd name="T7" fmla="*/ 86 h 171"/>
                  <a:gd name="T8" fmla="*/ 85 w 170"/>
                  <a:gd name="T9" fmla="*/ 0 h 171"/>
                  <a:gd name="T10" fmla="*/ 85 w 170"/>
                  <a:gd name="T11" fmla="*/ 168 h 171"/>
                  <a:gd name="T12" fmla="*/ 2 w 170"/>
                  <a:gd name="T13" fmla="*/ 85 h 171"/>
                  <a:gd name="T14" fmla="*/ 85 w 170"/>
                  <a:gd name="T15" fmla="*/ 3 h 171"/>
                  <a:gd name="T16" fmla="*/ 167 w 170"/>
                  <a:gd name="T17" fmla="*/ 85 h 171"/>
                  <a:gd name="T18" fmla="*/ 85 w 170"/>
                  <a:gd name="T19" fmla="*/ 16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" h="171">
                    <a:moveTo>
                      <a:pt x="85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2"/>
                      <a:pt x="38" y="171"/>
                      <a:pt x="85" y="171"/>
                    </a:cubicBezTo>
                    <a:cubicBezTo>
                      <a:pt x="132" y="171"/>
                      <a:pt x="170" y="133"/>
                      <a:pt x="170" y="86"/>
                    </a:cubicBezTo>
                    <a:cubicBezTo>
                      <a:pt x="170" y="38"/>
                      <a:pt x="132" y="0"/>
                      <a:pt x="85" y="0"/>
                    </a:cubicBezTo>
                    <a:close/>
                    <a:moveTo>
                      <a:pt x="85" y="168"/>
                    </a:moveTo>
                    <a:cubicBezTo>
                      <a:pt x="39" y="168"/>
                      <a:pt x="2" y="131"/>
                      <a:pt x="2" y="85"/>
                    </a:cubicBezTo>
                    <a:cubicBezTo>
                      <a:pt x="2" y="40"/>
                      <a:pt x="39" y="3"/>
                      <a:pt x="85" y="3"/>
                    </a:cubicBezTo>
                    <a:cubicBezTo>
                      <a:pt x="130" y="3"/>
                      <a:pt x="167" y="40"/>
                      <a:pt x="167" y="85"/>
                    </a:cubicBezTo>
                    <a:cubicBezTo>
                      <a:pt x="167" y="131"/>
                      <a:pt x="130" y="168"/>
                      <a:pt x="8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Freeform 45">
                <a:extLst>
                  <a:ext uri="{FF2B5EF4-FFF2-40B4-BE49-F238E27FC236}">
                    <a16:creationId xmlns:a16="http://schemas.microsoft.com/office/drawing/2014/main" id="{9EE0BB3D-B580-7162-5771-CE0F32B670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91675" y="4667554"/>
                <a:ext cx="39688" cy="36513"/>
              </a:xfrm>
              <a:custGeom>
                <a:avLst/>
                <a:gdLst>
                  <a:gd name="T0" fmla="*/ 13 w 26"/>
                  <a:gd name="T1" fmla="*/ 16 h 25"/>
                  <a:gd name="T2" fmla="*/ 11 w 26"/>
                  <a:gd name="T3" fmla="*/ 25 h 25"/>
                  <a:gd name="T4" fmla="*/ 7 w 26"/>
                  <a:gd name="T5" fmla="*/ 24 h 25"/>
                  <a:gd name="T6" fmla="*/ 9 w 26"/>
                  <a:gd name="T7" fmla="*/ 19 h 25"/>
                  <a:gd name="T8" fmla="*/ 10 w 26"/>
                  <a:gd name="T9" fmla="*/ 14 h 25"/>
                  <a:gd name="T10" fmla="*/ 10 w 26"/>
                  <a:gd name="T11" fmla="*/ 14 h 25"/>
                  <a:gd name="T12" fmla="*/ 13 w 26"/>
                  <a:gd name="T13" fmla="*/ 16 h 25"/>
                  <a:gd name="T14" fmla="*/ 25 w 26"/>
                  <a:gd name="T15" fmla="*/ 0 h 25"/>
                  <a:gd name="T16" fmla="*/ 26 w 26"/>
                  <a:gd name="T17" fmla="*/ 2 h 25"/>
                  <a:gd name="T18" fmla="*/ 21 w 26"/>
                  <a:gd name="T19" fmla="*/ 7 h 25"/>
                  <a:gd name="T20" fmla="*/ 18 w 26"/>
                  <a:gd name="T21" fmla="*/ 9 h 25"/>
                  <a:gd name="T22" fmla="*/ 22 w 26"/>
                  <a:gd name="T23" fmla="*/ 11 h 25"/>
                  <a:gd name="T24" fmla="*/ 22 w 26"/>
                  <a:gd name="T25" fmla="*/ 11 h 25"/>
                  <a:gd name="T26" fmla="*/ 23 w 26"/>
                  <a:gd name="T27" fmla="*/ 9 h 25"/>
                  <a:gd name="T28" fmla="*/ 23 w 26"/>
                  <a:gd name="T29" fmla="*/ 9 h 25"/>
                  <a:gd name="T30" fmla="*/ 24 w 26"/>
                  <a:gd name="T31" fmla="*/ 9 h 25"/>
                  <a:gd name="T32" fmla="*/ 25 w 26"/>
                  <a:gd name="T33" fmla="*/ 14 h 25"/>
                  <a:gd name="T34" fmla="*/ 26 w 26"/>
                  <a:gd name="T35" fmla="*/ 15 h 25"/>
                  <a:gd name="T36" fmla="*/ 26 w 26"/>
                  <a:gd name="T37" fmla="*/ 16 h 25"/>
                  <a:gd name="T38" fmla="*/ 25 w 26"/>
                  <a:gd name="T39" fmla="*/ 16 h 25"/>
                  <a:gd name="T40" fmla="*/ 23 w 26"/>
                  <a:gd name="T41" fmla="*/ 16 h 25"/>
                  <a:gd name="T42" fmla="*/ 22 w 26"/>
                  <a:gd name="T43" fmla="*/ 15 h 25"/>
                  <a:gd name="T44" fmla="*/ 13 w 26"/>
                  <a:gd name="T45" fmla="*/ 11 h 25"/>
                  <a:gd name="T46" fmla="*/ 4 w 26"/>
                  <a:gd name="T47" fmla="*/ 13 h 25"/>
                  <a:gd name="T48" fmla="*/ 2 w 26"/>
                  <a:gd name="T49" fmla="*/ 8 h 25"/>
                  <a:gd name="T50" fmla="*/ 2 w 26"/>
                  <a:gd name="T51" fmla="*/ 8 h 25"/>
                  <a:gd name="T52" fmla="*/ 3 w 26"/>
                  <a:gd name="T53" fmla="*/ 8 h 25"/>
                  <a:gd name="T54" fmla="*/ 5 w 26"/>
                  <a:gd name="T55" fmla="*/ 10 h 25"/>
                  <a:gd name="T56" fmla="*/ 11 w 26"/>
                  <a:gd name="T57" fmla="*/ 10 h 25"/>
                  <a:gd name="T58" fmla="*/ 11 w 26"/>
                  <a:gd name="T59" fmla="*/ 9 h 25"/>
                  <a:gd name="T60" fmla="*/ 8 w 26"/>
                  <a:gd name="T61" fmla="*/ 3 h 25"/>
                  <a:gd name="T62" fmla="*/ 9 w 26"/>
                  <a:gd name="T63" fmla="*/ 2 h 25"/>
                  <a:gd name="T64" fmla="*/ 10 w 26"/>
                  <a:gd name="T65" fmla="*/ 2 h 25"/>
                  <a:gd name="T66" fmla="*/ 11 w 26"/>
                  <a:gd name="T67" fmla="*/ 5 h 25"/>
                  <a:gd name="T68" fmla="*/ 12 w 26"/>
                  <a:gd name="T69" fmla="*/ 6 h 25"/>
                  <a:gd name="T70" fmla="*/ 15 w 26"/>
                  <a:gd name="T71" fmla="*/ 8 h 25"/>
                  <a:gd name="T72" fmla="*/ 22 w 26"/>
                  <a:gd name="T73" fmla="*/ 2 h 25"/>
                  <a:gd name="T74" fmla="*/ 24 w 26"/>
                  <a:gd name="T75" fmla="*/ 0 h 25"/>
                  <a:gd name="T76" fmla="*/ 25 w 26"/>
                  <a:gd name="T7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" h="25">
                    <a:moveTo>
                      <a:pt x="13" y="16"/>
                    </a:moveTo>
                    <a:cubicBezTo>
                      <a:pt x="14" y="18"/>
                      <a:pt x="13" y="24"/>
                      <a:pt x="11" y="25"/>
                    </a:cubicBezTo>
                    <a:cubicBezTo>
                      <a:pt x="10" y="25"/>
                      <a:pt x="7" y="25"/>
                      <a:pt x="7" y="24"/>
                    </a:cubicBezTo>
                    <a:cubicBezTo>
                      <a:pt x="7" y="22"/>
                      <a:pt x="8" y="21"/>
                      <a:pt x="9" y="19"/>
                    </a:cubicBezTo>
                    <a:cubicBezTo>
                      <a:pt x="10" y="18"/>
                      <a:pt x="9" y="16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1" y="15"/>
                      <a:pt x="12" y="15"/>
                      <a:pt x="13" y="16"/>
                    </a:cubicBezTo>
                    <a:close/>
                    <a:moveTo>
                      <a:pt x="25" y="0"/>
                    </a:moveTo>
                    <a:cubicBezTo>
                      <a:pt x="25" y="0"/>
                      <a:pt x="26" y="1"/>
                      <a:pt x="26" y="2"/>
                    </a:cubicBezTo>
                    <a:cubicBezTo>
                      <a:pt x="26" y="3"/>
                      <a:pt x="23" y="6"/>
                      <a:pt x="21" y="7"/>
                    </a:cubicBezTo>
                    <a:cubicBezTo>
                      <a:pt x="20" y="8"/>
                      <a:pt x="19" y="8"/>
                      <a:pt x="18" y="9"/>
                    </a:cubicBezTo>
                    <a:cubicBezTo>
                      <a:pt x="19" y="10"/>
                      <a:pt x="20" y="11"/>
                      <a:pt x="2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0"/>
                      <a:pt x="23" y="10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4" y="9"/>
                    </a:cubicBezTo>
                    <a:cubicBezTo>
                      <a:pt x="23" y="11"/>
                      <a:pt x="24" y="12"/>
                      <a:pt x="25" y="14"/>
                    </a:cubicBezTo>
                    <a:cubicBezTo>
                      <a:pt x="26" y="14"/>
                      <a:pt x="25" y="15"/>
                      <a:pt x="26" y="15"/>
                    </a:cubicBezTo>
                    <a:cubicBezTo>
                      <a:pt x="26" y="16"/>
                      <a:pt x="26" y="15"/>
                      <a:pt x="26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6"/>
                      <a:pt x="24" y="16"/>
                      <a:pt x="23" y="16"/>
                    </a:cubicBezTo>
                    <a:cubicBezTo>
                      <a:pt x="23" y="16"/>
                      <a:pt x="22" y="15"/>
                      <a:pt x="22" y="15"/>
                    </a:cubicBezTo>
                    <a:cubicBezTo>
                      <a:pt x="19" y="13"/>
                      <a:pt x="16" y="11"/>
                      <a:pt x="13" y="11"/>
                    </a:cubicBezTo>
                    <a:cubicBezTo>
                      <a:pt x="11" y="12"/>
                      <a:pt x="6" y="14"/>
                      <a:pt x="4" y="13"/>
                    </a:cubicBezTo>
                    <a:cubicBezTo>
                      <a:pt x="2" y="13"/>
                      <a:pt x="0" y="9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3" y="8"/>
                      <a:pt x="3" y="8"/>
                    </a:cubicBezTo>
                    <a:cubicBezTo>
                      <a:pt x="4" y="9"/>
                      <a:pt x="5" y="10"/>
                      <a:pt x="5" y="10"/>
                    </a:cubicBezTo>
                    <a:cubicBezTo>
                      <a:pt x="7" y="10"/>
                      <a:pt x="10" y="10"/>
                      <a:pt x="11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6"/>
                      <a:pt x="7" y="6"/>
                      <a:pt x="8" y="3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9" y="2"/>
                      <a:pt x="10" y="2"/>
                      <a:pt x="10" y="2"/>
                    </a:cubicBezTo>
                    <a:cubicBezTo>
                      <a:pt x="10" y="3"/>
                      <a:pt x="11" y="4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4" y="8"/>
                      <a:pt x="15" y="8"/>
                    </a:cubicBezTo>
                    <a:cubicBezTo>
                      <a:pt x="16" y="8"/>
                      <a:pt x="21" y="4"/>
                      <a:pt x="22" y="2"/>
                    </a:cubicBezTo>
                    <a:cubicBezTo>
                      <a:pt x="23" y="2"/>
                      <a:pt x="23" y="0"/>
                      <a:pt x="24" y="0"/>
                    </a:cubicBezTo>
                    <a:cubicBezTo>
                      <a:pt x="25" y="0"/>
                      <a:pt x="25" y="0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Freeform 46">
                <a:extLst>
                  <a:ext uri="{FF2B5EF4-FFF2-40B4-BE49-F238E27FC236}">
                    <a16:creationId xmlns:a16="http://schemas.microsoft.com/office/drawing/2014/main" id="{C70FDA32-AEEF-FDE3-873F-9E03012897B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120250" y="4715179"/>
                <a:ext cx="53975" cy="44450"/>
              </a:xfrm>
              <a:custGeom>
                <a:avLst/>
                <a:gdLst>
                  <a:gd name="T0" fmla="*/ 32 w 36"/>
                  <a:gd name="T1" fmla="*/ 11 h 30"/>
                  <a:gd name="T2" fmla="*/ 36 w 36"/>
                  <a:gd name="T3" fmla="*/ 16 h 30"/>
                  <a:gd name="T4" fmla="*/ 30 w 36"/>
                  <a:gd name="T5" fmla="*/ 16 h 30"/>
                  <a:gd name="T6" fmla="*/ 26 w 36"/>
                  <a:gd name="T7" fmla="*/ 13 h 30"/>
                  <a:gd name="T8" fmla="*/ 27 w 36"/>
                  <a:gd name="T9" fmla="*/ 16 h 30"/>
                  <a:gd name="T10" fmla="*/ 23 w 36"/>
                  <a:gd name="T11" fmla="*/ 22 h 30"/>
                  <a:gd name="T12" fmla="*/ 14 w 36"/>
                  <a:gd name="T13" fmla="*/ 21 h 30"/>
                  <a:gd name="T14" fmla="*/ 14 w 36"/>
                  <a:gd name="T15" fmla="*/ 24 h 30"/>
                  <a:gd name="T16" fmla="*/ 14 w 36"/>
                  <a:gd name="T17" fmla="*/ 30 h 30"/>
                  <a:gd name="T18" fmla="*/ 10 w 36"/>
                  <a:gd name="T19" fmla="*/ 24 h 30"/>
                  <a:gd name="T20" fmla="*/ 1 w 36"/>
                  <a:gd name="T21" fmla="*/ 18 h 30"/>
                  <a:gd name="T22" fmla="*/ 3 w 36"/>
                  <a:gd name="T23" fmla="*/ 19 h 30"/>
                  <a:gd name="T24" fmla="*/ 9 w 36"/>
                  <a:gd name="T25" fmla="*/ 24 h 30"/>
                  <a:gd name="T26" fmla="*/ 9 w 36"/>
                  <a:gd name="T27" fmla="*/ 23 h 30"/>
                  <a:gd name="T28" fmla="*/ 6 w 36"/>
                  <a:gd name="T29" fmla="*/ 20 h 30"/>
                  <a:gd name="T30" fmla="*/ 4 w 36"/>
                  <a:gd name="T31" fmla="*/ 12 h 30"/>
                  <a:gd name="T32" fmla="*/ 8 w 36"/>
                  <a:gd name="T33" fmla="*/ 18 h 30"/>
                  <a:gd name="T34" fmla="*/ 12 w 36"/>
                  <a:gd name="T35" fmla="*/ 20 h 30"/>
                  <a:gd name="T36" fmla="*/ 17 w 36"/>
                  <a:gd name="T37" fmla="*/ 19 h 30"/>
                  <a:gd name="T38" fmla="*/ 14 w 36"/>
                  <a:gd name="T39" fmla="*/ 16 h 30"/>
                  <a:gd name="T40" fmla="*/ 21 w 36"/>
                  <a:gd name="T41" fmla="*/ 20 h 30"/>
                  <a:gd name="T42" fmla="*/ 24 w 36"/>
                  <a:gd name="T43" fmla="*/ 18 h 30"/>
                  <a:gd name="T44" fmla="*/ 14 w 36"/>
                  <a:gd name="T45" fmla="*/ 12 h 30"/>
                  <a:gd name="T46" fmla="*/ 10 w 36"/>
                  <a:gd name="T47" fmla="*/ 14 h 30"/>
                  <a:gd name="T48" fmla="*/ 10 w 36"/>
                  <a:gd name="T49" fmla="*/ 12 h 30"/>
                  <a:gd name="T50" fmla="*/ 14 w 36"/>
                  <a:gd name="T51" fmla="*/ 6 h 30"/>
                  <a:gd name="T52" fmla="*/ 21 w 36"/>
                  <a:gd name="T53" fmla="*/ 10 h 30"/>
                  <a:gd name="T54" fmla="*/ 32 w 36"/>
                  <a:gd name="T55" fmla="*/ 14 h 30"/>
                  <a:gd name="T56" fmla="*/ 32 w 36"/>
                  <a:gd name="T57" fmla="*/ 14 h 30"/>
                  <a:gd name="T58" fmla="*/ 29 w 36"/>
                  <a:gd name="T59" fmla="*/ 6 h 30"/>
                  <a:gd name="T60" fmla="*/ 32 w 36"/>
                  <a:gd name="T61" fmla="*/ 6 h 30"/>
                  <a:gd name="T62" fmla="*/ 34 w 36"/>
                  <a:gd name="T63" fmla="*/ 0 h 30"/>
                  <a:gd name="T64" fmla="*/ 29 w 36"/>
                  <a:gd name="T6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" h="30">
                    <a:moveTo>
                      <a:pt x="32" y="6"/>
                    </a:moveTo>
                    <a:cubicBezTo>
                      <a:pt x="33" y="8"/>
                      <a:pt x="31" y="10"/>
                      <a:pt x="32" y="11"/>
                    </a:cubicBezTo>
                    <a:cubicBezTo>
                      <a:pt x="32" y="11"/>
                      <a:pt x="32" y="12"/>
                      <a:pt x="32" y="12"/>
                    </a:cubicBezTo>
                    <a:cubicBezTo>
                      <a:pt x="34" y="12"/>
                      <a:pt x="36" y="14"/>
                      <a:pt x="36" y="16"/>
                    </a:cubicBezTo>
                    <a:cubicBezTo>
                      <a:pt x="36" y="17"/>
                      <a:pt x="34" y="19"/>
                      <a:pt x="33" y="19"/>
                    </a:cubicBezTo>
                    <a:cubicBezTo>
                      <a:pt x="32" y="18"/>
                      <a:pt x="30" y="16"/>
                      <a:pt x="30" y="16"/>
                    </a:cubicBezTo>
                    <a:cubicBezTo>
                      <a:pt x="29" y="14"/>
                      <a:pt x="27" y="14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4"/>
                      <a:pt x="27" y="14"/>
                      <a:pt x="27" y="16"/>
                    </a:cubicBezTo>
                    <a:cubicBezTo>
                      <a:pt x="27" y="18"/>
                      <a:pt x="28" y="21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2" y="22"/>
                      <a:pt x="21" y="20"/>
                      <a:pt x="20" y="20"/>
                    </a:cubicBezTo>
                    <a:cubicBezTo>
                      <a:pt x="19" y="22"/>
                      <a:pt x="16" y="21"/>
                      <a:pt x="14" y="21"/>
                    </a:cubicBezTo>
                    <a:cubicBezTo>
                      <a:pt x="13" y="21"/>
                      <a:pt x="13" y="22"/>
                      <a:pt x="13" y="22"/>
                    </a:cubicBezTo>
                    <a:cubicBezTo>
                      <a:pt x="14" y="22"/>
                      <a:pt x="14" y="23"/>
                      <a:pt x="14" y="24"/>
                    </a:cubicBezTo>
                    <a:cubicBezTo>
                      <a:pt x="15" y="24"/>
                      <a:pt x="18" y="26"/>
                      <a:pt x="18" y="28"/>
                    </a:cubicBezTo>
                    <a:cubicBezTo>
                      <a:pt x="18" y="29"/>
                      <a:pt x="16" y="30"/>
                      <a:pt x="14" y="30"/>
                    </a:cubicBezTo>
                    <a:cubicBezTo>
                      <a:pt x="14" y="28"/>
                      <a:pt x="13" y="26"/>
                      <a:pt x="11" y="25"/>
                    </a:cubicBezTo>
                    <a:cubicBezTo>
                      <a:pt x="10" y="25"/>
                      <a:pt x="11" y="24"/>
                      <a:pt x="10" y="24"/>
                    </a:cubicBezTo>
                    <a:cubicBezTo>
                      <a:pt x="9" y="25"/>
                      <a:pt x="8" y="26"/>
                      <a:pt x="7" y="26"/>
                    </a:cubicBezTo>
                    <a:cubicBezTo>
                      <a:pt x="3" y="25"/>
                      <a:pt x="0" y="22"/>
                      <a:pt x="1" y="18"/>
                    </a:cubicBezTo>
                    <a:cubicBezTo>
                      <a:pt x="2" y="17"/>
                      <a:pt x="2" y="16"/>
                      <a:pt x="2" y="15"/>
                    </a:cubicBezTo>
                    <a:cubicBezTo>
                      <a:pt x="3" y="16"/>
                      <a:pt x="3" y="18"/>
                      <a:pt x="3" y="19"/>
                    </a:cubicBezTo>
                    <a:cubicBezTo>
                      <a:pt x="3" y="19"/>
                      <a:pt x="3" y="20"/>
                      <a:pt x="4" y="20"/>
                    </a:cubicBezTo>
                    <a:cubicBezTo>
                      <a:pt x="5" y="22"/>
                      <a:pt x="7" y="23"/>
                      <a:pt x="9" y="24"/>
                    </a:cubicBezTo>
                    <a:cubicBezTo>
                      <a:pt x="9" y="24"/>
                      <a:pt x="9" y="24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2"/>
                      <a:pt x="8" y="22"/>
                      <a:pt x="8" y="21"/>
                    </a:cubicBezTo>
                    <a:cubicBezTo>
                      <a:pt x="8" y="21"/>
                      <a:pt x="7" y="20"/>
                      <a:pt x="6" y="20"/>
                    </a:cubicBezTo>
                    <a:cubicBezTo>
                      <a:pt x="5" y="19"/>
                      <a:pt x="3" y="14"/>
                      <a:pt x="4" y="13"/>
                    </a:cubicBezTo>
                    <a:cubicBezTo>
                      <a:pt x="4" y="13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3"/>
                    </a:cubicBezTo>
                    <a:cubicBezTo>
                      <a:pt x="6" y="14"/>
                      <a:pt x="7" y="16"/>
                      <a:pt x="8" y="18"/>
                    </a:cubicBezTo>
                    <a:cubicBezTo>
                      <a:pt x="9" y="18"/>
                      <a:pt x="10" y="19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3" y="19"/>
                      <a:pt x="14" y="19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8"/>
                      <a:pt x="15" y="17"/>
                      <a:pt x="15" y="17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4"/>
                      <a:pt x="17" y="16"/>
                      <a:pt x="19" y="18"/>
                    </a:cubicBezTo>
                    <a:cubicBezTo>
                      <a:pt x="20" y="19"/>
                      <a:pt x="20" y="19"/>
                      <a:pt x="21" y="20"/>
                    </a:cubicBezTo>
                    <a:cubicBezTo>
                      <a:pt x="22" y="20"/>
                      <a:pt x="23" y="21"/>
                      <a:pt x="24" y="20"/>
                    </a:cubicBezTo>
                    <a:cubicBezTo>
                      <a:pt x="24" y="19"/>
                      <a:pt x="24" y="19"/>
                      <a:pt x="24" y="18"/>
                    </a:cubicBezTo>
                    <a:cubicBezTo>
                      <a:pt x="24" y="15"/>
                      <a:pt x="20" y="12"/>
                      <a:pt x="17" y="12"/>
                    </a:cubicBezTo>
                    <a:cubicBezTo>
                      <a:pt x="16" y="11"/>
                      <a:pt x="14" y="10"/>
                      <a:pt x="14" y="12"/>
                    </a:cubicBezTo>
                    <a:cubicBezTo>
                      <a:pt x="14" y="12"/>
                      <a:pt x="13" y="14"/>
                      <a:pt x="13" y="14"/>
                    </a:cubicBezTo>
                    <a:cubicBezTo>
                      <a:pt x="12" y="14"/>
                      <a:pt x="11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3"/>
                      <a:pt x="10" y="13"/>
                      <a:pt x="10" y="12"/>
                    </a:cubicBezTo>
                    <a:cubicBezTo>
                      <a:pt x="10" y="12"/>
                      <a:pt x="9" y="12"/>
                      <a:pt x="9" y="11"/>
                    </a:cubicBezTo>
                    <a:cubicBezTo>
                      <a:pt x="9" y="10"/>
                      <a:pt x="13" y="6"/>
                      <a:pt x="14" y="6"/>
                    </a:cubicBezTo>
                    <a:cubicBezTo>
                      <a:pt x="16" y="8"/>
                      <a:pt x="17" y="8"/>
                      <a:pt x="19" y="9"/>
                    </a:cubicBezTo>
                    <a:cubicBezTo>
                      <a:pt x="20" y="9"/>
                      <a:pt x="21" y="10"/>
                      <a:pt x="21" y="10"/>
                    </a:cubicBezTo>
                    <a:cubicBezTo>
                      <a:pt x="23" y="11"/>
                      <a:pt x="24" y="11"/>
                      <a:pt x="26" y="12"/>
                    </a:cubicBezTo>
                    <a:cubicBezTo>
                      <a:pt x="28" y="12"/>
                      <a:pt x="30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3"/>
                      <a:pt x="27" y="12"/>
                      <a:pt x="28" y="10"/>
                    </a:cubicBezTo>
                    <a:cubicBezTo>
                      <a:pt x="28" y="8"/>
                      <a:pt x="30" y="8"/>
                      <a:pt x="29" y="6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6"/>
                      <a:pt x="31" y="6"/>
                      <a:pt x="32" y="6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33" y="2"/>
                      <a:pt x="29" y="6"/>
                      <a:pt x="26" y="6"/>
                    </a:cubicBezTo>
                    <a:cubicBezTo>
                      <a:pt x="25" y="4"/>
                      <a:pt x="27" y="2"/>
                      <a:pt x="29" y="0"/>
                    </a:cubicBezTo>
                    <a:cubicBezTo>
                      <a:pt x="30" y="1"/>
                      <a:pt x="32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Freeform 47">
                <a:extLst>
                  <a:ext uri="{FF2B5EF4-FFF2-40B4-BE49-F238E27FC236}">
                    <a16:creationId xmlns:a16="http://schemas.microsoft.com/office/drawing/2014/main" id="{43F74848-BCBB-B361-0E94-58D8BCF76C0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037700" y="4621516"/>
                <a:ext cx="53975" cy="46038"/>
              </a:xfrm>
              <a:custGeom>
                <a:avLst/>
                <a:gdLst>
                  <a:gd name="T0" fmla="*/ 13 w 36"/>
                  <a:gd name="T1" fmla="*/ 14 h 30"/>
                  <a:gd name="T2" fmla="*/ 10 w 36"/>
                  <a:gd name="T3" fmla="*/ 17 h 30"/>
                  <a:gd name="T4" fmla="*/ 10 w 36"/>
                  <a:gd name="T5" fmla="*/ 17 h 30"/>
                  <a:gd name="T6" fmla="*/ 13 w 36"/>
                  <a:gd name="T7" fmla="*/ 14 h 30"/>
                  <a:gd name="T8" fmla="*/ 13 w 36"/>
                  <a:gd name="T9" fmla="*/ 14 h 30"/>
                  <a:gd name="T10" fmla="*/ 26 w 36"/>
                  <a:gd name="T11" fmla="*/ 1 h 30"/>
                  <a:gd name="T12" fmla="*/ 27 w 36"/>
                  <a:gd name="T13" fmla="*/ 1 h 30"/>
                  <a:gd name="T14" fmla="*/ 25 w 36"/>
                  <a:gd name="T15" fmla="*/ 7 h 30"/>
                  <a:gd name="T16" fmla="*/ 22 w 36"/>
                  <a:gd name="T17" fmla="*/ 10 h 30"/>
                  <a:gd name="T18" fmla="*/ 22 w 36"/>
                  <a:gd name="T19" fmla="*/ 11 h 30"/>
                  <a:gd name="T20" fmla="*/ 25 w 36"/>
                  <a:gd name="T21" fmla="*/ 11 h 30"/>
                  <a:gd name="T22" fmla="*/ 26 w 36"/>
                  <a:gd name="T23" fmla="*/ 10 h 30"/>
                  <a:gd name="T24" fmla="*/ 29 w 36"/>
                  <a:gd name="T25" fmla="*/ 13 h 30"/>
                  <a:gd name="T26" fmla="*/ 28 w 36"/>
                  <a:gd name="T27" fmla="*/ 14 h 30"/>
                  <a:gd name="T28" fmla="*/ 21 w 36"/>
                  <a:gd name="T29" fmla="*/ 14 h 30"/>
                  <a:gd name="T30" fmla="*/ 19 w 36"/>
                  <a:gd name="T31" fmla="*/ 13 h 30"/>
                  <a:gd name="T32" fmla="*/ 16 w 36"/>
                  <a:gd name="T33" fmla="*/ 18 h 30"/>
                  <a:gd name="T34" fmla="*/ 16 w 36"/>
                  <a:gd name="T35" fmla="*/ 18 h 30"/>
                  <a:gd name="T36" fmla="*/ 21 w 36"/>
                  <a:gd name="T37" fmla="*/ 20 h 30"/>
                  <a:gd name="T38" fmla="*/ 20 w 36"/>
                  <a:gd name="T39" fmla="*/ 24 h 30"/>
                  <a:gd name="T40" fmla="*/ 20 w 36"/>
                  <a:gd name="T41" fmla="*/ 27 h 30"/>
                  <a:gd name="T42" fmla="*/ 14 w 36"/>
                  <a:gd name="T43" fmla="*/ 27 h 30"/>
                  <a:gd name="T44" fmla="*/ 15 w 36"/>
                  <a:gd name="T45" fmla="*/ 21 h 30"/>
                  <a:gd name="T46" fmla="*/ 14 w 36"/>
                  <a:gd name="T47" fmla="*/ 21 h 30"/>
                  <a:gd name="T48" fmla="*/ 9 w 36"/>
                  <a:gd name="T49" fmla="*/ 28 h 30"/>
                  <a:gd name="T50" fmla="*/ 9 w 36"/>
                  <a:gd name="T51" fmla="*/ 28 h 30"/>
                  <a:gd name="T52" fmla="*/ 9 w 36"/>
                  <a:gd name="T53" fmla="*/ 22 h 30"/>
                  <a:gd name="T54" fmla="*/ 11 w 36"/>
                  <a:gd name="T55" fmla="*/ 20 h 30"/>
                  <a:gd name="T56" fmla="*/ 8 w 36"/>
                  <a:gd name="T57" fmla="*/ 20 h 30"/>
                  <a:gd name="T58" fmla="*/ 6 w 36"/>
                  <a:gd name="T59" fmla="*/ 21 h 30"/>
                  <a:gd name="T60" fmla="*/ 1 w 36"/>
                  <a:gd name="T61" fmla="*/ 23 h 30"/>
                  <a:gd name="T62" fmla="*/ 0 w 36"/>
                  <a:gd name="T63" fmla="*/ 22 h 30"/>
                  <a:gd name="T64" fmla="*/ 1 w 36"/>
                  <a:gd name="T65" fmla="*/ 19 h 30"/>
                  <a:gd name="T66" fmla="*/ 3 w 36"/>
                  <a:gd name="T67" fmla="*/ 15 h 30"/>
                  <a:gd name="T68" fmla="*/ 13 w 36"/>
                  <a:gd name="T69" fmla="*/ 13 h 30"/>
                  <a:gd name="T70" fmla="*/ 16 w 36"/>
                  <a:gd name="T71" fmla="*/ 14 h 30"/>
                  <a:gd name="T72" fmla="*/ 16 w 36"/>
                  <a:gd name="T73" fmla="*/ 14 h 30"/>
                  <a:gd name="T74" fmla="*/ 16 w 36"/>
                  <a:gd name="T75" fmla="*/ 13 h 30"/>
                  <a:gd name="T76" fmla="*/ 15 w 36"/>
                  <a:gd name="T77" fmla="*/ 13 h 30"/>
                  <a:gd name="T78" fmla="*/ 13 w 36"/>
                  <a:gd name="T79" fmla="*/ 8 h 30"/>
                  <a:gd name="T80" fmla="*/ 13 w 36"/>
                  <a:gd name="T81" fmla="*/ 8 h 30"/>
                  <a:gd name="T82" fmla="*/ 18 w 36"/>
                  <a:gd name="T83" fmla="*/ 11 h 30"/>
                  <a:gd name="T84" fmla="*/ 20 w 36"/>
                  <a:gd name="T85" fmla="*/ 9 h 30"/>
                  <a:gd name="T86" fmla="*/ 21 w 36"/>
                  <a:gd name="T87" fmla="*/ 7 h 30"/>
                  <a:gd name="T88" fmla="*/ 24 w 36"/>
                  <a:gd name="T89" fmla="*/ 4 h 30"/>
                  <a:gd name="T90" fmla="*/ 26 w 36"/>
                  <a:gd name="T91" fmla="*/ 1 h 30"/>
                  <a:gd name="T92" fmla="*/ 26 w 36"/>
                  <a:gd name="T93" fmla="*/ 1 h 30"/>
                  <a:gd name="T94" fmla="*/ 31 w 36"/>
                  <a:gd name="T95" fmla="*/ 3 h 30"/>
                  <a:gd name="T96" fmla="*/ 35 w 36"/>
                  <a:gd name="T97" fmla="*/ 7 h 30"/>
                  <a:gd name="T98" fmla="*/ 36 w 36"/>
                  <a:gd name="T99" fmla="*/ 9 h 30"/>
                  <a:gd name="T100" fmla="*/ 31 w 36"/>
                  <a:gd name="T101" fmla="*/ 10 h 30"/>
                  <a:gd name="T102" fmla="*/ 31 w 36"/>
                  <a:gd name="T103" fmla="*/ 8 h 30"/>
                  <a:gd name="T104" fmla="*/ 30 w 36"/>
                  <a:gd name="T105" fmla="*/ 8 h 30"/>
                  <a:gd name="T106" fmla="*/ 31 w 36"/>
                  <a:gd name="T107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" h="30">
                    <a:moveTo>
                      <a:pt x="13" y="14"/>
                    </a:moveTo>
                    <a:cubicBezTo>
                      <a:pt x="13" y="14"/>
                      <a:pt x="10" y="16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9"/>
                      <a:pt x="14" y="17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lose/>
                    <a:moveTo>
                      <a:pt x="26" y="1"/>
                    </a:moveTo>
                    <a:cubicBezTo>
                      <a:pt x="26" y="1"/>
                      <a:pt x="26" y="1"/>
                      <a:pt x="27" y="1"/>
                    </a:cubicBezTo>
                    <a:cubicBezTo>
                      <a:pt x="27" y="2"/>
                      <a:pt x="25" y="6"/>
                      <a:pt x="25" y="7"/>
                    </a:cubicBezTo>
                    <a:cubicBezTo>
                      <a:pt x="24" y="8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1"/>
                    </a:cubicBezTo>
                    <a:cubicBezTo>
                      <a:pt x="23" y="12"/>
                      <a:pt x="25" y="12"/>
                      <a:pt x="25" y="11"/>
                    </a:cubicBezTo>
                    <a:cubicBezTo>
                      <a:pt x="26" y="10"/>
                      <a:pt x="25" y="10"/>
                      <a:pt x="26" y="10"/>
                    </a:cubicBezTo>
                    <a:cubicBezTo>
                      <a:pt x="27" y="10"/>
                      <a:pt x="29" y="12"/>
                      <a:pt x="29" y="13"/>
                    </a:cubicBezTo>
                    <a:cubicBezTo>
                      <a:pt x="29" y="13"/>
                      <a:pt x="29" y="14"/>
                      <a:pt x="28" y="14"/>
                    </a:cubicBezTo>
                    <a:cubicBezTo>
                      <a:pt x="25" y="13"/>
                      <a:pt x="23" y="14"/>
                      <a:pt x="21" y="14"/>
                    </a:cubicBezTo>
                    <a:cubicBezTo>
                      <a:pt x="20" y="14"/>
                      <a:pt x="20" y="13"/>
                      <a:pt x="19" y="13"/>
                    </a:cubicBezTo>
                    <a:cubicBezTo>
                      <a:pt x="18" y="14"/>
                      <a:pt x="16" y="17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9"/>
                      <a:pt x="19" y="17"/>
                      <a:pt x="21" y="20"/>
                    </a:cubicBezTo>
                    <a:cubicBezTo>
                      <a:pt x="21" y="22"/>
                      <a:pt x="20" y="22"/>
                      <a:pt x="20" y="24"/>
                    </a:cubicBezTo>
                    <a:cubicBezTo>
                      <a:pt x="19" y="25"/>
                      <a:pt x="20" y="26"/>
                      <a:pt x="20" y="27"/>
                    </a:cubicBezTo>
                    <a:cubicBezTo>
                      <a:pt x="19" y="30"/>
                      <a:pt x="15" y="29"/>
                      <a:pt x="14" y="27"/>
                    </a:cubicBezTo>
                    <a:cubicBezTo>
                      <a:pt x="13" y="26"/>
                      <a:pt x="15" y="22"/>
                      <a:pt x="15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1" y="22"/>
                      <a:pt x="11" y="26"/>
                      <a:pt x="9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8" y="27"/>
                      <a:pt x="9" y="24"/>
                      <a:pt x="9" y="22"/>
                    </a:cubicBezTo>
                    <a:cubicBezTo>
                      <a:pt x="10" y="22"/>
                      <a:pt x="11" y="21"/>
                      <a:pt x="11" y="20"/>
                    </a:cubicBezTo>
                    <a:cubicBezTo>
                      <a:pt x="10" y="20"/>
                      <a:pt x="9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2"/>
                      <a:pt x="3" y="23"/>
                      <a:pt x="1" y="23"/>
                    </a:cubicBezTo>
                    <a:cubicBezTo>
                      <a:pt x="1" y="23"/>
                      <a:pt x="1" y="22"/>
                      <a:pt x="0" y="22"/>
                    </a:cubicBezTo>
                    <a:cubicBezTo>
                      <a:pt x="1" y="20"/>
                      <a:pt x="1" y="20"/>
                      <a:pt x="1" y="19"/>
                    </a:cubicBezTo>
                    <a:cubicBezTo>
                      <a:pt x="1" y="18"/>
                      <a:pt x="3" y="17"/>
                      <a:pt x="3" y="15"/>
                    </a:cubicBezTo>
                    <a:cubicBezTo>
                      <a:pt x="7" y="15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2" y="12"/>
                      <a:pt x="12" y="10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4" y="10"/>
                      <a:pt x="17" y="11"/>
                      <a:pt x="18" y="11"/>
                    </a:cubicBezTo>
                    <a:cubicBezTo>
                      <a:pt x="19" y="10"/>
                      <a:pt x="19" y="10"/>
                      <a:pt x="20" y="9"/>
                    </a:cubicBezTo>
                    <a:cubicBezTo>
                      <a:pt x="20" y="8"/>
                      <a:pt x="21" y="8"/>
                      <a:pt x="21" y="7"/>
                    </a:cubicBezTo>
                    <a:cubicBezTo>
                      <a:pt x="22" y="6"/>
                      <a:pt x="23" y="5"/>
                      <a:pt x="24" y="4"/>
                    </a:cubicBezTo>
                    <a:cubicBezTo>
                      <a:pt x="24" y="4"/>
                      <a:pt x="25" y="1"/>
                      <a:pt x="26" y="1"/>
                    </a:cubicBezTo>
                    <a:cubicBezTo>
                      <a:pt x="25" y="0"/>
                      <a:pt x="26" y="1"/>
                      <a:pt x="26" y="1"/>
                    </a:cubicBezTo>
                    <a:close/>
                    <a:moveTo>
                      <a:pt x="31" y="3"/>
                    </a:moveTo>
                    <a:cubicBezTo>
                      <a:pt x="32" y="4"/>
                      <a:pt x="34" y="5"/>
                      <a:pt x="35" y="7"/>
                    </a:cubicBezTo>
                    <a:cubicBezTo>
                      <a:pt x="35" y="8"/>
                      <a:pt x="36" y="9"/>
                      <a:pt x="36" y="9"/>
                    </a:cubicBezTo>
                    <a:cubicBezTo>
                      <a:pt x="35" y="12"/>
                      <a:pt x="32" y="12"/>
                      <a:pt x="31" y="10"/>
                    </a:cubicBezTo>
                    <a:cubicBezTo>
                      <a:pt x="31" y="10"/>
                      <a:pt x="31" y="9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6"/>
                      <a:pt x="29" y="4"/>
                      <a:pt x="3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" name="Freeform 48">
                <a:extLst>
                  <a:ext uri="{FF2B5EF4-FFF2-40B4-BE49-F238E27FC236}">
                    <a16:creationId xmlns:a16="http://schemas.microsoft.com/office/drawing/2014/main" id="{48FB9059-2807-EDD9-13CE-BF41B5F5FC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13875" y="4588179"/>
                <a:ext cx="36513" cy="52388"/>
              </a:xfrm>
              <a:custGeom>
                <a:avLst/>
                <a:gdLst>
                  <a:gd name="T0" fmla="*/ 14 w 24"/>
                  <a:gd name="T1" fmla="*/ 5 h 34"/>
                  <a:gd name="T2" fmla="*/ 14 w 24"/>
                  <a:gd name="T3" fmla="*/ 5 h 34"/>
                  <a:gd name="T4" fmla="*/ 14 w 24"/>
                  <a:gd name="T5" fmla="*/ 5 h 34"/>
                  <a:gd name="T6" fmla="*/ 14 w 24"/>
                  <a:gd name="T7" fmla="*/ 4 h 34"/>
                  <a:gd name="T8" fmla="*/ 14 w 24"/>
                  <a:gd name="T9" fmla="*/ 4 h 34"/>
                  <a:gd name="T10" fmla="*/ 14 w 24"/>
                  <a:gd name="T11" fmla="*/ 4 h 34"/>
                  <a:gd name="T12" fmla="*/ 14 w 24"/>
                  <a:gd name="T13" fmla="*/ 4 h 34"/>
                  <a:gd name="T14" fmla="*/ 20 w 24"/>
                  <a:gd name="T15" fmla="*/ 2 h 34"/>
                  <a:gd name="T16" fmla="*/ 14 w 24"/>
                  <a:gd name="T17" fmla="*/ 7 h 34"/>
                  <a:gd name="T18" fmla="*/ 22 w 24"/>
                  <a:gd name="T19" fmla="*/ 15 h 34"/>
                  <a:gd name="T20" fmla="*/ 16 w 24"/>
                  <a:gd name="T21" fmla="*/ 18 h 34"/>
                  <a:gd name="T22" fmla="*/ 15 w 24"/>
                  <a:gd name="T23" fmla="*/ 23 h 34"/>
                  <a:gd name="T24" fmla="*/ 17 w 24"/>
                  <a:gd name="T25" fmla="*/ 22 h 34"/>
                  <a:gd name="T26" fmla="*/ 24 w 24"/>
                  <a:gd name="T27" fmla="*/ 24 h 34"/>
                  <a:gd name="T28" fmla="*/ 18 w 24"/>
                  <a:gd name="T29" fmla="*/ 26 h 34"/>
                  <a:gd name="T30" fmla="*/ 9 w 24"/>
                  <a:gd name="T31" fmla="*/ 32 h 34"/>
                  <a:gd name="T32" fmla="*/ 16 w 24"/>
                  <a:gd name="T33" fmla="*/ 27 h 34"/>
                  <a:gd name="T34" fmla="*/ 10 w 24"/>
                  <a:gd name="T35" fmla="*/ 29 h 34"/>
                  <a:gd name="T36" fmla="*/ 7 w 24"/>
                  <a:gd name="T37" fmla="*/ 28 h 34"/>
                  <a:gd name="T38" fmla="*/ 14 w 24"/>
                  <a:gd name="T39" fmla="*/ 25 h 34"/>
                  <a:gd name="T40" fmla="*/ 13 w 24"/>
                  <a:gd name="T41" fmla="*/ 24 h 34"/>
                  <a:gd name="T42" fmla="*/ 14 w 24"/>
                  <a:gd name="T43" fmla="*/ 19 h 34"/>
                  <a:gd name="T44" fmla="*/ 9 w 24"/>
                  <a:gd name="T45" fmla="*/ 22 h 34"/>
                  <a:gd name="T46" fmla="*/ 9 w 24"/>
                  <a:gd name="T47" fmla="*/ 20 h 34"/>
                  <a:gd name="T48" fmla="*/ 17 w 24"/>
                  <a:gd name="T49" fmla="*/ 16 h 34"/>
                  <a:gd name="T50" fmla="*/ 14 w 24"/>
                  <a:gd name="T51" fmla="*/ 10 h 34"/>
                  <a:gd name="T52" fmla="*/ 7 w 24"/>
                  <a:gd name="T53" fmla="*/ 17 h 34"/>
                  <a:gd name="T54" fmla="*/ 4 w 24"/>
                  <a:gd name="T55" fmla="*/ 26 h 34"/>
                  <a:gd name="T56" fmla="*/ 2 w 24"/>
                  <a:gd name="T57" fmla="*/ 19 h 34"/>
                  <a:gd name="T58" fmla="*/ 6 w 24"/>
                  <a:gd name="T59" fmla="*/ 12 h 34"/>
                  <a:gd name="T60" fmla="*/ 12 w 24"/>
                  <a:gd name="T61" fmla="*/ 7 h 34"/>
                  <a:gd name="T62" fmla="*/ 8 w 24"/>
                  <a:gd name="T63" fmla="*/ 6 h 34"/>
                  <a:gd name="T64" fmla="*/ 1 w 24"/>
                  <a:gd name="T65" fmla="*/ 3 h 34"/>
                  <a:gd name="T66" fmla="*/ 4 w 24"/>
                  <a:gd name="T67" fmla="*/ 7 h 34"/>
                  <a:gd name="T68" fmla="*/ 0 w 24"/>
                  <a:gd name="T69" fmla="*/ 5 h 34"/>
                  <a:gd name="T70" fmla="*/ 1 w 24"/>
                  <a:gd name="T71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" h="34"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lose/>
                    <a:moveTo>
                      <a:pt x="14" y="4"/>
                    </a:move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lose/>
                    <a:moveTo>
                      <a:pt x="16" y="1"/>
                    </a:moveTo>
                    <a:cubicBezTo>
                      <a:pt x="17" y="0"/>
                      <a:pt x="19" y="1"/>
                      <a:pt x="20" y="2"/>
                    </a:cubicBezTo>
                    <a:cubicBezTo>
                      <a:pt x="20" y="2"/>
                      <a:pt x="21" y="2"/>
                      <a:pt x="20" y="2"/>
                    </a:cubicBezTo>
                    <a:cubicBezTo>
                      <a:pt x="20" y="4"/>
                      <a:pt x="16" y="5"/>
                      <a:pt x="14" y="7"/>
                    </a:cubicBezTo>
                    <a:cubicBezTo>
                      <a:pt x="15" y="8"/>
                      <a:pt x="16" y="7"/>
                      <a:pt x="18" y="8"/>
                    </a:cubicBezTo>
                    <a:cubicBezTo>
                      <a:pt x="20" y="8"/>
                      <a:pt x="24" y="12"/>
                      <a:pt x="22" y="15"/>
                    </a:cubicBezTo>
                    <a:cubicBezTo>
                      <a:pt x="21" y="16"/>
                      <a:pt x="20" y="16"/>
                      <a:pt x="19" y="16"/>
                    </a:cubicBezTo>
                    <a:cubicBezTo>
                      <a:pt x="18" y="17"/>
                      <a:pt x="17" y="16"/>
                      <a:pt x="16" y="18"/>
                    </a:cubicBezTo>
                    <a:cubicBezTo>
                      <a:pt x="16" y="18"/>
                      <a:pt x="16" y="19"/>
                      <a:pt x="17" y="20"/>
                    </a:cubicBezTo>
                    <a:cubicBezTo>
                      <a:pt x="16" y="21"/>
                      <a:pt x="16" y="22"/>
                      <a:pt x="15" y="23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3"/>
                      <a:pt x="17" y="23"/>
                      <a:pt x="17" y="22"/>
                    </a:cubicBezTo>
                    <a:cubicBezTo>
                      <a:pt x="18" y="22"/>
                      <a:pt x="21" y="22"/>
                      <a:pt x="22" y="22"/>
                    </a:cubicBezTo>
                    <a:cubicBezTo>
                      <a:pt x="23" y="22"/>
                      <a:pt x="23" y="24"/>
                      <a:pt x="24" y="24"/>
                    </a:cubicBezTo>
                    <a:cubicBezTo>
                      <a:pt x="23" y="25"/>
                      <a:pt x="23" y="25"/>
                      <a:pt x="23" y="26"/>
                    </a:cubicBezTo>
                    <a:cubicBezTo>
                      <a:pt x="21" y="27"/>
                      <a:pt x="20" y="24"/>
                      <a:pt x="18" y="26"/>
                    </a:cubicBezTo>
                    <a:cubicBezTo>
                      <a:pt x="17" y="27"/>
                      <a:pt x="19" y="29"/>
                      <a:pt x="19" y="31"/>
                    </a:cubicBezTo>
                    <a:cubicBezTo>
                      <a:pt x="18" y="34"/>
                      <a:pt x="11" y="34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2" y="30"/>
                      <a:pt x="16" y="30"/>
                      <a:pt x="16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4" y="27"/>
                      <a:pt x="12" y="29"/>
                      <a:pt x="10" y="29"/>
                    </a:cubicBezTo>
                    <a:cubicBezTo>
                      <a:pt x="10" y="29"/>
                      <a:pt x="8" y="29"/>
                      <a:pt x="8" y="29"/>
                    </a:cubicBezTo>
                    <a:cubicBezTo>
                      <a:pt x="8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9" y="27"/>
                      <a:pt x="14" y="26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3" y="24"/>
                      <a:pt x="13" y="24"/>
                    </a:cubicBezTo>
                    <a:cubicBezTo>
                      <a:pt x="13" y="23"/>
                      <a:pt x="13" y="22"/>
                      <a:pt x="13" y="22"/>
                    </a:cubicBezTo>
                    <a:cubicBezTo>
                      <a:pt x="13" y="21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3" y="19"/>
                    </a:cubicBezTo>
                    <a:cubicBezTo>
                      <a:pt x="12" y="18"/>
                      <a:pt x="10" y="21"/>
                      <a:pt x="9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8"/>
                      <a:pt x="12" y="16"/>
                      <a:pt x="14" y="17"/>
                    </a:cubicBezTo>
                    <a:cubicBezTo>
                      <a:pt x="15" y="17"/>
                      <a:pt x="16" y="16"/>
                      <a:pt x="17" y="16"/>
                    </a:cubicBezTo>
                    <a:cubicBezTo>
                      <a:pt x="17" y="15"/>
                      <a:pt x="18" y="14"/>
                      <a:pt x="18" y="14"/>
                    </a:cubicBezTo>
                    <a:cubicBezTo>
                      <a:pt x="19" y="11"/>
                      <a:pt x="16" y="10"/>
                      <a:pt x="14" y="10"/>
                    </a:cubicBezTo>
                    <a:cubicBezTo>
                      <a:pt x="12" y="10"/>
                      <a:pt x="10" y="12"/>
                      <a:pt x="10" y="13"/>
                    </a:cubicBezTo>
                    <a:cubicBezTo>
                      <a:pt x="9" y="14"/>
                      <a:pt x="8" y="16"/>
                      <a:pt x="7" y="17"/>
                    </a:cubicBezTo>
                    <a:cubicBezTo>
                      <a:pt x="6" y="18"/>
                      <a:pt x="6" y="19"/>
                      <a:pt x="5" y="20"/>
                    </a:cubicBezTo>
                    <a:cubicBezTo>
                      <a:pt x="4" y="22"/>
                      <a:pt x="5" y="24"/>
                      <a:pt x="4" y="26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1"/>
                      <a:pt x="1" y="20"/>
                      <a:pt x="2" y="19"/>
                    </a:cubicBezTo>
                    <a:cubicBezTo>
                      <a:pt x="2" y="18"/>
                      <a:pt x="3" y="17"/>
                      <a:pt x="3" y="16"/>
                    </a:cubicBezTo>
                    <a:cubicBezTo>
                      <a:pt x="4" y="15"/>
                      <a:pt x="5" y="14"/>
                      <a:pt x="6" y="12"/>
                    </a:cubicBezTo>
                    <a:cubicBezTo>
                      <a:pt x="8" y="11"/>
                      <a:pt x="11" y="9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0" y="7"/>
                      <a:pt x="8" y="7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12" y="4"/>
                      <a:pt x="14" y="2"/>
                      <a:pt x="16" y="1"/>
                    </a:cubicBezTo>
                    <a:close/>
                    <a:moveTo>
                      <a:pt x="1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4" y="7"/>
                      <a:pt x="4" y="7"/>
                    </a:cubicBezTo>
                    <a:cubicBezTo>
                      <a:pt x="4" y="9"/>
                      <a:pt x="5" y="9"/>
                      <a:pt x="4" y="10"/>
                    </a:cubicBezTo>
                    <a:cubicBezTo>
                      <a:pt x="1" y="10"/>
                      <a:pt x="0" y="9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1" name="Freeform 49">
                <a:extLst>
                  <a:ext uri="{FF2B5EF4-FFF2-40B4-BE49-F238E27FC236}">
                    <a16:creationId xmlns:a16="http://schemas.microsoft.com/office/drawing/2014/main" id="{334DFB68-C007-E8F1-663B-9D2B129779AB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971025" y="4589766"/>
                <a:ext cx="50800" cy="52388"/>
              </a:xfrm>
              <a:custGeom>
                <a:avLst/>
                <a:gdLst>
                  <a:gd name="T0" fmla="*/ 17 w 34"/>
                  <a:gd name="T1" fmla="*/ 16 h 34"/>
                  <a:gd name="T2" fmla="*/ 20 w 34"/>
                  <a:gd name="T3" fmla="*/ 27 h 34"/>
                  <a:gd name="T4" fmla="*/ 18 w 34"/>
                  <a:gd name="T5" fmla="*/ 21 h 34"/>
                  <a:gd name="T6" fmla="*/ 20 w 34"/>
                  <a:gd name="T7" fmla="*/ 21 h 34"/>
                  <a:gd name="T8" fmla="*/ 25 w 34"/>
                  <a:gd name="T9" fmla="*/ 18 h 34"/>
                  <a:gd name="T10" fmla="*/ 22 w 34"/>
                  <a:gd name="T11" fmla="*/ 20 h 34"/>
                  <a:gd name="T12" fmla="*/ 21 w 34"/>
                  <a:gd name="T13" fmla="*/ 14 h 34"/>
                  <a:gd name="T14" fmla="*/ 28 w 34"/>
                  <a:gd name="T15" fmla="*/ 6 h 34"/>
                  <a:gd name="T16" fmla="*/ 26 w 34"/>
                  <a:gd name="T17" fmla="*/ 10 h 34"/>
                  <a:gd name="T18" fmla="*/ 28 w 34"/>
                  <a:gd name="T19" fmla="*/ 6 h 34"/>
                  <a:gd name="T20" fmla="*/ 26 w 34"/>
                  <a:gd name="T21" fmla="*/ 0 h 34"/>
                  <a:gd name="T22" fmla="*/ 28 w 34"/>
                  <a:gd name="T23" fmla="*/ 5 h 34"/>
                  <a:gd name="T24" fmla="*/ 34 w 34"/>
                  <a:gd name="T25" fmla="*/ 9 h 34"/>
                  <a:gd name="T26" fmla="*/ 28 w 34"/>
                  <a:gd name="T27" fmla="*/ 13 h 34"/>
                  <a:gd name="T28" fmla="*/ 28 w 34"/>
                  <a:gd name="T29" fmla="*/ 17 h 34"/>
                  <a:gd name="T30" fmla="*/ 27 w 34"/>
                  <a:gd name="T31" fmla="*/ 25 h 34"/>
                  <a:gd name="T32" fmla="*/ 32 w 34"/>
                  <a:gd name="T33" fmla="*/ 31 h 34"/>
                  <a:gd name="T34" fmla="*/ 26 w 34"/>
                  <a:gd name="T35" fmla="*/ 30 h 34"/>
                  <a:gd name="T36" fmla="*/ 22 w 34"/>
                  <a:gd name="T37" fmla="*/ 30 h 34"/>
                  <a:gd name="T38" fmla="*/ 15 w 34"/>
                  <a:gd name="T39" fmla="*/ 29 h 34"/>
                  <a:gd name="T40" fmla="*/ 13 w 34"/>
                  <a:gd name="T41" fmla="*/ 26 h 34"/>
                  <a:gd name="T42" fmla="*/ 13 w 34"/>
                  <a:gd name="T43" fmla="*/ 31 h 34"/>
                  <a:gd name="T44" fmla="*/ 10 w 34"/>
                  <a:gd name="T45" fmla="*/ 27 h 34"/>
                  <a:gd name="T46" fmla="*/ 8 w 34"/>
                  <a:gd name="T47" fmla="*/ 23 h 34"/>
                  <a:gd name="T48" fmla="*/ 2 w 34"/>
                  <a:gd name="T49" fmla="*/ 19 h 34"/>
                  <a:gd name="T50" fmla="*/ 4 w 34"/>
                  <a:gd name="T51" fmla="*/ 16 h 34"/>
                  <a:gd name="T52" fmla="*/ 13 w 34"/>
                  <a:gd name="T53" fmla="*/ 15 h 34"/>
                  <a:gd name="T54" fmla="*/ 16 w 34"/>
                  <a:gd name="T55" fmla="*/ 9 h 34"/>
                  <a:gd name="T56" fmla="*/ 11 w 34"/>
                  <a:gd name="T57" fmla="*/ 7 h 34"/>
                  <a:gd name="T58" fmla="*/ 10 w 34"/>
                  <a:gd name="T59" fmla="*/ 5 h 34"/>
                  <a:gd name="T60" fmla="*/ 12 w 34"/>
                  <a:gd name="T61" fmla="*/ 6 h 34"/>
                  <a:gd name="T62" fmla="*/ 20 w 34"/>
                  <a:gd name="T63" fmla="*/ 0 h 34"/>
                  <a:gd name="T64" fmla="*/ 23 w 34"/>
                  <a:gd name="T65" fmla="*/ 1 h 34"/>
                  <a:gd name="T66" fmla="*/ 17 w 34"/>
                  <a:gd name="T67" fmla="*/ 11 h 34"/>
                  <a:gd name="T68" fmla="*/ 19 w 34"/>
                  <a:gd name="T69" fmla="*/ 11 h 34"/>
                  <a:gd name="T70" fmla="*/ 23 w 34"/>
                  <a:gd name="T71" fmla="*/ 7 h 34"/>
                  <a:gd name="T72" fmla="*/ 26 w 34"/>
                  <a:gd name="T7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34">
                    <a:moveTo>
                      <a:pt x="21" y="13"/>
                    </a:moveTo>
                    <a:cubicBezTo>
                      <a:pt x="19" y="14"/>
                      <a:pt x="18" y="15"/>
                      <a:pt x="17" y="16"/>
                    </a:cubicBezTo>
                    <a:cubicBezTo>
                      <a:pt x="16" y="18"/>
                      <a:pt x="12" y="21"/>
                      <a:pt x="14" y="24"/>
                    </a:cubicBezTo>
                    <a:cubicBezTo>
                      <a:pt x="15" y="26"/>
                      <a:pt x="17" y="28"/>
                      <a:pt x="20" y="27"/>
                    </a:cubicBezTo>
                    <a:cubicBezTo>
                      <a:pt x="20" y="27"/>
                      <a:pt x="20" y="27"/>
                      <a:pt x="21" y="27"/>
                    </a:cubicBezTo>
                    <a:cubicBezTo>
                      <a:pt x="20" y="25"/>
                      <a:pt x="19" y="22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0" y="21"/>
                      <a:pt x="20" y="21"/>
                    </a:cubicBezTo>
                    <a:cubicBezTo>
                      <a:pt x="21" y="22"/>
                      <a:pt x="24" y="24"/>
                      <a:pt x="24" y="23"/>
                    </a:cubicBezTo>
                    <a:cubicBezTo>
                      <a:pt x="25" y="22"/>
                      <a:pt x="26" y="19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4" y="18"/>
                      <a:pt x="23" y="19"/>
                      <a:pt x="22" y="20"/>
                    </a:cubicBezTo>
                    <a:cubicBezTo>
                      <a:pt x="22" y="20"/>
                      <a:pt x="22" y="19"/>
                      <a:pt x="21" y="19"/>
                    </a:cubicBezTo>
                    <a:cubicBezTo>
                      <a:pt x="21" y="17"/>
                      <a:pt x="21" y="16"/>
                      <a:pt x="21" y="14"/>
                    </a:cubicBezTo>
                    <a:cubicBezTo>
                      <a:pt x="22" y="13"/>
                      <a:pt x="21" y="13"/>
                      <a:pt x="21" y="13"/>
                    </a:cubicBezTo>
                    <a:close/>
                    <a:moveTo>
                      <a:pt x="28" y="6"/>
                    </a:moveTo>
                    <a:cubicBezTo>
                      <a:pt x="28" y="7"/>
                      <a:pt x="26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30" y="9"/>
                      <a:pt x="30" y="9"/>
                    </a:cubicBezTo>
                    <a:cubicBezTo>
                      <a:pt x="30" y="8"/>
                      <a:pt x="29" y="7"/>
                      <a:pt x="28" y="6"/>
                    </a:cubicBezTo>
                    <a:cubicBezTo>
                      <a:pt x="28" y="6"/>
                      <a:pt x="28" y="6"/>
                      <a:pt x="28" y="6"/>
                    </a:cubicBezTo>
                    <a:close/>
                    <a:moveTo>
                      <a:pt x="26" y="0"/>
                    </a:moveTo>
                    <a:cubicBezTo>
                      <a:pt x="28" y="1"/>
                      <a:pt x="29" y="1"/>
                      <a:pt x="29" y="3"/>
                    </a:cubicBezTo>
                    <a:cubicBezTo>
                      <a:pt x="29" y="3"/>
                      <a:pt x="28" y="4"/>
                      <a:pt x="28" y="5"/>
                    </a:cubicBezTo>
                    <a:cubicBezTo>
                      <a:pt x="29" y="7"/>
                      <a:pt x="32" y="7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1"/>
                      <a:pt x="29" y="11"/>
                    </a:cubicBezTo>
                    <a:cubicBezTo>
                      <a:pt x="28" y="12"/>
                      <a:pt x="28" y="12"/>
                      <a:pt x="28" y="13"/>
                    </a:cubicBezTo>
                    <a:cubicBezTo>
                      <a:pt x="26" y="13"/>
                      <a:pt x="25" y="13"/>
                      <a:pt x="24" y="15"/>
                    </a:cubicBezTo>
                    <a:cubicBezTo>
                      <a:pt x="25" y="16"/>
                      <a:pt x="28" y="16"/>
                      <a:pt x="28" y="17"/>
                    </a:cubicBezTo>
                    <a:cubicBezTo>
                      <a:pt x="28" y="18"/>
                      <a:pt x="28" y="21"/>
                      <a:pt x="28" y="22"/>
                    </a:cubicBezTo>
                    <a:cubicBezTo>
                      <a:pt x="27" y="23"/>
                      <a:pt x="26" y="24"/>
                      <a:pt x="27" y="25"/>
                    </a:cubicBezTo>
                    <a:cubicBezTo>
                      <a:pt x="27" y="26"/>
                      <a:pt x="29" y="26"/>
                      <a:pt x="30" y="27"/>
                    </a:cubicBezTo>
                    <a:cubicBezTo>
                      <a:pt x="31" y="28"/>
                      <a:pt x="32" y="29"/>
                      <a:pt x="32" y="31"/>
                    </a:cubicBezTo>
                    <a:cubicBezTo>
                      <a:pt x="32" y="32"/>
                      <a:pt x="30" y="34"/>
                      <a:pt x="28" y="33"/>
                    </a:cubicBezTo>
                    <a:cubicBezTo>
                      <a:pt x="27" y="33"/>
                      <a:pt x="26" y="31"/>
                      <a:pt x="26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24" y="29"/>
                      <a:pt x="22" y="30"/>
                      <a:pt x="22" y="30"/>
                    </a:cubicBezTo>
                    <a:cubicBezTo>
                      <a:pt x="21" y="30"/>
                      <a:pt x="21" y="30"/>
                      <a:pt x="20" y="30"/>
                    </a:cubicBezTo>
                    <a:cubicBezTo>
                      <a:pt x="19" y="30"/>
                      <a:pt x="17" y="30"/>
                      <a:pt x="15" y="29"/>
                    </a:cubicBezTo>
                    <a:cubicBezTo>
                      <a:pt x="15" y="28"/>
                      <a:pt x="14" y="27"/>
                      <a:pt x="14" y="26"/>
                    </a:cubicBezTo>
                    <a:cubicBezTo>
                      <a:pt x="14" y="26"/>
                      <a:pt x="14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7"/>
                      <a:pt x="14" y="31"/>
                      <a:pt x="13" y="31"/>
                    </a:cubicBezTo>
                    <a:cubicBezTo>
                      <a:pt x="12" y="31"/>
                      <a:pt x="12" y="30"/>
                      <a:pt x="11" y="30"/>
                    </a:cubicBezTo>
                    <a:cubicBezTo>
                      <a:pt x="10" y="29"/>
                      <a:pt x="11" y="28"/>
                      <a:pt x="10" y="27"/>
                    </a:cubicBezTo>
                    <a:cubicBezTo>
                      <a:pt x="10" y="26"/>
                      <a:pt x="9" y="25"/>
                      <a:pt x="9" y="25"/>
                    </a:cubicBezTo>
                    <a:cubicBezTo>
                      <a:pt x="8" y="24"/>
                      <a:pt x="9" y="23"/>
                      <a:pt x="8" y="23"/>
                    </a:cubicBezTo>
                    <a:cubicBezTo>
                      <a:pt x="8" y="23"/>
                      <a:pt x="4" y="24"/>
                      <a:pt x="3" y="23"/>
                    </a:cubicBezTo>
                    <a:cubicBezTo>
                      <a:pt x="2" y="23"/>
                      <a:pt x="0" y="21"/>
                      <a:pt x="2" y="19"/>
                    </a:cubicBezTo>
                    <a:cubicBezTo>
                      <a:pt x="2" y="19"/>
                      <a:pt x="3" y="19"/>
                      <a:pt x="3" y="18"/>
                    </a:cubicBezTo>
                    <a:cubicBezTo>
                      <a:pt x="4" y="18"/>
                      <a:pt x="3" y="17"/>
                      <a:pt x="4" y="16"/>
                    </a:cubicBezTo>
                    <a:cubicBezTo>
                      <a:pt x="4" y="16"/>
                      <a:pt x="6" y="17"/>
                      <a:pt x="6" y="17"/>
                    </a:cubicBezTo>
                    <a:cubicBezTo>
                      <a:pt x="8" y="17"/>
                      <a:pt x="12" y="16"/>
                      <a:pt x="13" y="15"/>
                    </a:cubicBezTo>
                    <a:cubicBezTo>
                      <a:pt x="13" y="14"/>
                      <a:pt x="14" y="12"/>
                      <a:pt x="14" y="11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9"/>
                      <a:pt x="16" y="9"/>
                      <a:pt x="15" y="8"/>
                    </a:cubicBezTo>
                    <a:cubicBezTo>
                      <a:pt x="14" y="8"/>
                      <a:pt x="13" y="8"/>
                      <a:pt x="11" y="7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0" y="6"/>
                      <a:pt x="10" y="6"/>
                      <a:pt x="10" y="5"/>
                    </a:cubicBezTo>
                    <a:cubicBezTo>
                      <a:pt x="10" y="5"/>
                      <a:pt x="10" y="5"/>
                      <a:pt x="11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3" y="6"/>
                      <a:pt x="17" y="5"/>
                      <a:pt x="17" y="4"/>
                    </a:cubicBezTo>
                    <a:cubicBezTo>
                      <a:pt x="18" y="3"/>
                      <a:pt x="18" y="1"/>
                      <a:pt x="20" y="0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3"/>
                      <a:pt x="21" y="3"/>
                      <a:pt x="20" y="5"/>
                    </a:cubicBezTo>
                    <a:cubicBezTo>
                      <a:pt x="18" y="6"/>
                      <a:pt x="18" y="9"/>
                      <a:pt x="17" y="11"/>
                    </a:cubicBezTo>
                    <a:cubicBezTo>
                      <a:pt x="17" y="11"/>
                      <a:pt x="16" y="12"/>
                      <a:pt x="16" y="13"/>
                    </a:cubicBezTo>
                    <a:cubicBezTo>
                      <a:pt x="18" y="13"/>
                      <a:pt x="18" y="11"/>
                      <a:pt x="19" y="11"/>
                    </a:cubicBezTo>
                    <a:cubicBezTo>
                      <a:pt x="20" y="11"/>
                      <a:pt x="22" y="11"/>
                      <a:pt x="22" y="10"/>
                    </a:cubicBezTo>
                    <a:cubicBezTo>
                      <a:pt x="23" y="9"/>
                      <a:pt x="22" y="8"/>
                      <a:pt x="23" y="7"/>
                    </a:cubicBezTo>
                    <a:cubicBezTo>
                      <a:pt x="24" y="6"/>
                      <a:pt x="24" y="4"/>
                      <a:pt x="25" y="3"/>
                    </a:cubicBezTo>
                    <a:cubicBezTo>
                      <a:pt x="26" y="2"/>
                      <a:pt x="25" y="1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Freeform 50">
                <a:extLst>
                  <a:ext uri="{FF2B5EF4-FFF2-40B4-BE49-F238E27FC236}">
                    <a16:creationId xmlns:a16="http://schemas.microsoft.com/office/drawing/2014/main" id="{FC1F045A-7E4F-E4CC-5174-68028B542C7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56713" y="4715179"/>
                <a:ext cx="52388" cy="44450"/>
              </a:xfrm>
              <a:custGeom>
                <a:avLst/>
                <a:gdLst>
                  <a:gd name="T0" fmla="*/ 15 w 35"/>
                  <a:gd name="T1" fmla="*/ 20 h 30"/>
                  <a:gd name="T2" fmla="*/ 16 w 35"/>
                  <a:gd name="T3" fmla="*/ 24 h 30"/>
                  <a:gd name="T4" fmla="*/ 18 w 35"/>
                  <a:gd name="T5" fmla="*/ 23 h 30"/>
                  <a:gd name="T6" fmla="*/ 20 w 35"/>
                  <a:gd name="T7" fmla="*/ 24 h 30"/>
                  <a:gd name="T8" fmla="*/ 20 w 35"/>
                  <a:gd name="T9" fmla="*/ 24 h 30"/>
                  <a:gd name="T10" fmla="*/ 21 w 35"/>
                  <a:gd name="T11" fmla="*/ 22 h 30"/>
                  <a:gd name="T12" fmla="*/ 16 w 35"/>
                  <a:gd name="T13" fmla="*/ 20 h 30"/>
                  <a:gd name="T14" fmla="*/ 15 w 35"/>
                  <a:gd name="T15" fmla="*/ 20 h 30"/>
                  <a:gd name="T16" fmla="*/ 14 w 35"/>
                  <a:gd name="T17" fmla="*/ 7 h 30"/>
                  <a:gd name="T18" fmla="*/ 16 w 35"/>
                  <a:gd name="T19" fmla="*/ 13 h 30"/>
                  <a:gd name="T20" fmla="*/ 18 w 35"/>
                  <a:gd name="T21" fmla="*/ 13 h 30"/>
                  <a:gd name="T22" fmla="*/ 18 w 35"/>
                  <a:gd name="T23" fmla="*/ 13 h 30"/>
                  <a:gd name="T24" fmla="*/ 14 w 35"/>
                  <a:gd name="T25" fmla="*/ 6 h 30"/>
                  <a:gd name="T26" fmla="*/ 14 w 35"/>
                  <a:gd name="T27" fmla="*/ 6 h 30"/>
                  <a:gd name="T28" fmla="*/ 14 w 35"/>
                  <a:gd name="T29" fmla="*/ 7 h 30"/>
                  <a:gd name="T30" fmla="*/ 0 w 35"/>
                  <a:gd name="T31" fmla="*/ 14 h 30"/>
                  <a:gd name="T32" fmla="*/ 6 w 35"/>
                  <a:gd name="T33" fmla="*/ 9 h 30"/>
                  <a:gd name="T34" fmla="*/ 11 w 35"/>
                  <a:gd name="T35" fmla="*/ 10 h 30"/>
                  <a:gd name="T36" fmla="*/ 12 w 35"/>
                  <a:gd name="T37" fmla="*/ 3 h 30"/>
                  <a:gd name="T38" fmla="*/ 15 w 35"/>
                  <a:gd name="T39" fmla="*/ 0 h 30"/>
                  <a:gd name="T40" fmla="*/ 18 w 35"/>
                  <a:gd name="T41" fmla="*/ 6 h 30"/>
                  <a:gd name="T42" fmla="*/ 20 w 35"/>
                  <a:gd name="T43" fmla="*/ 10 h 30"/>
                  <a:gd name="T44" fmla="*/ 20 w 35"/>
                  <a:gd name="T45" fmla="*/ 9 h 30"/>
                  <a:gd name="T46" fmla="*/ 22 w 35"/>
                  <a:gd name="T47" fmla="*/ 5 h 30"/>
                  <a:gd name="T48" fmla="*/ 24 w 35"/>
                  <a:gd name="T49" fmla="*/ 5 h 30"/>
                  <a:gd name="T50" fmla="*/ 24 w 35"/>
                  <a:gd name="T51" fmla="*/ 9 h 30"/>
                  <a:gd name="T52" fmla="*/ 25 w 35"/>
                  <a:gd name="T53" fmla="*/ 14 h 30"/>
                  <a:gd name="T54" fmla="*/ 25 w 35"/>
                  <a:gd name="T55" fmla="*/ 16 h 30"/>
                  <a:gd name="T56" fmla="*/ 30 w 35"/>
                  <a:gd name="T57" fmla="*/ 18 h 30"/>
                  <a:gd name="T58" fmla="*/ 31 w 35"/>
                  <a:gd name="T59" fmla="*/ 20 h 30"/>
                  <a:gd name="T60" fmla="*/ 34 w 35"/>
                  <a:gd name="T61" fmla="*/ 22 h 30"/>
                  <a:gd name="T62" fmla="*/ 35 w 35"/>
                  <a:gd name="T63" fmla="*/ 23 h 30"/>
                  <a:gd name="T64" fmla="*/ 35 w 35"/>
                  <a:gd name="T65" fmla="*/ 23 h 30"/>
                  <a:gd name="T66" fmla="*/ 29 w 35"/>
                  <a:gd name="T67" fmla="*/ 23 h 30"/>
                  <a:gd name="T68" fmla="*/ 26 w 35"/>
                  <a:gd name="T69" fmla="*/ 23 h 30"/>
                  <a:gd name="T70" fmla="*/ 25 w 35"/>
                  <a:gd name="T71" fmla="*/ 24 h 30"/>
                  <a:gd name="T72" fmla="*/ 21 w 35"/>
                  <a:gd name="T73" fmla="*/ 26 h 30"/>
                  <a:gd name="T74" fmla="*/ 21 w 35"/>
                  <a:gd name="T75" fmla="*/ 28 h 30"/>
                  <a:gd name="T76" fmla="*/ 19 w 35"/>
                  <a:gd name="T77" fmla="*/ 28 h 30"/>
                  <a:gd name="T78" fmla="*/ 17 w 35"/>
                  <a:gd name="T79" fmla="*/ 30 h 30"/>
                  <a:gd name="T80" fmla="*/ 14 w 35"/>
                  <a:gd name="T81" fmla="*/ 30 h 30"/>
                  <a:gd name="T82" fmla="*/ 14 w 35"/>
                  <a:gd name="T83" fmla="*/ 30 h 30"/>
                  <a:gd name="T84" fmla="*/ 9 w 35"/>
                  <a:gd name="T85" fmla="*/ 28 h 30"/>
                  <a:gd name="T86" fmla="*/ 11 w 35"/>
                  <a:gd name="T87" fmla="*/ 26 h 30"/>
                  <a:gd name="T88" fmla="*/ 11 w 35"/>
                  <a:gd name="T89" fmla="*/ 23 h 30"/>
                  <a:gd name="T90" fmla="*/ 10 w 35"/>
                  <a:gd name="T91" fmla="*/ 17 h 30"/>
                  <a:gd name="T92" fmla="*/ 8 w 35"/>
                  <a:gd name="T93" fmla="*/ 16 h 30"/>
                  <a:gd name="T94" fmla="*/ 6 w 35"/>
                  <a:gd name="T95" fmla="*/ 16 h 30"/>
                  <a:gd name="T96" fmla="*/ 4 w 35"/>
                  <a:gd name="T97" fmla="*/ 15 h 30"/>
                  <a:gd name="T98" fmla="*/ 0 w 35"/>
                  <a:gd name="T99" fmla="*/ 14 h 30"/>
                  <a:gd name="T100" fmla="*/ 0 w 35"/>
                  <a:gd name="T10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5" h="30">
                    <a:moveTo>
                      <a:pt x="15" y="20"/>
                    </a:moveTo>
                    <a:cubicBezTo>
                      <a:pt x="15" y="22"/>
                      <a:pt x="16" y="22"/>
                      <a:pt x="16" y="24"/>
                    </a:cubicBezTo>
                    <a:cubicBezTo>
                      <a:pt x="18" y="24"/>
                      <a:pt x="18" y="23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3"/>
                      <a:pt x="21" y="22"/>
                    </a:cubicBezTo>
                    <a:cubicBezTo>
                      <a:pt x="20" y="21"/>
                      <a:pt x="18" y="20"/>
                      <a:pt x="16" y="20"/>
                    </a:cubicBezTo>
                    <a:cubicBezTo>
                      <a:pt x="15" y="20"/>
                      <a:pt x="15" y="20"/>
                      <a:pt x="15" y="20"/>
                    </a:cubicBezTo>
                    <a:close/>
                    <a:moveTo>
                      <a:pt x="14" y="7"/>
                    </a:moveTo>
                    <a:cubicBezTo>
                      <a:pt x="14" y="10"/>
                      <a:pt x="12" y="12"/>
                      <a:pt x="16" y="13"/>
                    </a:cubicBezTo>
                    <a:cubicBezTo>
                      <a:pt x="17" y="13"/>
                      <a:pt x="17" y="13"/>
                      <a:pt x="18" y="13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6" y="11"/>
                      <a:pt x="16" y="8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7"/>
                    </a:cubicBezTo>
                    <a:close/>
                    <a:moveTo>
                      <a:pt x="0" y="14"/>
                    </a:moveTo>
                    <a:cubicBezTo>
                      <a:pt x="1" y="13"/>
                      <a:pt x="5" y="9"/>
                      <a:pt x="6" y="9"/>
                    </a:cubicBezTo>
                    <a:cubicBezTo>
                      <a:pt x="8" y="9"/>
                      <a:pt x="9" y="10"/>
                      <a:pt x="11" y="10"/>
                    </a:cubicBezTo>
                    <a:cubicBezTo>
                      <a:pt x="12" y="8"/>
                      <a:pt x="12" y="6"/>
                      <a:pt x="12" y="3"/>
                    </a:cubicBezTo>
                    <a:cubicBezTo>
                      <a:pt x="12" y="2"/>
                      <a:pt x="14" y="0"/>
                      <a:pt x="15" y="0"/>
                    </a:cubicBezTo>
                    <a:cubicBezTo>
                      <a:pt x="16" y="2"/>
                      <a:pt x="17" y="4"/>
                      <a:pt x="18" y="6"/>
                    </a:cubicBezTo>
                    <a:cubicBezTo>
                      <a:pt x="18" y="7"/>
                      <a:pt x="18" y="9"/>
                      <a:pt x="20" y="10"/>
                    </a:cubicBezTo>
                    <a:cubicBezTo>
                      <a:pt x="20" y="10"/>
                      <a:pt x="20" y="10"/>
                      <a:pt x="20" y="9"/>
                    </a:cubicBezTo>
                    <a:cubicBezTo>
                      <a:pt x="21" y="9"/>
                      <a:pt x="21" y="6"/>
                      <a:pt x="22" y="5"/>
                    </a:cubicBezTo>
                    <a:cubicBezTo>
                      <a:pt x="22" y="5"/>
                      <a:pt x="23" y="5"/>
                      <a:pt x="24" y="5"/>
                    </a:cubicBezTo>
                    <a:cubicBezTo>
                      <a:pt x="25" y="6"/>
                      <a:pt x="24" y="8"/>
                      <a:pt x="24" y="9"/>
                    </a:cubicBezTo>
                    <a:cubicBezTo>
                      <a:pt x="24" y="11"/>
                      <a:pt x="25" y="12"/>
                      <a:pt x="25" y="14"/>
                    </a:cubicBezTo>
                    <a:cubicBezTo>
                      <a:pt x="26" y="15"/>
                      <a:pt x="25" y="15"/>
                      <a:pt x="25" y="16"/>
                    </a:cubicBezTo>
                    <a:cubicBezTo>
                      <a:pt x="26" y="18"/>
                      <a:pt x="29" y="17"/>
                      <a:pt x="30" y="18"/>
                    </a:cubicBezTo>
                    <a:cubicBezTo>
                      <a:pt x="31" y="19"/>
                      <a:pt x="31" y="20"/>
                      <a:pt x="31" y="20"/>
                    </a:cubicBezTo>
                    <a:cubicBezTo>
                      <a:pt x="32" y="21"/>
                      <a:pt x="33" y="21"/>
                      <a:pt x="34" y="22"/>
                    </a:cubicBezTo>
                    <a:cubicBezTo>
                      <a:pt x="34" y="22"/>
                      <a:pt x="35" y="22"/>
                      <a:pt x="35" y="23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3" y="22"/>
                      <a:pt x="31" y="23"/>
                      <a:pt x="29" y="23"/>
                    </a:cubicBezTo>
                    <a:cubicBezTo>
                      <a:pt x="28" y="23"/>
                      <a:pt x="27" y="22"/>
                      <a:pt x="26" y="23"/>
                    </a:cubicBezTo>
                    <a:cubicBezTo>
                      <a:pt x="26" y="23"/>
                      <a:pt x="25" y="24"/>
                      <a:pt x="25" y="24"/>
                    </a:cubicBezTo>
                    <a:cubicBezTo>
                      <a:pt x="24" y="25"/>
                      <a:pt x="22" y="24"/>
                      <a:pt x="21" y="26"/>
                    </a:cubicBezTo>
                    <a:cubicBezTo>
                      <a:pt x="21" y="26"/>
                      <a:pt x="21" y="27"/>
                      <a:pt x="21" y="28"/>
                    </a:cubicBezTo>
                    <a:cubicBezTo>
                      <a:pt x="20" y="28"/>
                      <a:pt x="20" y="28"/>
                      <a:pt x="19" y="28"/>
                    </a:cubicBezTo>
                    <a:cubicBezTo>
                      <a:pt x="18" y="28"/>
                      <a:pt x="18" y="29"/>
                      <a:pt x="17" y="30"/>
                    </a:cubicBezTo>
                    <a:cubicBezTo>
                      <a:pt x="16" y="30"/>
                      <a:pt x="15" y="28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28"/>
                      <a:pt x="11" y="28"/>
                      <a:pt x="9" y="28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2" y="25"/>
                      <a:pt x="11" y="24"/>
                      <a:pt x="11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9" y="17"/>
                      <a:pt x="9" y="17"/>
                      <a:pt x="8" y="16"/>
                    </a:cubicBezTo>
                    <a:cubicBezTo>
                      <a:pt x="7" y="16"/>
                      <a:pt x="6" y="16"/>
                      <a:pt x="6" y="16"/>
                    </a:cubicBezTo>
                    <a:cubicBezTo>
                      <a:pt x="5" y="16"/>
                      <a:pt x="4" y="15"/>
                      <a:pt x="4" y="15"/>
                    </a:cubicBezTo>
                    <a:cubicBezTo>
                      <a:pt x="2" y="14"/>
                      <a:pt x="1" y="15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Freeform 51">
                <a:extLst>
                  <a:ext uri="{FF2B5EF4-FFF2-40B4-BE49-F238E27FC236}">
                    <a16:creationId xmlns:a16="http://schemas.microsoft.com/office/drawing/2014/main" id="{E134EA4D-F1A5-F94A-08E1-425EBD9794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791638" y="4653266"/>
                <a:ext cx="50800" cy="55563"/>
              </a:xfrm>
              <a:custGeom>
                <a:avLst/>
                <a:gdLst>
                  <a:gd name="T0" fmla="*/ 20 w 34"/>
                  <a:gd name="T1" fmla="*/ 18 h 37"/>
                  <a:gd name="T2" fmla="*/ 22 w 34"/>
                  <a:gd name="T3" fmla="*/ 19 h 37"/>
                  <a:gd name="T4" fmla="*/ 20 w 34"/>
                  <a:gd name="T5" fmla="*/ 17 h 37"/>
                  <a:gd name="T6" fmla="*/ 14 w 34"/>
                  <a:gd name="T7" fmla="*/ 22 h 37"/>
                  <a:gd name="T8" fmla="*/ 14 w 34"/>
                  <a:gd name="T9" fmla="*/ 24 h 37"/>
                  <a:gd name="T10" fmla="*/ 15 w 34"/>
                  <a:gd name="T11" fmla="*/ 22 h 37"/>
                  <a:gd name="T12" fmla="*/ 14 w 34"/>
                  <a:gd name="T13" fmla="*/ 22 h 37"/>
                  <a:gd name="T14" fmla="*/ 16 w 34"/>
                  <a:gd name="T15" fmla="*/ 20 h 37"/>
                  <a:gd name="T16" fmla="*/ 16 w 34"/>
                  <a:gd name="T17" fmla="*/ 20 h 37"/>
                  <a:gd name="T18" fmla="*/ 16 w 34"/>
                  <a:gd name="T19" fmla="*/ 19 h 37"/>
                  <a:gd name="T20" fmla="*/ 10 w 34"/>
                  <a:gd name="T21" fmla="*/ 5 h 37"/>
                  <a:gd name="T22" fmla="*/ 6 w 34"/>
                  <a:gd name="T23" fmla="*/ 17 h 37"/>
                  <a:gd name="T24" fmla="*/ 8 w 34"/>
                  <a:gd name="T25" fmla="*/ 20 h 37"/>
                  <a:gd name="T26" fmla="*/ 15 w 34"/>
                  <a:gd name="T27" fmla="*/ 16 h 37"/>
                  <a:gd name="T28" fmla="*/ 20 w 34"/>
                  <a:gd name="T29" fmla="*/ 14 h 37"/>
                  <a:gd name="T30" fmla="*/ 25 w 34"/>
                  <a:gd name="T31" fmla="*/ 15 h 37"/>
                  <a:gd name="T32" fmla="*/ 23 w 34"/>
                  <a:gd name="T33" fmla="*/ 27 h 37"/>
                  <a:gd name="T34" fmla="*/ 18 w 34"/>
                  <a:gd name="T35" fmla="*/ 27 h 37"/>
                  <a:gd name="T36" fmla="*/ 17 w 34"/>
                  <a:gd name="T37" fmla="*/ 24 h 37"/>
                  <a:gd name="T38" fmla="*/ 13 w 34"/>
                  <a:gd name="T39" fmla="*/ 25 h 37"/>
                  <a:gd name="T40" fmla="*/ 12 w 34"/>
                  <a:gd name="T41" fmla="*/ 17 h 37"/>
                  <a:gd name="T42" fmla="*/ 10 w 34"/>
                  <a:gd name="T43" fmla="*/ 22 h 37"/>
                  <a:gd name="T44" fmla="*/ 17 w 34"/>
                  <a:gd name="T45" fmla="*/ 32 h 37"/>
                  <a:gd name="T46" fmla="*/ 20 w 34"/>
                  <a:gd name="T47" fmla="*/ 33 h 37"/>
                  <a:gd name="T48" fmla="*/ 24 w 34"/>
                  <a:gd name="T49" fmla="*/ 29 h 37"/>
                  <a:gd name="T50" fmla="*/ 23 w 34"/>
                  <a:gd name="T51" fmla="*/ 28 h 37"/>
                  <a:gd name="T52" fmla="*/ 26 w 34"/>
                  <a:gd name="T53" fmla="*/ 25 h 37"/>
                  <a:gd name="T54" fmla="*/ 21 w 34"/>
                  <a:gd name="T55" fmla="*/ 10 h 37"/>
                  <a:gd name="T56" fmla="*/ 17 w 34"/>
                  <a:gd name="T57" fmla="*/ 6 h 37"/>
                  <a:gd name="T58" fmla="*/ 10 w 34"/>
                  <a:gd name="T59" fmla="*/ 5 h 37"/>
                  <a:gd name="T60" fmla="*/ 12 w 34"/>
                  <a:gd name="T61" fmla="*/ 1 h 37"/>
                  <a:gd name="T62" fmla="*/ 27 w 34"/>
                  <a:gd name="T63" fmla="*/ 12 h 37"/>
                  <a:gd name="T64" fmla="*/ 31 w 34"/>
                  <a:gd name="T65" fmla="*/ 27 h 37"/>
                  <a:gd name="T66" fmla="*/ 26 w 34"/>
                  <a:gd name="T67" fmla="*/ 30 h 37"/>
                  <a:gd name="T68" fmla="*/ 20 w 34"/>
                  <a:gd name="T69" fmla="*/ 35 h 37"/>
                  <a:gd name="T70" fmla="*/ 19 w 34"/>
                  <a:gd name="T71" fmla="*/ 37 h 37"/>
                  <a:gd name="T72" fmla="*/ 14 w 34"/>
                  <a:gd name="T73" fmla="*/ 35 h 37"/>
                  <a:gd name="T74" fmla="*/ 8 w 34"/>
                  <a:gd name="T75" fmla="*/ 27 h 37"/>
                  <a:gd name="T76" fmla="*/ 3 w 34"/>
                  <a:gd name="T77" fmla="*/ 23 h 37"/>
                  <a:gd name="T78" fmla="*/ 4 w 34"/>
                  <a:gd name="T79" fmla="*/ 8 h 37"/>
                  <a:gd name="T80" fmla="*/ 5 w 34"/>
                  <a:gd name="T81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37">
                    <a:moveTo>
                      <a:pt x="20" y="17"/>
                    </a:moveTo>
                    <a:cubicBezTo>
                      <a:pt x="20" y="17"/>
                      <a:pt x="20" y="18"/>
                      <a:pt x="20" y="18"/>
                    </a:cubicBezTo>
                    <a:cubicBezTo>
                      <a:pt x="20" y="18"/>
                      <a:pt x="21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0" y="17"/>
                    </a:cubicBezTo>
                    <a:cubicBezTo>
                      <a:pt x="20" y="17"/>
                      <a:pt x="20" y="17"/>
                      <a:pt x="20" y="17"/>
                    </a:cubicBezTo>
                    <a:close/>
                    <a:moveTo>
                      <a:pt x="14" y="22"/>
                    </a:moveTo>
                    <a:cubicBezTo>
                      <a:pt x="14" y="23"/>
                      <a:pt x="14" y="23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3"/>
                      <a:pt x="14" y="23"/>
                      <a:pt x="15" y="22"/>
                    </a:cubicBezTo>
                    <a:cubicBezTo>
                      <a:pt x="15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lose/>
                    <a:moveTo>
                      <a:pt x="16" y="19"/>
                    </a:moveTo>
                    <a:cubicBezTo>
                      <a:pt x="16" y="19"/>
                      <a:pt x="16" y="19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lose/>
                    <a:moveTo>
                      <a:pt x="10" y="5"/>
                    </a:moveTo>
                    <a:cubicBezTo>
                      <a:pt x="9" y="6"/>
                      <a:pt x="8" y="7"/>
                      <a:pt x="7" y="8"/>
                    </a:cubicBezTo>
                    <a:cubicBezTo>
                      <a:pt x="5" y="11"/>
                      <a:pt x="6" y="14"/>
                      <a:pt x="6" y="17"/>
                    </a:cubicBezTo>
                    <a:cubicBezTo>
                      <a:pt x="6" y="18"/>
                      <a:pt x="7" y="20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9" y="19"/>
                      <a:pt x="8" y="12"/>
                      <a:pt x="12" y="12"/>
                    </a:cubicBezTo>
                    <a:cubicBezTo>
                      <a:pt x="13" y="12"/>
                      <a:pt x="14" y="15"/>
                      <a:pt x="15" y="16"/>
                    </a:cubicBezTo>
                    <a:cubicBezTo>
                      <a:pt x="16" y="16"/>
                      <a:pt x="18" y="16"/>
                      <a:pt x="19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1" y="14"/>
                      <a:pt x="22" y="13"/>
                      <a:pt x="24" y="13"/>
                    </a:cubicBezTo>
                    <a:cubicBezTo>
                      <a:pt x="24" y="14"/>
                      <a:pt x="24" y="14"/>
                      <a:pt x="25" y="15"/>
                    </a:cubicBezTo>
                    <a:cubicBezTo>
                      <a:pt x="25" y="16"/>
                      <a:pt x="24" y="17"/>
                      <a:pt x="24" y="18"/>
                    </a:cubicBezTo>
                    <a:cubicBezTo>
                      <a:pt x="24" y="21"/>
                      <a:pt x="24" y="24"/>
                      <a:pt x="23" y="27"/>
                    </a:cubicBezTo>
                    <a:cubicBezTo>
                      <a:pt x="22" y="27"/>
                      <a:pt x="22" y="28"/>
                      <a:pt x="21" y="29"/>
                    </a:cubicBezTo>
                    <a:cubicBezTo>
                      <a:pt x="20" y="28"/>
                      <a:pt x="19" y="28"/>
                      <a:pt x="18" y="27"/>
                    </a:cubicBezTo>
                    <a:cubicBezTo>
                      <a:pt x="18" y="26"/>
                      <a:pt x="18" y="25"/>
                      <a:pt x="18" y="25"/>
                    </a:cubicBezTo>
                    <a:cubicBezTo>
                      <a:pt x="18" y="25"/>
                      <a:pt x="17" y="25"/>
                      <a:pt x="17" y="24"/>
                    </a:cubicBezTo>
                    <a:cubicBezTo>
                      <a:pt x="17" y="24"/>
                      <a:pt x="17" y="25"/>
                      <a:pt x="16" y="25"/>
                    </a:cubicBezTo>
                    <a:cubicBezTo>
                      <a:pt x="15" y="25"/>
                      <a:pt x="14" y="26"/>
                      <a:pt x="13" y="25"/>
                    </a:cubicBezTo>
                    <a:cubicBezTo>
                      <a:pt x="13" y="25"/>
                      <a:pt x="12" y="24"/>
                      <a:pt x="12" y="24"/>
                    </a:cubicBezTo>
                    <a:cubicBezTo>
                      <a:pt x="12" y="23"/>
                      <a:pt x="15" y="17"/>
                      <a:pt x="12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8"/>
                      <a:pt x="10" y="21"/>
                      <a:pt x="10" y="22"/>
                    </a:cubicBezTo>
                    <a:cubicBezTo>
                      <a:pt x="10" y="23"/>
                      <a:pt x="11" y="23"/>
                      <a:pt x="11" y="25"/>
                    </a:cubicBezTo>
                    <a:cubicBezTo>
                      <a:pt x="12" y="27"/>
                      <a:pt x="15" y="30"/>
                      <a:pt x="17" y="32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9" y="33"/>
                      <a:pt x="20" y="33"/>
                      <a:pt x="20" y="33"/>
                    </a:cubicBezTo>
                    <a:cubicBezTo>
                      <a:pt x="21" y="33"/>
                      <a:pt x="23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3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4" y="27"/>
                      <a:pt x="25" y="28"/>
                      <a:pt x="26" y="27"/>
                    </a:cubicBezTo>
                    <a:cubicBezTo>
                      <a:pt x="26" y="26"/>
                      <a:pt x="26" y="25"/>
                      <a:pt x="26" y="25"/>
                    </a:cubicBezTo>
                    <a:cubicBezTo>
                      <a:pt x="27" y="24"/>
                      <a:pt x="29" y="24"/>
                      <a:pt x="30" y="23"/>
                    </a:cubicBezTo>
                    <a:cubicBezTo>
                      <a:pt x="31" y="19"/>
                      <a:pt x="25" y="12"/>
                      <a:pt x="21" y="10"/>
                    </a:cubicBezTo>
                    <a:cubicBezTo>
                      <a:pt x="21" y="9"/>
                      <a:pt x="20" y="8"/>
                      <a:pt x="19" y="7"/>
                    </a:cubicBezTo>
                    <a:cubicBezTo>
                      <a:pt x="18" y="7"/>
                      <a:pt x="18" y="7"/>
                      <a:pt x="17" y="6"/>
                    </a:cubicBezTo>
                    <a:cubicBezTo>
                      <a:pt x="15" y="5"/>
                      <a:pt x="14" y="3"/>
                      <a:pt x="12" y="3"/>
                    </a:cubicBezTo>
                    <a:cubicBezTo>
                      <a:pt x="11" y="3"/>
                      <a:pt x="10" y="4"/>
                      <a:pt x="10" y="5"/>
                    </a:cubicBezTo>
                    <a:close/>
                    <a:moveTo>
                      <a:pt x="7" y="5"/>
                    </a:moveTo>
                    <a:cubicBezTo>
                      <a:pt x="9" y="3"/>
                      <a:pt x="10" y="1"/>
                      <a:pt x="12" y="1"/>
                    </a:cubicBezTo>
                    <a:cubicBezTo>
                      <a:pt x="16" y="0"/>
                      <a:pt x="20" y="5"/>
                      <a:pt x="24" y="9"/>
                    </a:cubicBezTo>
                    <a:cubicBezTo>
                      <a:pt x="25" y="10"/>
                      <a:pt x="26" y="11"/>
                      <a:pt x="27" y="12"/>
                    </a:cubicBezTo>
                    <a:cubicBezTo>
                      <a:pt x="29" y="15"/>
                      <a:pt x="33" y="17"/>
                      <a:pt x="34" y="20"/>
                    </a:cubicBezTo>
                    <a:cubicBezTo>
                      <a:pt x="34" y="21"/>
                      <a:pt x="33" y="27"/>
                      <a:pt x="31" y="27"/>
                    </a:cubicBezTo>
                    <a:cubicBezTo>
                      <a:pt x="30" y="28"/>
                      <a:pt x="27" y="27"/>
                      <a:pt x="26" y="29"/>
                    </a:cubicBezTo>
                    <a:cubicBezTo>
                      <a:pt x="26" y="29"/>
                      <a:pt x="26" y="30"/>
                      <a:pt x="26" y="30"/>
                    </a:cubicBezTo>
                    <a:cubicBezTo>
                      <a:pt x="26" y="31"/>
                      <a:pt x="23" y="34"/>
                      <a:pt x="22" y="35"/>
                    </a:cubicBezTo>
                    <a:cubicBezTo>
                      <a:pt x="21" y="35"/>
                      <a:pt x="20" y="35"/>
                      <a:pt x="20" y="35"/>
                    </a:cubicBezTo>
                    <a:cubicBezTo>
                      <a:pt x="19" y="36"/>
                      <a:pt x="20" y="37"/>
                      <a:pt x="19" y="37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8" y="37"/>
                      <a:pt x="17" y="37"/>
                      <a:pt x="16" y="37"/>
                    </a:cubicBezTo>
                    <a:cubicBezTo>
                      <a:pt x="16" y="37"/>
                      <a:pt x="14" y="35"/>
                      <a:pt x="14" y="35"/>
                    </a:cubicBezTo>
                    <a:cubicBezTo>
                      <a:pt x="14" y="33"/>
                      <a:pt x="12" y="31"/>
                      <a:pt x="11" y="29"/>
                    </a:cubicBezTo>
                    <a:cubicBezTo>
                      <a:pt x="10" y="28"/>
                      <a:pt x="8" y="27"/>
                      <a:pt x="8" y="27"/>
                    </a:cubicBezTo>
                    <a:cubicBezTo>
                      <a:pt x="7" y="26"/>
                      <a:pt x="6" y="25"/>
                      <a:pt x="5" y="25"/>
                    </a:cubicBezTo>
                    <a:cubicBezTo>
                      <a:pt x="5" y="24"/>
                      <a:pt x="4" y="23"/>
                      <a:pt x="3" y="23"/>
                    </a:cubicBezTo>
                    <a:cubicBezTo>
                      <a:pt x="0" y="18"/>
                      <a:pt x="1" y="17"/>
                      <a:pt x="2" y="12"/>
                    </a:cubicBezTo>
                    <a:cubicBezTo>
                      <a:pt x="2" y="11"/>
                      <a:pt x="3" y="9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Freeform 52">
                <a:extLst>
                  <a:ext uri="{FF2B5EF4-FFF2-40B4-BE49-F238E27FC236}">
                    <a16:creationId xmlns:a16="http://schemas.microsoft.com/office/drawing/2014/main" id="{F57F5F52-6F85-78C4-0E8C-79587DD688C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847200" y="4611991"/>
                <a:ext cx="46038" cy="58738"/>
              </a:xfrm>
              <a:custGeom>
                <a:avLst/>
                <a:gdLst>
                  <a:gd name="T0" fmla="*/ 8 w 31"/>
                  <a:gd name="T1" fmla="*/ 31 h 39"/>
                  <a:gd name="T2" fmla="*/ 9 w 31"/>
                  <a:gd name="T3" fmla="*/ 30 h 39"/>
                  <a:gd name="T4" fmla="*/ 8 w 31"/>
                  <a:gd name="T5" fmla="*/ 26 h 39"/>
                  <a:gd name="T6" fmla="*/ 18 w 31"/>
                  <a:gd name="T7" fmla="*/ 18 h 39"/>
                  <a:gd name="T8" fmla="*/ 18 w 31"/>
                  <a:gd name="T9" fmla="*/ 21 h 39"/>
                  <a:gd name="T10" fmla="*/ 19 w 31"/>
                  <a:gd name="T11" fmla="*/ 18 h 39"/>
                  <a:gd name="T12" fmla="*/ 7 w 31"/>
                  <a:gd name="T13" fmla="*/ 22 h 39"/>
                  <a:gd name="T14" fmla="*/ 6 w 31"/>
                  <a:gd name="T15" fmla="*/ 23 h 39"/>
                  <a:gd name="T16" fmla="*/ 7 w 31"/>
                  <a:gd name="T17" fmla="*/ 22 h 39"/>
                  <a:gd name="T18" fmla="*/ 7 w 31"/>
                  <a:gd name="T19" fmla="*/ 22 h 39"/>
                  <a:gd name="T20" fmla="*/ 23 w 31"/>
                  <a:gd name="T21" fmla="*/ 12 h 39"/>
                  <a:gd name="T22" fmla="*/ 23 w 31"/>
                  <a:gd name="T23" fmla="*/ 12 h 39"/>
                  <a:gd name="T24" fmla="*/ 23 w 31"/>
                  <a:gd name="T25" fmla="*/ 11 h 39"/>
                  <a:gd name="T26" fmla="*/ 10 w 31"/>
                  <a:gd name="T27" fmla="*/ 19 h 39"/>
                  <a:gd name="T28" fmla="*/ 10 w 31"/>
                  <a:gd name="T29" fmla="*/ 23 h 39"/>
                  <a:gd name="T30" fmla="*/ 10 w 31"/>
                  <a:gd name="T31" fmla="*/ 19 h 39"/>
                  <a:gd name="T32" fmla="*/ 15 w 31"/>
                  <a:gd name="T33" fmla="*/ 13 h 39"/>
                  <a:gd name="T34" fmla="*/ 16 w 31"/>
                  <a:gd name="T35" fmla="*/ 14 h 39"/>
                  <a:gd name="T36" fmla="*/ 15 w 31"/>
                  <a:gd name="T37" fmla="*/ 13 h 39"/>
                  <a:gd name="T38" fmla="*/ 9 w 31"/>
                  <a:gd name="T39" fmla="*/ 16 h 39"/>
                  <a:gd name="T40" fmla="*/ 9 w 31"/>
                  <a:gd name="T41" fmla="*/ 18 h 39"/>
                  <a:gd name="T42" fmla="*/ 9 w 31"/>
                  <a:gd name="T43" fmla="*/ 16 h 39"/>
                  <a:gd name="T44" fmla="*/ 19 w 31"/>
                  <a:gd name="T45" fmla="*/ 4 h 39"/>
                  <a:gd name="T46" fmla="*/ 23 w 31"/>
                  <a:gd name="T47" fmla="*/ 7 h 39"/>
                  <a:gd name="T48" fmla="*/ 29 w 31"/>
                  <a:gd name="T49" fmla="*/ 9 h 39"/>
                  <a:gd name="T50" fmla="*/ 25 w 31"/>
                  <a:gd name="T51" fmla="*/ 16 h 39"/>
                  <a:gd name="T52" fmla="*/ 29 w 31"/>
                  <a:gd name="T53" fmla="*/ 26 h 39"/>
                  <a:gd name="T54" fmla="*/ 30 w 31"/>
                  <a:gd name="T55" fmla="*/ 30 h 39"/>
                  <a:gd name="T56" fmla="*/ 31 w 31"/>
                  <a:gd name="T57" fmla="*/ 32 h 39"/>
                  <a:gd name="T58" fmla="*/ 22 w 31"/>
                  <a:gd name="T59" fmla="*/ 23 h 39"/>
                  <a:gd name="T60" fmla="*/ 16 w 31"/>
                  <a:gd name="T61" fmla="*/ 29 h 39"/>
                  <a:gd name="T62" fmla="*/ 15 w 31"/>
                  <a:gd name="T63" fmla="*/ 22 h 39"/>
                  <a:gd name="T64" fmla="*/ 15 w 31"/>
                  <a:gd name="T65" fmla="*/ 19 h 39"/>
                  <a:gd name="T66" fmla="*/ 12 w 31"/>
                  <a:gd name="T67" fmla="*/ 19 h 39"/>
                  <a:gd name="T68" fmla="*/ 13 w 31"/>
                  <a:gd name="T69" fmla="*/ 29 h 39"/>
                  <a:gd name="T70" fmla="*/ 17 w 31"/>
                  <a:gd name="T71" fmla="*/ 34 h 39"/>
                  <a:gd name="T72" fmla="*/ 14 w 31"/>
                  <a:gd name="T73" fmla="*/ 33 h 39"/>
                  <a:gd name="T74" fmla="*/ 12 w 31"/>
                  <a:gd name="T75" fmla="*/ 32 h 39"/>
                  <a:gd name="T76" fmla="*/ 7 w 31"/>
                  <a:gd name="T77" fmla="*/ 39 h 39"/>
                  <a:gd name="T78" fmla="*/ 6 w 31"/>
                  <a:gd name="T79" fmla="*/ 33 h 39"/>
                  <a:gd name="T80" fmla="*/ 6 w 31"/>
                  <a:gd name="T81" fmla="*/ 26 h 39"/>
                  <a:gd name="T82" fmla="*/ 2 w 31"/>
                  <a:gd name="T83" fmla="*/ 29 h 39"/>
                  <a:gd name="T84" fmla="*/ 4 w 31"/>
                  <a:gd name="T85" fmla="*/ 13 h 39"/>
                  <a:gd name="T86" fmla="*/ 6 w 31"/>
                  <a:gd name="T87" fmla="*/ 9 h 39"/>
                  <a:gd name="T88" fmla="*/ 3 w 31"/>
                  <a:gd name="T89" fmla="*/ 23 h 39"/>
                  <a:gd name="T90" fmla="*/ 3 w 31"/>
                  <a:gd name="T91" fmla="*/ 27 h 39"/>
                  <a:gd name="T92" fmla="*/ 9 w 31"/>
                  <a:gd name="T93" fmla="*/ 14 h 39"/>
                  <a:gd name="T94" fmla="*/ 13 w 31"/>
                  <a:gd name="T95" fmla="*/ 15 h 39"/>
                  <a:gd name="T96" fmla="*/ 12 w 31"/>
                  <a:gd name="T97" fmla="*/ 9 h 39"/>
                  <a:gd name="T98" fmla="*/ 11 w 31"/>
                  <a:gd name="T9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1" h="39">
                    <a:moveTo>
                      <a:pt x="8" y="26"/>
                    </a:moveTo>
                    <a:cubicBezTo>
                      <a:pt x="8" y="27"/>
                      <a:pt x="8" y="30"/>
                      <a:pt x="8" y="3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8" y="31"/>
                      <a:pt x="9" y="31"/>
                      <a:pt x="9" y="30"/>
                    </a:cubicBezTo>
                    <a:cubicBezTo>
                      <a:pt x="9" y="29"/>
                      <a:pt x="11" y="27"/>
                      <a:pt x="9" y="26"/>
                    </a:cubicBezTo>
                    <a:cubicBezTo>
                      <a:pt x="9" y="26"/>
                      <a:pt x="9" y="26"/>
                      <a:pt x="8" y="26"/>
                    </a:cubicBezTo>
                    <a:cubicBezTo>
                      <a:pt x="9" y="26"/>
                      <a:pt x="8" y="26"/>
                      <a:pt x="8" y="26"/>
                    </a:cubicBezTo>
                    <a:close/>
                    <a:moveTo>
                      <a:pt x="18" y="18"/>
                    </a:moveTo>
                    <a:cubicBezTo>
                      <a:pt x="18" y="19"/>
                      <a:pt x="17" y="20"/>
                      <a:pt x="17" y="21"/>
                    </a:cubicBezTo>
                    <a:cubicBezTo>
                      <a:pt x="17" y="21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21" y="19"/>
                      <a:pt x="19" y="18"/>
                    </a:cubicBezTo>
                    <a:cubicBezTo>
                      <a:pt x="19" y="17"/>
                      <a:pt x="19" y="17"/>
                      <a:pt x="18" y="18"/>
                    </a:cubicBezTo>
                    <a:close/>
                    <a:moveTo>
                      <a:pt x="7" y="22"/>
                    </a:moveTo>
                    <a:cubicBezTo>
                      <a:pt x="7" y="22"/>
                      <a:pt x="7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  <a:moveTo>
                      <a:pt x="23" y="11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lose/>
                    <a:moveTo>
                      <a:pt x="10" y="19"/>
                    </a:moveTo>
                    <a:cubicBezTo>
                      <a:pt x="9" y="20"/>
                      <a:pt x="9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2"/>
                      <a:pt x="11" y="20"/>
                      <a:pt x="11" y="19"/>
                    </a:cubicBezTo>
                    <a:cubicBezTo>
                      <a:pt x="11" y="19"/>
                      <a:pt x="10" y="19"/>
                      <a:pt x="10" y="19"/>
                    </a:cubicBezTo>
                    <a:close/>
                    <a:moveTo>
                      <a:pt x="15" y="13"/>
                    </a:move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4"/>
                      <a:pt x="16" y="13"/>
                      <a:pt x="16" y="13"/>
                    </a:cubicBezTo>
                    <a:cubicBezTo>
                      <a:pt x="16" y="13"/>
                      <a:pt x="16" y="13"/>
                      <a:pt x="15" y="13"/>
                    </a:cubicBezTo>
                    <a:cubicBezTo>
                      <a:pt x="16" y="13"/>
                      <a:pt x="16" y="13"/>
                      <a:pt x="15" y="13"/>
                    </a:cubicBezTo>
                    <a:close/>
                    <a:moveTo>
                      <a:pt x="9" y="16"/>
                    </a:moveTo>
                    <a:cubicBezTo>
                      <a:pt x="8" y="17"/>
                      <a:pt x="8" y="18"/>
                      <a:pt x="9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7"/>
                      <a:pt x="9" y="17"/>
                      <a:pt x="9" y="16"/>
                    </a:cubicBezTo>
                    <a:cubicBezTo>
                      <a:pt x="9" y="15"/>
                      <a:pt x="9" y="16"/>
                      <a:pt x="9" y="16"/>
                    </a:cubicBezTo>
                    <a:close/>
                    <a:moveTo>
                      <a:pt x="11" y="1"/>
                    </a:moveTo>
                    <a:cubicBezTo>
                      <a:pt x="13" y="0"/>
                      <a:pt x="17" y="2"/>
                      <a:pt x="19" y="4"/>
                    </a:cubicBezTo>
                    <a:cubicBezTo>
                      <a:pt x="19" y="5"/>
                      <a:pt x="19" y="6"/>
                      <a:pt x="20" y="6"/>
                    </a:cubicBezTo>
                    <a:cubicBezTo>
                      <a:pt x="21" y="7"/>
                      <a:pt x="22" y="7"/>
                      <a:pt x="23" y="7"/>
                    </a:cubicBezTo>
                    <a:cubicBezTo>
                      <a:pt x="24" y="8"/>
                      <a:pt x="25" y="9"/>
                      <a:pt x="25" y="9"/>
                    </a:cubicBezTo>
                    <a:cubicBezTo>
                      <a:pt x="27" y="9"/>
                      <a:pt x="28" y="9"/>
                      <a:pt x="29" y="9"/>
                    </a:cubicBezTo>
                    <a:cubicBezTo>
                      <a:pt x="29" y="9"/>
                      <a:pt x="29" y="9"/>
                      <a:pt x="29" y="10"/>
                    </a:cubicBezTo>
                    <a:cubicBezTo>
                      <a:pt x="28" y="12"/>
                      <a:pt x="25" y="14"/>
                      <a:pt x="25" y="16"/>
                    </a:cubicBezTo>
                    <a:cubicBezTo>
                      <a:pt x="25" y="18"/>
                      <a:pt x="27" y="19"/>
                      <a:pt x="27" y="21"/>
                    </a:cubicBezTo>
                    <a:cubicBezTo>
                      <a:pt x="28" y="23"/>
                      <a:pt x="29" y="24"/>
                      <a:pt x="29" y="26"/>
                    </a:cubicBezTo>
                    <a:cubicBezTo>
                      <a:pt x="29" y="26"/>
                      <a:pt x="29" y="27"/>
                      <a:pt x="30" y="27"/>
                    </a:cubicBezTo>
                    <a:cubicBezTo>
                      <a:pt x="30" y="28"/>
                      <a:pt x="30" y="29"/>
                      <a:pt x="30" y="30"/>
                    </a:cubicBezTo>
                    <a:cubicBezTo>
                      <a:pt x="30" y="31"/>
                      <a:pt x="31" y="31"/>
                      <a:pt x="31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1"/>
                      <a:pt x="27" y="30"/>
                      <a:pt x="25" y="28"/>
                    </a:cubicBezTo>
                    <a:cubicBezTo>
                      <a:pt x="24" y="26"/>
                      <a:pt x="23" y="24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0" y="25"/>
                      <a:pt x="19" y="27"/>
                      <a:pt x="16" y="29"/>
                    </a:cubicBezTo>
                    <a:cubicBezTo>
                      <a:pt x="15" y="28"/>
                      <a:pt x="13" y="26"/>
                      <a:pt x="14" y="25"/>
                    </a:cubicBezTo>
                    <a:cubicBezTo>
                      <a:pt x="14" y="24"/>
                      <a:pt x="15" y="23"/>
                      <a:pt x="15" y="22"/>
                    </a:cubicBezTo>
                    <a:cubicBezTo>
                      <a:pt x="15" y="22"/>
                      <a:pt x="14" y="21"/>
                      <a:pt x="14" y="21"/>
                    </a:cubicBezTo>
                    <a:cubicBezTo>
                      <a:pt x="14" y="20"/>
                      <a:pt x="14" y="19"/>
                      <a:pt x="15" y="19"/>
                    </a:cubicBezTo>
                    <a:cubicBezTo>
                      <a:pt x="15" y="18"/>
                      <a:pt x="14" y="15"/>
                      <a:pt x="13" y="16"/>
                    </a:cubicBezTo>
                    <a:cubicBezTo>
                      <a:pt x="12" y="16"/>
                      <a:pt x="12" y="18"/>
                      <a:pt x="12" y="19"/>
                    </a:cubicBezTo>
                    <a:cubicBezTo>
                      <a:pt x="12" y="20"/>
                      <a:pt x="13" y="21"/>
                      <a:pt x="13" y="23"/>
                    </a:cubicBezTo>
                    <a:cubicBezTo>
                      <a:pt x="13" y="25"/>
                      <a:pt x="11" y="26"/>
                      <a:pt x="13" y="29"/>
                    </a:cubicBezTo>
                    <a:cubicBezTo>
                      <a:pt x="14" y="31"/>
                      <a:pt x="17" y="33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5" y="34"/>
                      <a:pt x="14" y="33"/>
                    </a:cubicBezTo>
                    <a:cubicBezTo>
                      <a:pt x="13" y="33"/>
                      <a:pt x="13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7"/>
                      <a:pt x="8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8"/>
                      <a:pt x="5" y="36"/>
                      <a:pt x="5" y="35"/>
                    </a:cubicBezTo>
                    <a:cubicBezTo>
                      <a:pt x="5" y="34"/>
                      <a:pt x="5" y="33"/>
                      <a:pt x="6" y="33"/>
                    </a:cubicBezTo>
                    <a:cubicBezTo>
                      <a:pt x="6" y="31"/>
                      <a:pt x="6" y="28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5" y="27"/>
                      <a:pt x="3" y="29"/>
                      <a:pt x="2" y="29"/>
                    </a:cubicBezTo>
                    <a:cubicBezTo>
                      <a:pt x="0" y="27"/>
                      <a:pt x="2" y="23"/>
                      <a:pt x="3" y="21"/>
                    </a:cubicBezTo>
                    <a:cubicBezTo>
                      <a:pt x="3" y="19"/>
                      <a:pt x="4" y="14"/>
                      <a:pt x="4" y="13"/>
                    </a:cubicBezTo>
                    <a:cubicBezTo>
                      <a:pt x="3" y="12"/>
                      <a:pt x="3" y="11"/>
                      <a:pt x="3" y="11"/>
                    </a:cubicBezTo>
                    <a:cubicBezTo>
                      <a:pt x="3" y="9"/>
                      <a:pt x="5" y="9"/>
                      <a:pt x="6" y="9"/>
                    </a:cubicBezTo>
                    <a:cubicBezTo>
                      <a:pt x="7" y="11"/>
                      <a:pt x="6" y="12"/>
                      <a:pt x="6" y="14"/>
                    </a:cubicBezTo>
                    <a:cubicBezTo>
                      <a:pt x="5" y="17"/>
                      <a:pt x="4" y="21"/>
                      <a:pt x="3" y="23"/>
                    </a:cubicBezTo>
                    <a:cubicBezTo>
                      <a:pt x="3" y="24"/>
                      <a:pt x="3" y="25"/>
                      <a:pt x="3" y="26"/>
                    </a:cubicBezTo>
                    <a:cubicBezTo>
                      <a:pt x="3" y="26"/>
                      <a:pt x="3" y="26"/>
                      <a:pt x="3" y="27"/>
                    </a:cubicBezTo>
                    <a:cubicBezTo>
                      <a:pt x="3" y="26"/>
                      <a:pt x="8" y="22"/>
                      <a:pt x="8" y="22"/>
                    </a:cubicBezTo>
                    <a:cubicBezTo>
                      <a:pt x="9" y="20"/>
                      <a:pt x="5" y="15"/>
                      <a:pt x="9" y="14"/>
                    </a:cubicBezTo>
                    <a:cubicBezTo>
                      <a:pt x="10" y="15"/>
                      <a:pt x="12" y="15"/>
                      <a:pt x="13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3"/>
                      <a:pt x="13" y="13"/>
                      <a:pt x="11" y="12"/>
                    </a:cubicBezTo>
                    <a:cubicBezTo>
                      <a:pt x="11" y="11"/>
                      <a:pt x="11" y="10"/>
                      <a:pt x="12" y="9"/>
                    </a:cubicBezTo>
                    <a:cubicBezTo>
                      <a:pt x="13" y="10"/>
                      <a:pt x="14" y="10"/>
                      <a:pt x="15" y="10"/>
                    </a:cubicBezTo>
                    <a:cubicBezTo>
                      <a:pt x="15" y="7"/>
                      <a:pt x="11" y="3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A88A6DD9-D799-0DCA-C0D8-A16C6E6DBCE3}"/>
              </a:ext>
            </a:extLst>
          </p:cNvPr>
          <p:cNvSpPr txBox="1"/>
          <p:nvPr/>
        </p:nvSpPr>
        <p:spPr>
          <a:xfrm>
            <a:off x="1331089" y="2644170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+mj-lt"/>
                <a:ea typeface="黑体" panose="02010609060101010101" pitchFamily="49" charset="-122"/>
              </a:rPr>
              <a:t>感谢各位聆听！</a:t>
            </a:r>
            <a:endParaRPr lang="en-US" altLang="zh-CN" sz="4800" b="1" dirty="0">
              <a:latin typeface="+mj-lt"/>
              <a:ea typeface="黑体" panose="02010609060101010101" pitchFamily="49" charset="-122"/>
            </a:endParaRPr>
          </a:p>
          <a:p>
            <a:r>
              <a:rPr lang="zh-CN" altLang="en-US" sz="4800" b="1" dirty="0">
                <a:latin typeface="+mj-lt"/>
                <a:ea typeface="黑体" panose="02010609060101010101" pitchFamily="49" charset="-122"/>
              </a:rPr>
              <a:t>请老师批评指正！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CD10E46-EF5E-8312-4DCC-DD1F64B2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5" r="-241"/>
          <a:stretch>
            <a:fillRect/>
          </a:stretch>
        </p:blipFill>
        <p:spPr>
          <a:xfrm>
            <a:off x="6981822" y="1475092"/>
            <a:ext cx="4220777" cy="390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ng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3359</TotalTime>
  <Words>2470</Words>
  <Application>Microsoft Office PowerPoint</Application>
  <PresentationFormat>宽屏</PresentationFormat>
  <Paragraphs>357</Paragraphs>
  <Slides>23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inherit</vt:lpstr>
      <vt:lpstr>KaTeX_Math</vt:lpstr>
      <vt:lpstr>等线</vt:lpstr>
      <vt:lpstr>黑体</vt:lpstr>
      <vt:lpstr>Arial</vt:lpstr>
      <vt:lpstr>Times New Roman</vt:lpstr>
      <vt:lpstr>Office 主题​​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蒙 陈</dc:creator>
  <cp:lastModifiedBy>YUE ZHU</cp:lastModifiedBy>
  <cp:revision>242</cp:revision>
  <dcterms:created xsi:type="dcterms:W3CDTF">2025-06-21T05:38:38Z</dcterms:created>
  <dcterms:modified xsi:type="dcterms:W3CDTF">2025-06-26T08:58:24Z</dcterms:modified>
</cp:coreProperties>
</file>